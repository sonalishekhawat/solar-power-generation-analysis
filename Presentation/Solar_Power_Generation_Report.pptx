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charts/chart4.xml" ContentType="application/vnd.openxmlformats-officedocument.drawingml.chart+xml"/>
  <Override PartName="/ppt/notesSlides/notesSlide20.xml" ContentType="application/vnd.openxmlformats-officedocument.presentationml.notesSlide+xml"/>
  <Override PartName="/ppt/charts/chart5.xml" ContentType="application/vnd.openxmlformats-officedocument.drawingml.chart+xml"/>
  <Override PartName="/ppt/notesSlides/notesSlide21.xml" ContentType="application/vnd.openxmlformats-officedocument.presentationml.notesSlide+xml"/>
  <Override PartName="/ppt/charts/chart6.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 id="278" r:id="rId23"/>
    <p:sldId id="279" r:id="rId24"/>
    <p:sldId id="281" r:id="rId25"/>
    <p:sldId id="282" r:id="rId26"/>
    <p:sldId id="283" r:id="rId27"/>
    <p:sldId id="284"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20FBA-7326-4BA9-9477-430AB16FD65C}" v="6" dt="2026-03-19T10:54:34.2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ali Shekhawat" userId="0309683e1721122f" providerId="LiveId" clId="{81579934-A0E3-4E5B-A9C3-621F00061F9F}"/>
    <pc:docChg chg="undo custSel addSld delSld modSld">
      <pc:chgData name="Sonali Shekhawat" userId="0309683e1721122f" providerId="LiveId" clId="{81579934-A0E3-4E5B-A9C3-621F00061F9F}" dt="2026-03-19T10:55:04.792" v="46" actId="478"/>
      <pc:docMkLst>
        <pc:docMk/>
      </pc:docMkLst>
      <pc:sldChg chg="delSp mod">
        <pc:chgData name="Sonali Shekhawat" userId="0309683e1721122f" providerId="LiveId" clId="{81579934-A0E3-4E5B-A9C3-621F00061F9F}" dt="2026-03-19T10:50:26.400" v="0" actId="478"/>
        <pc:sldMkLst>
          <pc:docMk/>
          <pc:sldMk cId="0" sldId="256"/>
        </pc:sldMkLst>
        <pc:spChg chg="del">
          <ac:chgData name="Sonali Shekhawat" userId="0309683e1721122f" providerId="LiveId" clId="{81579934-A0E3-4E5B-A9C3-621F00061F9F}" dt="2026-03-19T10:50:26.400" v="0" actId="478"/>
          <ac:spMkLst>
            <pc:docMk/>
            <pc:sldMk cId="0" sldId="256"/>
            <ac:spMk id="8" creationId="{00000000-0000-0000-0000-000000000000}"/>
          </ac:spMkLst>
        </pc:spChg>
        <pc:spChg chg="del">
          <ac:chgData name="Sonali Shekhawat" userId="0309683e1721122f" providerId="LiveId" clId="{81579934-A0E3-4E5B-A9C3-621F00061F9F}" dt="2026-03-19T10:50:26.400" v="0" actId="478"/>
          <ac:spMkLst>
            <pc:docMk/>
            <pc:sldMk cId="0" sldId="256"/>
            <ac:spMk id="9" creationId="{00000000-0000-0000-0000-000000000000}"/>
          </ac:spMkLst>
        </pc:spChg>
        <pc:spChg chg="del">
          <ac:chgData name="Sonali Shekhawat" userId="0309683e1721122f" providerId="LiveId" clId="{81579934-A0E3-4E5B-A9C3-621F00061F9F}" dt="2026-03-19T10:50:26.400" v="0" actId="478"/>
          <ac:spMkLst>
            <pc:docMk/>
            <pc:sldMk cId="0" sldId="256"/>
            <ac:spMk id="10" creationId="{00000000-0000-0000-0000-000000000000}"/>
          </ac:spMkLst>
        </pc:spChg>
      </pc:sldChg>
      <pc:sldChg chg="modSp mod">
        <pc:chgData name="Sonali Shekhawat" userId="0309683e1721122f" providerId="LiveId" clId="{81579934-A0E3-4E5B-A9C3-621F00061F9F}" dt="2026-03-19T10:50:41.368" v="15" actId="20577"/>
        <pc:sldMkLst>
          <pc:docMk/>
          <pc:sldMk cId="0" sldId="257"/>
        </pc:sldMkLst>
        <pc:spChg chg="mod">
          <ac:chgData name="Sonali Shekhawat" userId="0309683e1721122f" providerId="LiveId" clId="{81579934-A0E3-4E5B-A9C3-621F00061F9F}" dt="2026-03-19T10:50:41.368" v="15" actId="20577"/>
          <ac:spMkLst>
            <pc:docMk/>
            <pc:sldMk cId="0" sldId="257"/>
            <ac:spMk id="24" creationId="{00000000-0000-0000-0000-000000000000}"/>
          </ac:spMkLst>
        </pc:spChg>
        <pc:spChg chg="mod">
          <ac:chgData name="Sonali Shekhawat" userId="0309683e1721122f" providerId="LiveId" clId="{81579934-A0E3-4E5B-A9C3-621F00061F9F}" dt="2026-03-19T10:50:34.062" v="9" actId="20577"/>
          <ac:spMkLst>
            <pc:docMk/>
            <pc:sldMk cId="0" sldId="257"/>
            <ac:spMk id="34" creationId="{00000000-0000-0000-0000-000000000000}"/>
          </ac:spMkLst>
        </pc:spChg>
      </pc:sldChg>
      <pc:sldChg chg="delSp modSp mod">
        <pc:chgData name="Sonali Shekhawat" userId="0309683e1721122f" providerId="LiveId" clId="{81579934-A0E3-4E5B-A9C3-621F00061F9F}" dt="2026-03-19T10:51:31.954" v="20" actId="1076"/>
        <pc:sldMkLst>
          <pc:docMk/>
          <pc:sldMk cId="0" sldId="265"/>
        </pc:sldMkLst>
        <pc:spChg chg="del">
          <ac:chgData name="Sonali Shekhawat" userId="0309683e1721122f" providerId="LiveId" clId="{81579934-A0E3-4E5B-A9C3-621F00061F9F}" dt="2026-03-19T10:51:12.030" v="16" actId="478"/>
          <ac:spMkLst>
            <pc:docMk/>
            <pc:sldMk cId="0" sldId="265"/>
            <ac:spMk id="17" creationId="{00000000-0000-0000-0000-000000000000}"/>
          </ac:spMkLst>
        </pc:spChg>
        <pc:spChg chg="del">
          <ac:chgData name="Sonali Shekhawat" userId="0309683e1721122f" providerId="LiveId" clId="{81579934-A0E3-4E5B-A9C3-621F00061F9F}" dt="2026-03-19T10:51:13.643" v="17" actId="478"/>
          <ac:spMkLst>
            <pc:docMk/>
            <pc:sldMk cId="0" sldId="265"/>
            <ac:spMk id="18" creationId="{00000000-0000-0000-0000-000000000000}"/>
          </ac:spMkLst>
        </pc:spChg>
        <pc:spChg chg="del">
          <ac:chgData name="Sonali Shekhawat" userId="0309683e1721122f" providerId="LiveId" clId="{81579934-A0E3-4E5B-A9C3-621F00061F9F}" dt="2026-03-19T10:51:12.030" v="16" actId="478"/>
          <ac:spMkLst>
            <pc:docMk/>
            <pc:sldMk cId="0" sldId="265"/>
            <ac:spMk id="19" creationId="{00000000-0000-0000-0000-000000000000}"/>
          </ac:spMkLst>
        </pc:spChg>
        <pc:spChg chg="del">
          <ac:chgData name="Sonali Shekhawat" userId="0309683e1721122f" providerId="LiveId" clId="{81579934-A0E3-4E5B-A9C3-621F00061F9F}" dt="2026-03-19T10:51:12.030" v="16" actId="478"/>
          <ac:spMkLst>
            <pc:docMk/>
            <pc:sldMk cId="0" sldId="265"/>
            <ac:spMk id="20" creationId="{00000000-0000-0000-0000-000000000000}"/>
          </ac:spMkLst>
        </pc:spChg>
        <pc:spChg chg="del">
          <ac:chgData name="Sonali Shekhawat" userId="0309683e1721122f" providerId="LiveId" clId="{81579934-A0E3-4E5B-A9C3-621F00061F9F}" dt="2026-03-19T10:51:12.030" v="16" actId="478"/>
          <ac:spMkLst>
            <pc:docMk/>
            <pc:sldMk cId="0" sldId="265"/>
            <ac:spMk id="21" creationId="{00000000-0000-0000-0000-000000000000}"/>
          </ac:spMkLst>
        </pc:spChg>
        <pc:spChg chg="mod">
          <ac:chgData name="Sonali Shekhawat" userId="0309683e1721122f" providerId="LiveId" clId="{81579934-A0E3-4E5B-A9C3-621F00061F9F}" dt="2026-03-19T10:51:27.173" v="18" actId="1076"/>
          <ac:spMkLst>
            <pc:docMk/>
            <pc:sldMk cId="0" sldId="265"/>
            <ac:spMk id="32" creationId="{00000000-0000-0000-0000-000000000000}"/>
          </ac:spMkLst>
        </pc:spChg>
        <pc:spChg chg="mod">
          <ac:chgData name="Sonali Shekhawat" userId="0309683e1721122f" providerId="LiveId" clId="{81579934-A0E3-4E5B-A9C3-621F00061F9F}" dt="2026-03-19T10:51:31.954" v="20" actId="1076"/>
          <ac:spMkLst>
            <pc:docMk/>
            <pc:sldMk cId="0" sldId="265"/>
            <ac:spMk id="33" creationId="{00000000-0000-0000-0000-000000000000}"/>
          </ac:spMkLst>
        </pc:spChg>
        <pc:spChg chg="mod">
          <ac:chgData name="Sonali Shekhawat" userId="0309683e1721122f" providerId="LiveId" clId="{81579934-A0E3-4E5B-A9C3-621F00061F9F}" dt="2026-03-19T10:51:27.173" v="18" actId="1076"/>
          <ac:spMkLst>
            <pc:docMk/>
            <pc:sldMk cId="0" sldId="265"/>
            <ac:spMk id="34" creationId="{00000000-0000-0000-0000-000000000000}"/>
          </ac:spMkLst>
        </pc:spChg>
        <pc:spChg chg="mod">
          <ac:chgData name="Sonali Shekhawat" userId="0309683e1721122f" providerId="LiveId" clId="{81579934-A0E3-4E5B-A9C3-621F00061F9F}" dt="2026-03-19T10:51:27.173" v="18" actId="1076"/>
          <ac:spMkLst>
            <pc:docMk/>
            <pc:sldMk cId="0" sldId="265"/>
            <ac:spMk id="35" creationId="{00000000-0000-0000-0000-000000000000}"/>
          </ac:spMkLst>
        </pc:spChg>
        <pc:spChg chg="mod">
          <ac:chgData name="Sonali Shekhawat" userId="0309683e1721122f" providerId="LiveId" clId="{81579934-A0E3-4E5B-A9C3-621F00061F9F}" dt="2026-03-19T10:51:27.173" v="18" actId="1076"/>
          <ac:spMkLst>
            <pc:docMk/>
            <pc:sldMk cId="0" sldId="265"/>
            <ac:spMk id="36" creationId="{00000000-0000-0000-0000-000000000000}"/>
          </ac:spMkLst>
        </pc:spChg>
      </pc:sldChg>
      <pc:sldChg chg="delSp modSp mod">
        <pc:chgData name="Sonali Shekhawat" userId="0309683e1721122f" providerId="LiveId" clId="{81579934-A0E3-4E5B-A9C3-621F00061F9F}" dt="2026-03-19T10:52:05.860" v="25" actId="20577"/>
        <pc:sldMkLst>
          <pc:docMk/>
          <pc:sldMk cId="0" sldId="268"/>
        </pc:sldMkLst>
        <pc:spChg chg="mod">
          <ac:chgData name="Sonali Shekhawat" userId="0309683e1721122f" providerId="LiveId" clId="{81579934-A0E3-4E5B-A9C3-621F00061F9F}" dt="2026-03-19T10:52:03.563" v="24" actId="20577"/>
          <ac:spMkLst>
            <pc:docMk/>
            <pc:sldMk cId="0" sldId="268"/>
            <ac:spMk id="21" creationId="{00000000-0000-0000-0000-000000000000}"/>
          </ac:spMkLst>
        </pc:spChg>
        <pc:spChg chg="mod">
          <ac:chgData name="Sonali Shekhawat" userId="0309683e1721122f" providerId="LiveId" clId="{81579934-A0E3-4E5B-A9C3-621F00061F9F}" dt="2026-03-19T10:52:05.860" v="25" actId="20577"/>
          <ac:spMkLst>
            <pc:docMk/>
            <pc:sldMk cId="0" sldId="268"/>
            <ac:spMk id="22" creationId="{00000000-0000-0000-0000-000000000000}"/>
          </ac:spMkLst>
        </pc:spChg>
        <pc:spChg chg="del">
          <ac:chgData name="Sonali Shekhawat" userId="0309683e1721122f" providerId="LiveId" clId="{81579934-A0E3-4E5B-A9C3-621F00061F9F}" dt="2026-03-19T10:51:59.129" v="21" actId="478"/>
          <ac:spMkLst>
            <pc:docMk/>
            <pc:sldMk cId="0" sldId="268"/>
            <ac:spMk id="25" creationId="{00000000-0000-0000-0000-000000000000}"/>
          </ac:spMkLst>
        </pc:spChg>
        <pc:spChg chg="del">
          <ac:chgData name="Sonali Shekhawat" userId="0309683e1721122f" providerId="LiveId" clId="{81579934-A0E3-4E5B-A9C3-621F00061F9F}" dt="2026-03-19T10:52:00.596" v="22" actId="478"/>
          <ac:spMkLst>
            <pc:docMk/>
            <pc:sldMk cId="0" sldId="268"/>
            <ac:spMk id="26" creationId="{00000000-0000-0000-0000-000000000000}"/>
          </ac:spMkLst>
        </pc:spChg>
        <pc:spChg chg="del">
          <ac:chgData name="Sonali Shekhawat" userId="0309683e1721122f" providerId="LiveId" clId="{81579934-A0E3-4E5B-A9C3-621F00061F9F}" dt="2026-03-19T10:51:59.129" v="21" actId="478"/>
          <ac:spMkLst>
            <pc:docMk/>
            <pc:sldMk cId="0" sldId="268"/>
            <ac:spMk id="27" creationId="{00000000-0000-0000-0000-000000000000}"/>
          </ac:spMkLst>
        </pc:spChg>
        <pc:spChg chg="del">
          <ac:chgData name="Sonali Shekhawat" userId="0309683e1721122f" providerId="LiveId" clId="{81579934-A0E3-4E5B-A9C3-621F00061F9F}" dt="2026-03-19T10:51:59.129" v="21" actId="478"/>
          <ac:spMkLst>
            <pc:docMk/>
            <pc:sldMk cId="0" sldId="268"/>
            <ac:spMk id="28" creationId="{00000000-0000-0000-0000-000000000000}"/>
          </ac:spMkLst>
        </pc:spChg>
        <pc:spChg chg="del">
          <ac:chgData name="Sonali Shekhawat" userId="0309683e1721122f" providerId="LiveId" clId="{81579934-A0E3-4E5B-A9C3-621F00061F9F}" dt="2026-03-19T10:51:59.129" v="21" actId="478"/>
          <ac:spMkLst>
            <pc:docMk/>
            <pc:sldMk cId="0" sldId="268"/>
            <ac:spMk id="29" creationId="{00000000-0000-0000-0000-000000000000}"/>
          </ac:spMkLst>
        </pc:spChg>
        <pc:spChg chg="del">
          <ac:chgData name="Sonali Shekhawat" userId="0309683e1721122f" providerId="LiveId" clId="{81579934-A0E3-4E5B-A9C3-621F00061F9F}" dt="2026-03-19T10:51:59.129" v="21" actId="478"/>
          <ac:spMkLst>
            <pc:docMk/>
            <pc:sldMk cId="0" sldId="268"/>
            <ac:spMk id="30" creationId="{00000000-0000-0000-0000-000000000000}"/>
          </ac:spMkLst>
        </pc:spChg>
        <pc:spChg chg="del">
          <ac:chgData name="Sonali Shekhawat" userId="0309683e1721122f" providerId="LiveId" clId="{81579934-A0E3-4E5B-A9C3-621F00061F9F}" dt="2026-03-19T10:52:01.947" v="23" actId="478"/>
          <ac:spMkLst>
            <pc:docMk/>
            <pc:sldMk cId="0" sldId="268"/>
            <ac:spMk id="31" creationId="{00000000-0000-0000-0000-000000000000}"/>
          </ac:spMkLst>
        </pc:spChg>
        <pc:spChg chg="del">
          <ac:chgData name="Sonali Shekhawat" userId="0309683e1721122f" providerId="LiveId" clId="{81579934-A0E3-4E5B-A9C3-621F00061F9F}" dt="2026-03-19T10:51:59.129" v="21" actId="478"/>
          <ac:spMkLst>
            <pc:docMk/>
            <pc:sldMk cId="0" sldId="268"/>
            <ac:spMk id="32" creationId="{00000000-0000-0000-0000-000000000000}"/>
          </ac:spMkLst>
        </pc:spChg>
        <pc:spChg chg="del">
          <ac:chgData name="Sonali Shekhawat" userId="0309683e1721122f" providerId="LiveId" clId="{81579934-A0E3-4E5B-A9C3-621F00061F9F}" dt="2026-03-19T10:51:59.129" v="21" actId="478"/>
          <ac:spMkLst>
            <pc:docMk/>
            <pc:sldMk cId="0" sldId="268"/>
            <ac:spMk id="33" creationId="{00000000-0000-0000-0000-000000000000}"/>
          </ac:spMkLst>
        </pc:spChg>
        <pc:spChg chg="del">
          <ac:chgData name="Sonali Shekhawat" userId="0309683e1721122f" providerId="LiveId" clId="{81579934-A0E3-4E5B-A9C3-621F00061F9F}" dt="2026-03-19T10:51:59.129" v="21" actId="478"/>
          <ac:spMkLst>
            <pc:docMk/>
            <pc:sldMk cId="0" sldId="268"/>
            <ac:spMk id="34" creationId="{00000000-0000-0000-0000-000000000000}"/>
          </ac:spMkLst>
        </pc:spChg>
      </pc:sldChg>
      <pc:sldChg chg="modSp mod">
        <pc:chgData name="Sonali Shekhawat" userId="0309683e1721122f" providerId="LiveId" clId="{81579934-A0E3-4E5B-A9C3-621F00061F9F}" dt="2026-03-19T10:52:13.808" v="31" actId="20577"/>
        <pc:sldMkLst>
          <pc:docMk/>
          <pc:sldMk cId="0" sldId="269"/>
        </pc:sldMkLst>
        <pc:spChg chg="mod">
          <ac:chgData name="Sonali Shekhawat" userId="0309683e1721122f" providerId="LiveId" clId="{81579934-A0E3-4E5B-A9C3-621F00061F9F}" dt="2026-03-19T10:52:13.808" v="31" actId="20577"/>
          <ac:spMkLst>
            <pc:docMk/>
            <pc:sldMk cId="0" sldId="269"/>
            <ac:spMk id="4" creationId="{00000000-0000-0000-0000-000000000000}"/>
          </ac:spMkLst>
        </pc:spChg>
      </pc:sldChg>
      <pc:sldChg chg="del">
        <pc:chgData name="Sonali Shekhawat" userId="0309683e1721122f" providerId="LiveId" clId="{81579934-A0E3-4E5B-A9C3-621F00061F9F}" dt="2026-03-19T10:52:30.467" v="34" actId="2696"/>
        <pc:sldMkLst>
          <pc:docMk/>
          <pc:sldMk cId="0" sldId="274"/>
        </pc:sldMkLst>
      </pc:sldChg>
      <pc:sldChg chg="delSp modSp mod">
        <pc:chgData name="Sonali Shekhawat" userId="0309683e1721122f" providerId="LiveId" clId="{81579934-A0E3-4E5B-A9C3-621F00061F9F}" dt="2026-03-19T10:52:50.499" v="37" actId="478"/>
        <pc:sldMkLst>
          <pc:docMk/>
          <pc:sldMk cId="0" sldId="278"/>
        </pc:sldMkLst>
        <pc:spChg chg="del">
          <ac:chgData name="Sonali Shekhawat" userId="0309683e1721122f" providerId="LiveId" clId="{81579934-A0E3-4E5B-A9C3-621F00061F9F}" dt="2026-03-19T10:52:41.269" v="35" actId="478"/>
          <ac:spMkLst>
            <pc:docMk/>
            <pc:sldMk cId="0" sldId="278"/>
            <ac:spMk id="6" creationId="{00000000-0000-0000-0000-000000000000}"/>
          </ac:spMkLst>
        </pc:spChg>
        <pc:spChg chg="del">
          <ac:chgData name="Sonali Shekhawat" userId="0309683e1721122f" providerId="LiveId" clId="{81579934-A0E3-4E5B-A9C3-621F00061F9F}" dt="2026-03-19T10:52:50.499" v="37" actId="478"/>
          <ac:spMkLst>
            <pc:docMk/>
            <pc:sldMk cId="0" sldId="278"/>
            <ac:spMk id="7" creationId="{00000000-0000-0000-0000-000000000000}"/>
          </ac:spMkLst>
        </pc:spChg>
        <pc:picChg chg="mod">
          <ac:chgData name="Sonali Shekhawat" userId="0309683e1721122f" providerId="LiveId" clId="{81579934-A0E3-4E5B-A9C3-621F00061F9F}" dt="2026-03-19T10:52:47.334" v="36" actId="14100"/>
          <ac:picMkLst>
            <pc:docMk/>
            <pc:sldMk cId="0" sldId="278"/>
            <ac:picMk id="5" creationId="{00000000-0000-0000-0000-000000000000}"/>
          </ac:picMkLst>
        </pc:picChg>
      </pc:sldChg>
      <pc:sldChg chg="del">
        <pc:chgData name="Sonali Shekhawat" userId="0309683e1721122f" providerId="LiveId" clId="{81579934-A0E3-4E5B-A9C3-621F00061F9F}" dt="2026-03-19T10:53:15.849" v="38" actId="2696"/>
        <pc:sldMkLst>
          <pc:docMk/>
          <pc:sldMk cId="0" sldId="280"/>
        </pc:sldMkLst>
      </pc:sldChg>
      <pc:sldChg chg="addSp modSp mod">
        <pc:chgData name="Sonali Shekhawat" userId="0309683e1721122f" providerId="LiveId" clId="{81579934-A0E3-4E5B-A9C3-621F00061F9F}" dt="2026-03-19T10:54:49.629" v="45" actId="207"/>
        <pc:sldMkLst>
          <pc:docMk/>
          <pc:sldMk cId="0" sldId="282"/>
        </pc:sldMkLst>
        <pc:spChg chg="mod">
          <ac:chgData name="Sonali Shekhawat" userId="0309683e1721122f" providerId="LiveId" clId="{81579934-A0E3-4E5B-A9C3-621F00061F9F}" dt="2026-03-19T10:54:49.629" v="45" actId="207"/>
          <ac:spMkLst>
            <pc:docMk/>
            <pc:sldMk cId="0" sldId="282"/>
            <ac:spMk id="8" creationId="{00000000-0000-0000-0000-000000000000}"/>
          </ac:spMkLst>
        </pc:spChg>
        <pc:spChg chg="mod">
          <ac:chgData name="Sonali Shekhawat" userId="0309683e1721122f" providerId="LiveId" clId="{81579934-A0E3-4E5B-A9C3-621F00061F9F}" dt="2026-03-19T10:54:49.629" v="45" actId="207"/>
          <ac:spMkLst>
            <pc:docMk/>
            <pc:sldMk cId="0" sldId="282"/>
            <ac:spMk id="14" creationId="{00000000-0000-0000-0000-000000000000}"/>
          </ac:spMkLst>
        </pc:spChg>
        <pc:spChg chg="mod">
          <ac:chgData name="Sonali Shekhawat" userId="0309683e1721122f" providerId="LiveId" clId="{81579934-A0E3-4E5B-A9C3-621F00061F9F}" dt="2026-03-19T10:54:49.629" v="45" actId="207"/>
          <ac:spMkLst>
            <pc:docMk/>
            <pc:sldMk cId="0" sldId="282"/>
            <ac:spMk id="20" creationId="{00000000-0000-0000-0000-000000000000}"/>
          </ac:spMkLst>
        </pc:spChg>
        <pc:spChg chg="mod">
          <ac:chgData name="Sonali Shekhawat" userId="0309683e1721122f" providerId="LiveId" clId="{81579934-A0E3-4E5B-A9C3-621F00061F9F}" dt="2026-03-19T10:54:49.629" v="45" actId="207"/>
          <ac:spMkLst>
            <pc:docMk/>
            <pc:sldMk cId="0" sldId="282"/>
            <ac:spMk id="26" creationId="{00000000-0000-0000-0000-000000000000}"/>
          </ac:spMkLst>
        </pc:spChg>
        <pc:spChg chg="mod">
          <ac:chgData name="Sonali Shekhawat" userId="0309683e1721122f" providerId="LiveId" clId="{81579934-A0E3-4E5B-A9C3-621F00061F9F}" dt="2026-03-19T10:54:49.629" v="45" actId="207"/>
          <ac:spMkLst>
            <pc:docMk/>
            <pc:sldMk cId="0" sldId="282"/>
            <ac:spMk id="32" creationId="{00000000-0000-0000-0000-000000000000}"/>
          </ac:spMkLst>
        </pc:spChg>
        <pc:spChg chg="mod">
          <ac:chgData name="Sonali Shekhawat" userId="0309683e1721122f" providerId="LiveId" clId="{81579934-A0E3-4E5B-A9C3-621F00061F9F}" dt="2026-03-19T10:54:49.629" v="45" actId="207"/>
          <ac:spMkLst>
            <pc:docMk/>
            <pc:sldMk cId="0" sldId="282"/>
            <ac:spMk id="38" creationId="{00000000-0000-0000-0000-000000000000}"/>
          </ac:spMkLst>
        </pc:spChg>
        <pc:spChg chg="add mod">
          <ac:chgData name="Sonali Shekhawat" userId="0309683e1721122f" providerId="LiveId" clId="{81579934-A0E3-4E5B-A9C3-621F00061F9F}" dt="2026-03-19T10:53:33.911" v="40" actId="571"/>
          <ac:spMkLst>
            <pc:docMk/>
            <pc:sldMk cId="0" sldId="282"/>
            <ac:spMk id="41" creationId="{30F2D318-696D-2E4D-B892-5EA39612D987}"/>
          </ac:spMkLst>
        </pc:spChg>
        <pc:spChg chg="add mod">
          <ac:chgData name="Sonali Shekhawat" userId="0309683e1721122f" providerId="LiveId" clId="{81579934-A0E3-4E5B-A9C3-621F00061F9F}" dt="2026-03-19T10:53:33.911" v="40" actId="571"/>
          <ac:spMkLst>
            <pc:docMk/>
            <pc:sldMk cId="0" sldId="282"/>
            <ac:spMk id="42" creationId="{697B4D88-3593-C683-9513-E1E12CC1B2CC}"/>
          </ac:spMkLst>
        </pc:spChg>
        <pc:spChg chg="add mod">
          <ac:chgData name="Sonali Shekhawat" userId="0309683e1721122f" providerId="LiveId" clId="{81579934-A0E3-4E5B-A9C3-621F00061F9F}" dt="2026-03-19T10:53:54.965" v="42" actId="571"/>
          <ac:spMkLst>
            <pc:docMk/>
            <pc:sldMk cId="0" sldId="282"/>
            <ac:spMk id="43" creationId="{A2D0AFAE-39F3-0D4B-5985-619E9887361B}"/>
          </ac:spMkLst>
        </pc:spChg>
        <pc:spChg chg="add mod">
          <ac:chgData name="Sonali Shekhawat" userId="0309683e1721122f" providerId="LiveId" clId="{81579934-A0E3-4E5B-A9C3-621F00061F9F}" dt="2026-03-19T10:53:54.965" v="42" actId="571"/>
          <ac:spMkLst>
            <pc:docMk/>
            <pc:sldMk cId="0" sldId="282"/>
            <ac:spMk id="44" creationId="{316DEACB-85BE-32DC-7B23-E773C5958066}"/>
          </ac:spMkLst>
        </pc:spChg>
        <pc:spChg chg="add mod">
          <ac:chgData name="Sonali Shekhawat" userId="0309683e1721122f" providerId="LiveId" clId="{81579934-A0E3-4E5B-A9C3-621F00061F9F}" dt="2026-03-19T10:54:34.251" v="44" actId="571"/>
          <ac:spMkLst>
            <pc:docMk/>
            <pc:sldMk cId="0" sldId="282"/>
            <ac:spMk id="45" creationId="{AB3414C5-B0FE-92B0-7375-E647046CA33C}"/>
          </ac:spMkLst>
        </pc:spChg>
        <pc:spChg chg="add mod">
          <ac:chgData name="Sonali Shekhawat" userId="0309683e1721122f" providerId="LiveId" clId="{81579934-A0E3-4E5B-A9C3-621F00061F9F}" dt="2026-03-19T10:54:34.251" v="44" actId="571"/>
          <ac:spMkLst>
            <pc:docMk/>
            <pc:sldMk cId="0" sldId="282"/>
            <ac:spMk id="46" creationId="{DB7B6BBB-81F9-2F82-E070-1C963E4BCA65}"/>
          </ac:spMkLst>
        </pc:spChg>
      </pc:sldChg>
      <pc:sldChg chg="delSp mod">
        <pc:chgData name="Sonali Shekhawat" userId="0309683e1721122f" providerId="LiveId" clId="{81579934-A0E3-4E5B-A9C3-621F00061F9F}" dt="2026-03-19T10:55:04.792" v="46" actId="478"/>
        <pc:sldMkLst>
          <pc:docMk/>
          <pc:sldMk cId="0" sldId="283"/>
        </pc:sldMkLst>
        <pc:spChg chg="del">
          <ac:chgData name="Sonali Shekhawat" userId="0309683e1721122f" providerId="LiveId" clId="{81579934-A0E3-4E5B-A9C3-621F00061F9F}" dt="2026-03-19T10:55:04.792" v="46" actId="478"/>
          <ac:spMkLst>
            <pc:docMk/>
            <pc:sldMk cId="0" sldId="283"/>
            <ac:spMk id="15" creationId="{00000000-0000-0000-0000-000000000000}"/>
          </ac:spMkLst>
        </pc:spChg>
        <pc:spChg chg="del">
          <ac:chgData name="Sonali Shekhawat" userId="0309683e1721122f" providerId="LiveId" clId="{81579934-A0E3-4E5B-A9C3-621F00061F9F}" dt="2026-03-19T10:55:04.792" v="46" actId="478"/>
          <ac:spMkLst>
            <pc:docMk/>
            <pc:sldMk cId="0" sldId="283"/>
            <ac:spMk id="16" creationId="{00000000-0000-0000-0000-000000000000}"/>
          </ac:spMkLst>
        </pc:spChg>
        <pc:spChg chg="del">
          <ac:chgData name="Sonali Shekhawat" userId="0309683e1721122f" providerId="LiveId" clId="{81579934-A0E3-4E5B-A9C3-621F00061F9F}" dt="2026-03-19T10:55:04.792" v="46" actId="478"/>
          <ac:spMkLst>
            <pc:docMk/>
            <pc:sldMk cId="0" sldId="283"/>
            <ac:spMk id="17" creationId="{00000000-0000-0000-0000-000000000000}"/>
          </ac:spMkLst>
        </pc:spChg>
      </pc:sldChg>
      <pc:sldChg chg="add del">
        <pc:chgData name="Sonali Shekhawat" userId="0309683e1721122f" providerId="LiveId" clId="{81579934-A0E3-4E5B-A9C3-621F00061F9F}" dt="2026-03-19T10:52:28.065" v="33" actId="2890"/>
        <pc:sldMkLst>
          <pc:docMk/>
          <pc:sldMk cId="1267736034" sldId="285"/>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Power Generated (MW)</c:v>
                </c:pt>
              </c:strCache>
            </c:strRef>
          </c:tx>
          <c:spPr>
            <a:solidFill>
              <a:srgbClr val="E87C1E"/>
            </a:solidFill>
            <a:effectLst/>
          </c:spPr>
          <c:invertIfNegative val="0"/>
          <c:dLbls>
            <c:numFmt formatCode="#,##0" sourceLinked="0"/>
            <c:spPr>
              <a:noFill/>
              <a:ln>
                <a:noFill/>
              </a:ln>
              <a:effectLst/>
            </c:spPr>
            <c:txPr>
              <a:bodyPr/>
              <a:lstStyle/>
              <a:p>
                <a:pPr>
                  <a:defRPr sz="1200" b="0" i="0" u="none" strike="noStrike">
                    <a:solidFill>
                      <a:srgbClr val="1A274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Dec</c:v>
                </c:pt>
                <c:pt idx="1">
                  <c:v>Feb</c:v>
                </c:pt>
                <c:pt idx="2">
                  <c:v>Oct</c:v>
                </c:pt>
                <c:pt idx="3">
                  <c:v>Jan</c:v>
                </c:pt>
                <c:pt idx="4">
                  <c:v>Nov</c:v>
                </c:pt>
                <c:pt idx="5">
                  <c:v>Jul</c:v>
                </c:pt>
                <c:pt idx="6">
                  <c:v>Jun</c:v>
                </c:pt>
                <c:pt idx="7">
                  <c:v>Sep</c:v>
                </c:pt>
                <c:pt idx="8">
                  <c:v>Aug</c:v>
                </c:pt>
                <c:pt idx="9">
                  <c:v>Mar</c:v>
                </c:pt>
                <c:pt idx="10">
                  <c:v>Apr</c:v>
                </c:pt>
                <c:pt idx="11">
                  <c:v>May</c:v>
                </c:pt>
              </c:strCache>
            </c:strRef>
          </c:cat>
          <c:val>
            <c:numRef>
              <c:f>Sheet1!$B$2:$B$13</c:f>
              <c:numCache>
                <c:formatCode>General</c:formatCode>
                <c:ptCount val="12"/>
                <c:pt idx="0">
                  <c:v>500000</c:v>
                </c:pt>
                <c:pt idx="1">
                  <c:v>520000</c:v>
                </c:pt>
                <c:pt idx="2">
                  <c:v>550000</c:v>
                </c:pt>
                <c:pt idx="3">
                  <c:v>560000</c:v>
                </c:pt>
                <c:pt idx="4">
                  <c:v>610000</c:v>
                </c:pt>
                <c:pt idx="5">
                  <c:v>620000</c:v>
                </c:pt>
                <c:pt idx="6">
                  <c:v>660000</c:v>
                </c:pt>
                <c:pt idx="7">
                  <c:v>670000</c:v>
                </c:pt>
                <c:pt idx="8">
                  <c:v>700000</c:v>
                </c:pt>
                <c:pt idx="9">
                  <c:v>730000</c:v>
                </c:pt>
                <c:pt idx="10">
                  <c:v>750000</c:v>
                </c:pt>
                <c:pt idx="11">
                  <c:v>800000</c:v>
                </c:pt>
              </c:numCache>
            </c:numRef>
          </c:val>
          <c:extLst>
            <c:ext xmlns:c16="http://schemas.microsoft.com/office/drawing/2014/chart" uri="{C3380CC4-5D6E-409C-BE32-E72D297353CC}">
              <c16:uniqueId val="{00000000-9397-47A5-8F93-C67F261AC1A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4346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4346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Avg Power (MW)</c:v>
                </c:pt>
              </c:strCache>
            </c:strRef>
          </c:tx>
          <c:spPr>
            <a:ln w="38100" cap="flat">
              <a:solidFill>
                <a:srgbClr val="E87C1E"/>
              </a:solidFill>
              <a:prstDash val="solid"/>
              <a:round/>
            </a:ln>
            <a:effectLst/>
          </c:spPr>
          <c:marker>
            <c:symbol val="circle"/>
            <c:size val="6"/>
            <c:spPr>
              <a:solidFill>
                <a:srgbClr val="E87C1E"/>
              </a:solidFill>
              <a:ln w="9525" cap="flat">
                <a:solidFill>
                  <a:srgbClr val="E87C1E"/>
                </a:solidFill>
                <a:prstDash val="solid"/>
                <a:round/>
              </a:ln>
              <a:effectLst/>
            </c:spPr>
          </c:marker>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0</c:v>
                </c:pt>
                <c:pt idx="1">
                  <c:v>0</c:v>
                </c:pt>
                <c:pt idx="2">
                  <c:v>0</c:v>
                </c:pt>
                <c:pt idx="3">
                  <c:v>0</c:v>
                </c:pt>
                <c:pt idx="4">
                  <c:v>0</c:v>
                </c:pt>
                <c:pt idx="5">
                  <c:v>0</c:v>
                </c:pt>
                <c:pt idx="6">
                  <c:v>0.5</c:v>
                </c:pt>
                <c:pt idx="7">
                  <c:v>2</c:v>
                </c:pt>
                <c:pt idx="8">
                  <c:v>6</c:v>
                </c:pt>
                <c:pt idx="9">
                  <c:v>12</c:v>
                </c:pt>
                <c:pt idx="10">
                  <c:v>18</c:v>
                </c:pt>
                <c:pt idx="11">
                  <c:v>22</c:v>
                </c:pt>
                <c:pt idx="12">
                  <c:v>24</c:v>
                </c:pt>
                <c:pt idx="13">
                  <c:v>25</c:v>
                </c:pt>
                <c:pt idx="14">
                  <c:v>22</c:v>
                </c:pt>
                <c:pt idx="15">
                  <c:v>18</c:v>
                </c:pt>
                <c:pt idx="16">
                  <c:v>14</c:v>
                </c:pt>
                <c:pt idx="17">
                  <c:v>10</c:v>
                </c:pt>
                <c:pt idx="18">
                  <c:v>6</c:v>
                </c:pt>
                <c:pt idx="19">
                  <c:v>2</c:v>
                </c:pt>
                <c:pt idx="20">
                  <c:v>0.5</c:v>
                </c:pt>
                <c:pt idx="21">
                  <c:v>0</c:v>
                </c:pt>
                <c:pt idx="22">
                  <c:v>0</c:v>
                </c:pt>
                <c:pt idx="23">
                  <c:v>0</c:v>
                </c:pt>
              </c:numCache>
            </c:numRef>
          </c:val>
          <c:smooth val="1"/>
          <c:extLst>
            <c:ext xmlns:c16="http://schemas.microsoft.com/office/drawing/2014/chart" uri="{C3380CC4-5D6E-409C-BE32-E72D297353CC}">
              <c16:uniqueId val="{00000000-EFF0-42F7-B0E5-3CF40B9838E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4346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4346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Power Share</c:v>
                </c:pt>
              </c:strCache>
            </c:strRef>
          </c:tx>
          <c:spPr>
            <a:solidFill>
              <a:schemeClr val="accent1"/>
            </a:solidFill>
            <a:ln w="9525" cap="flat">
              <a:solidFill>
                <a:srgbClr val="F9F9F9"/>
              </a:solidFill>
              <a:prstDash val="solid"/>
              <a:round/>
            </a:ln>
            <a:effectLst/>
          </c:spPr>
          <c:dPt>
            <c:idx val="0"/>
            <c:bubble3D val="0"/>
            <c:spPr>
              <a:solidFill>
                <a:srgbClr val="E87C1E"/>
              </a:solidFill>
              <a:effectLst/>
            </c:spPr>
            <c:extLst>
              <c:ext xmlns:c16="http://schemas.microsoft.com/office/drawing/2014/chart" uri="{C3380CC4-5D6E-409C-BE32-E72D297353CC}">
                <c16:uniqueId val="{00000001-7317-414E-B97B-C3D87329128B}"/>
              </c:ext>
            </c:extLst>
          </c:dPt>
          <c:dPt>
            <c:idx val="1"/>
            <c:bubble3D val="0"/>
            <c:spPr>
              <a:solidFill>
                <a:srgbClr val="1A2744"/>
              </a:solidFill>
              <a:effectLst/>
            </c:spPr>
            <c:extLst>
              <c:ext xmlns:c16="http://schemas.microsoft.com/office/drawing/2014/chart" uri="{C3380CC4-5D6E-409C-BE32-E72D297353CC}">
                <c16:uniqueId val="{00000003-7317-414E-B97B-C3D87329128B}"/>
              </c:ext>
            </c:extLst>
          </c:dPt>
          <c:dLbls>
            <c:dLbl>
              <c:idx val="0"/>
              <c:numFmt formatCode="0%" sourceLinked="0"/>
              <c:spPr/>
              <c:txPr>
                <a:bodyPr/>
                <a:lstStyle/>
                <a:p>
                  <a:pPr>
                    <a:defRPr sz="1400" b="0" i="0" u="none" strike="noStrike">
                      <a:solidFill>
                        <a:srgbClr val="FFFFFF"/>
                      </a:solidFill>
                      <a:latin typeface="Arial"/>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7317-414E-B97B-C3D87329128B}"/>
                </c:ext>
              </c:extLst>
            </c:dLbl>
            <c:dLbl>
              <c:idx val="1"/>
              <c:numFmt formatCode="0%" sourceLinked="0"/>
              <c:spPr/>
              <c:txPr>
                <a:bodyPr/>
                <a:lstStyle/>
                <a:p>
                  <a:pPr>
                    <a:defRPr sz="1400" b="0" i="0" u="none" strike="noStrike">
                      <a:solidFill>
                        <a:srgbClr val="FFFFFF"/>
                      </a:solidFill>
                      <a:latin typeface="Arial"/>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7317-414E-B97B-C3D87329128B}"/>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UPV (Utility-Scale)</c:v>
                </c:pt>
                <c:pt idx="1">
                  <c:v>DPV (Distributed)</c:v>
                </c:pt>
              </c:strCache>
            </c:strRef>
          </c:cat>
          <c:val>
            <c:numRef>
              <c:f>Sheet1!$B$2:$B$3</c:f>
              <c:numCache>
                <c:formatCode>General</c:formatCode>
                <c:ptCount val="2"/>
                <c:pt idx="0">
                  <c:v>65</c:v>
                </c:pt>
                <c:pt idx="1">
                  <c:v>35</c:v>
                </c:pt>
              </c:numCache>
            </c:numRef>
          </c:val>
          <c:extLst>
            <c:ext xmlns:c16="http://schemas.microsoft.com/office/drawing/2014/chart" uri="{C3380CC4-5D6E-409C-BE32-E72D297353CC}">
              <c16:uniqueId val="{00000004-7317-414E-B97B-C3D87329128B}"/>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Daily Power (MW)</c:v>
                </c:pt>
              </c:strCache>
            </c:strRef>
          </c:tx>
          <c:spPr>
            <a:ln w="31750" cap="flat">
              <a:solidFill>
                <a:srgbClr val="E87C1E"/>
              </a:solidFill>
              <a:prstDash val="solid"/>
              <a:round/>
            </a:ln>
            <a:effectLst/>
          </c:spPr>
          <c:marker>
            <c:symbol val="circle"/>
            <c:size val="6"/>
            <c:spPr>
              <a:solidFill>
                <a:srgbClr val="E87C1E"/>
              </a:solidFill>
              <a:ln w="9525" cap="flat">
                <a:solidFill>
                  <a:srgbClr val="E87C1E"/>
                </a:solidFill>
                <a:prstDash val="solid"/>
                <a:round/>
              </a:ln>
              <a:effectLst/>
            </c:spPr>
          </c:marker>
          <c:cat>
            <c:strRef>
              <c:f>Sheet1!$A$2:$A$31</c:f>
              <c:strCach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Sheet1!$B$2:$B$31</c:f>
              <c:numCache>
                <c:formatCode>General</c:formatCode>
                <c:ptCount val="30"/>
                <c:pt idx="0">
                  <c:v>200000</c:v>
                </c:pt>
                <c:pt idx="1">
                  <c:v>220000</c:v>
                </c:pt>
                <c:pt idx="2">
                  <c:v>260000</c:v>
                </c:pt>
                <c:pt idx="3">
                  <c:v>290000</c:v>
                </c:pt>
                <c:pt idx="4">
                  <c:v>320000</c:v>
                </c:pt>
                <c:pt idx="5">
                  <c:v>310000</c:v>
                </c:pt>
                <c:pt idx="6">
                  <c:v>280000</c:v>
                </c:pt>
                <c:pt idx="7">
                  <c:v>250000</c:v>
                </c:pt>
                <c:pt idx="8">
                  <c:v>240000</c:v>
                </c:pt>
                <c:pt idx="9">
                  <c:v>280000</c:v>
                </c:pt>
                <c:pt idx="10">
                  <c:v>310000</c:v>
                </c:pt>
                <c:pt idx="11">
                  <c:v>270000</c:v>
                </c:pt>
                <c:pt idx="12">
                  <c:v>250000</c:v>
                </c:pt>
                <c:pt idx="13">
                  <c:v>240000</c:v>
                </c:pt>
                <c:pt idx="14">
                  <c:v>260000</c:v>
                </c:pt>
                <c:pt idx="15">
                  <c:v>250000</c:v>
                </c:pt>
                <c:pt idx="16">
                  <c:v>230000</c:v>
                </c:pt>
                <c:pt idx="17">
                  <c:v>245000</c:v>
                </c:pt>
                <c:pt idx="18">
                  <c:v>255000</c:v>
                </c:pt>
                <c:pt idx="19">
                  <c:v>265000</c:v>
                </c:pt>
                <c:pt idx="20">
                  <c:v>250000</c:v>
                </c:pt>
                <c:pt idx="21">
                  <c:v>240000</c:v>
                </c:pt>
                <c:pt idx="22">
                  <c:v>270000</c:v>
                </c:pt>
                <c:pt idx="23">
                  <c:v>280000</c:v>
                </c:pt>
                <c:pt idx="24">
                  <c:v>275000</c:v>
                </c:pt>
                <c:pt idx="25">
                  <c:v>250000</c:v>
                </c:pt>
                <c:pt idx="26">
                  <c:v>230000</c:v>
                </c:pt>
                <c:pt idx="27">
                  <c:v>210000</c:v>
                </c:pt>
                <c:pt idx="28">
                  <c:v>200000</c:v>
                </c:pt>
                <c:pt idx="29">
                  <c:v>140000</c:v>
                </c:pt>
              </c:numCache>
            </c:numRef>
          </c:val>
          <c:smooth val="0"/>
          <c:extLst>
            <c:ext xmlns:c16="http://schemas.microsoft.com/office/drawing/2014/chart" uri="{C3380CC4-5D6E-409C-BE32-E72D297353CC}">
              <c16:uniqueId val="{00000000-F56D-45FE-BDF4-D265BD90E4B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4346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4346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Avg Capacity (MW)</c:v>
                </c:pt>
              </c:strCache>
            </c:strRef>
          </c:tx>
          <c:spPr>
            <a:solidFill>
              <a:srgbClr val="E87C1E"/>
            </a:solidFill>
            <a:effectLst/>
          </c:spPr>
          <c:invertIfNegative val="0"/>
          <c:dLbls>
            <c:numFmt formatCode="#,##0" sourceLinked="0"/>
            <c:spPr>
              <a:noFill/>
              <a:ln>
                <a:noFill/>
              </a:ln>
              <a:effectLst/>
            </c:spPr>
            <c:txPr>
              <a:bodyPr/>
              <a:lstStyle/>
              <a:p>
                <a:pPr>
                  <a:defRPr sz="1200" b="0" i="0" u="none" strike="noStrike">
                    <a:solidFill>
                      <a:srgbClr val="1A274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UPV</c:v>
                </c:pt>
                <c:pt idx="1">
                  <c:v>DPV</c:v>
                </c:pt>
              </c:strCache>
            </c:strRef>
          </c:cat>
          <c:val>
            <c:numRef>
              <c:f>Sheet1!$B$2:$B$3</c:f>
              <c:numCache>
                <c:formatCode>General</c:formatCode>
                <c:ptCount val="2"/>
                <c:pt idx="0">
                  <c:v>66.67</c:v>
                </c:pt>
                <c:pt idx="1">
                  <c:v>36.85</c:v>
                </c:pt>
              </c:numCache>
            </c:numRef>
          </c:val>
          <c:extLst>
            <c:ext xmlns:c16="http://schemas.microsoft.com/office/drawing/2014/chart" uri="{C3380CC4-5D6E-409C-BE32-E72D297353CC}">
              <c16:uniqueId val="{00000000-82C9-4FA2-BCC2-03D5390B76F5}"/>
            </c:ext>
          </c:extLst>
        </c:ser>
        <c:ser>
          <c:idx val="1"/>
          <c:order val="1"/>
          <c:tx>
            <c:strRef>
              <c:f>Sheet1!$C$1</c:f>
              <c:strCache>
                <c:ptCount val="1"/>
                <c:pt idx="0">
                  <c:v>Avg Power Output (MW)</c:v>
                </c:pt>
              </c:strCache>
            </c:strRef>
          </c:tx>
          <c:spPr>
            <a:solidFill>
              <a:srgbClr val="1A2744"/>
            </a:solidFill>
            <a:effectLst/>
          </c:spPr>
          <c:invertIfNegative val="0"/>
          <c:dLbls>
            <c:numFmt formatCode="#,##0" sourceLinked="0"/>
            <c:spPr>
              <a:noFill/>
              <a:ln>
                <a:noFill/>
              </a:ln>
              <a:effectLst/>
            </c:spPr>
            <c:txPr>
              <a:bodyPr/>
              <a:lstStyle/>
              <a:p>
                <a:pPr>
                  <a:defRPr sz="1200" b="0" i="0" u="none" strike="noStrike">
                    <a:solidFill>
                      <a:srgbClr val="1A274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UPV</c:v>
                </c:pt>
                <c:pt idx="1">
                  <c:v>DPV</c:v>
                </c:pt>
              </c:strCache>
            </c:strRef>
          </c:cat>
          <c:val>
            <c:numRef>
              <c:f>Sheet1!$C$2:$C$3</c:f>
              <c:numCache>
                <c:formatCode>General</c:formatCode>
                <c:ptCount val="2"/>
                <c:pt idx="0">
                  <c:v>11</c:v>
                </c:pt>
                <c:pt idx="1">
                  <c:v>6</c:v>
                </c:pt>
              </c:numCache>
            </c:numRef>
          </c:val>
          <c:extLst>
            <c:ext xmlns:c16="http://schemas.microsoft.com/office/drawing/2014/chart" uri="{C3380CC4-5D6E-409C-BE32-E72D297353CC}">
              <c16:uniqueId val="{00000001-82C9-4FA2-BCC2-03D5390B76F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4346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24346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Utilization Rate (%)</c:v>
                </c:pt>
              </c:strCache>
            </c:strRef>
          </c:tx>
          <c:spPr>
            <a:solidFill>
              <a:srgbClr val="E87C1E"/>
            </a:solidFill>
            <a:effectLst/>
          </c:spPr>
          <c:invertIfNegative val="0"/>
          <c:dPt>
            <c:idx val="0"/>
            <c:invertIfNegative val="0"/>
            <c:bubble3D val="0"/>
            <c:extLst>
              <c:ext xmlns:c16="http://schemas.microsoft.com/office/drawing/2014/chart" uri="{C3380CC4-5D6E-409C-BE32-E72D297353CC}">
                <c16:uniqueId val="{00000001-E484-4D03-84D9-66F6F49909B1}"/>
              </c:ext>
            </c:extLst>
          </c:dPt>
          <c:dPt>
            <c:idx val="1"/>
            <c:invertIfNegative val="0"/>
            <c:bubble3D val="0"/>
            <c:spPr>
              <a:solidFill>
                <a:srgbClr val="2E4080"/>
              </a:solidFill>
              <a:effectLst/>
            </c:spPr>
            <c:extLst>
              <c:ext xmlns:c16="http://schemas.microsoft.com/office/drawing/2014/chart" uri="{C3380CC4-5D6E-409C-BE32-E72D297353CC}">
                <c16:uniqueId val="{00000003-E484-4D03-84D9-66F6F49909B1}"/>
              </c:ext>
            </c:extLst>
          </c:dPt>
          <c:dPt>
            <c:idx val="2"/>
            <c:invertIfNegative val="0"/>
            <c:bubble3D val="0"/>
            <c:spPr>
              <a:solidFill>
                <a:srgbClr val="1A2744"/>
              </a:solidFill>
              <a:effectLst/>
            </c:spPr>
            <c:extLst>
              <c:ext xmlns:c16="http://schemas.microsoft.com/office/drawing/2014/chart" uri="{C3380CC4-5D6E-409C-BE32-E72D297353CC}">
                <c16:uniqueId val="{00000005-E484-4D03-84D9-66F6F49909B1}"/>
              </c:ext>
            </c:extLst>
          </c:dPt>
          <c:dPt>
            <c:idx val="3"/>
            <c:invertIfNegative val="0"/>
            <c:bubble3D val="0"/>
            <c:spPr>
              <a:solidFill>
                <a:srgbClr val="999999"/>
              </a:solidFill>
              <a:effectLst/>
            </c:spPr>
            <c:extLst>
              <c:ext xmlns:c16="http://schemas.microsoft.com/office/drawing/2014/chart" uri="{C3380CC4-5D6E-409C-BE32-E72D297353CC}">
                <c16:uniqueId val="{00000007-E484-4D03-84D9-66F6F49909B1}"/>
              </c:ext>
            </c:extLst>
          </c:dPt>
          <c:dLbls>
            <c:numFmt formatCode="#,##0" sourceLinked="0"/>
            <c:spPr>
              <a:noFill/>
              <a:ln>
                <a:noFill/>
              </a:ln>
              <a:effectLst/>
            </c:spPr>
            <c:txPr>
              <a:bodyPr/>
              <a:lstStyle/>
              <a:p>
                <a:pPr>
                  <a:defRPr sz="1200" b="0" i="0" u="none" strike="noStrike">
                    <a:solidFill>
                      <a:srgbClr val="1A274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UPV Avg Utilization</c:v>
                </c:pt>
                <c:pt idx="1">
                  <c:v>DPV Avg Utilization</c:v>
                </c:pt>
                <c:pt idx="2">
                  <c:v>Portfolio Maximum
(74.6/80 MW)</c:v>
                </c:pt>
                <c:pt idx="3">
                  <c:v>Target Benchmark</c:v>
                </c:pt>
              </c:strCache>
            </c:strRef>
          </c:cat>
          <c:val>
            <c:numRef>
              <c:f>Sheet1!$B$2:$B$5</c:f>
              <c:numCache>
                <c:formatCode>General</c:formatCode>
                <c:ptCount val="4"/>
                <c:pt idx="0">
                  <c:v>16.5</c:v>
                </c:pt>
                <c:pt idx="1">
                  <c:v>16.3</c:v>
                </c:pt>
                <c:pt idx="2">
                  <c:v>93.3</c:v>
                </c:pt>
                <c:pt idx="3">
                  <c:v>95</c:v>
                </c:pt>
              </c:numCache>
            </c:numRef>
          </c:val>
          <c:extLst>
            <c:ext xmlns:c16="http://schemas.microsoft.com/office/drawing/2014/chart" uri="{C3380CC4-5D6E-409C-BE32-E72D297353CC}">
              <c16:uniqueId val="{00000008-E484-4D03-84D9-66F6F49909B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4346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4346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1454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87C1E"/>
          </a:solidFill>
          <a:ln/>
        </p:spPr>
      </p:sp>
      <p:sp>
        <p:nvSpPr>
          <p:cNvPr id="3" name="Shape 1"/>
          <p:cNvSpPr/>
          <p:nvPr/>
        </p:nvSpPr>
        <p:spPr>
          <a:xfrm>
            <a:off x="6858000" y="-1097280"/>
            <a:ext cx="3200400" cy="3200400"/>
          </a:xfrm>
          <a:prstGeom prst="ellipse">
            <a:avLst/>
          </a:prstGeom>
          <a:solidFill>
            <a:srgbClr val="F5C518">
              <a:alpha val="25000"/>
            </a:srgbClr>
          </a:solidFill>
          <a:ln/>
        </p:spPr>
      </p:sp>
      <p:sp>
        <p:nvSpPr>
          <p:cNvPr id="4" name="Shape 2"/>
          <p:cNvSpPr/>
          <p:nvPr/>
        </p:nvSpPr>
        <p:spPr>
          <a:xfrm>
            <a:off x="7223760" y="-731520"/>
            <a:ext cx="2286000" cy="2286000"/>
          </a:xfrm>
          <a:prstGeom prst="ellipse">
            <a:avLst/>
          </a:prstGeom>
          <a:solidFill>
            <a:srgbClr val="E87C1E">
              <a:alpha val="40000"/>
            </a:srgbClr>
          </a:solidFill>
          <a:ln/>
        </p:spPr>
      </p:sp>
      <p:sp>
        <p:nvSpPr>
          <p:cNvPr id="5" name="Text 3"/>
          <p:cNvSpPr/>
          <p:nvPr/>
        </p:nvSpPr>
        <p:spPr>
          <a:xfrm>
            <a:off x="594360" y="914400"/>
            <a:ext cx="8412480" cy="731520"/>
          </a:xfrm>
          <a:prstGeom prst="rect">
            <a:avLst/>
          </a:prstGeom>
          <a:noFill/>
          <a:ln/>
        </p:spPr>
        <p:txBody>
          <a:bodyPr wrap="square"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SOLAR POWER</a:t>
            </a:r>
            <a:endParaRPr lang="en-US" sz="4800" dirty="0"/>
          </a:p>
        </p:txBody>
      </p:sp>
      <p:sp>
        <p:nvSpPr>
          <p:cNvPr id="6" name="Text 4"/>
          <p:cNvSpPr/>
          <p:nvPr/>
        </p:nvSpPr>
        <p:spPr>
          <a:xfrm>
            <a:off x="594360" y="1600200"/>
            <a:ext cx="8412480" cy="731520"/>
          </a:xfrm>
          <a:prstGeom prst="rect">
            <a:avLst/>
          </a:prstGeom>
          <a:noFill/>
          <a:ln/>
        </p:spPr>
        <p:txBody>
          <a:bodyPr wrap="square" rtlCol="0" anchor="ctr"/>
          <a:lstStyle/>
          <a:p>
            <a:pPr marL="0" indent="0">
              <a:buNone/>
            </a:pPr>
            <a:r>
              <a:rPr lang="en-US" sz="4800" b="1" dirty="0">
                <a:solidFill>
                  <a:srgbClr val="F5C518"/>
                </a:solidFill>
                <a:latin typeface="Calibri" pitchFamily="34" charset="0"/>
                <a:ea typeface="Calibri" pitchFamily="34" charset="-122"/>
                <a:cs typeface="Calibri" pitchFamily="34" charset="-120"/>
              </a:rPr>
              <a:t>GENERATION REPORT</a:t>
            </a:r>
            <a:endParaRPr lang="en-US" sz="4800" dirty="0"/>
          </a:p>
        </p:txBody>
      </p:sp>
      <p:sp>
        <p:nvSpPr>
          <p:cNvPr id="7" name="Text 5"/>
          <p:cNvSpPr/>
          <p:nvPr/>
        </p:nvSpPr>
        <p:spPr>
          <a:xfrm>
            <a:off x="594360" y="2423160"/>
            <a:ext cx="7772400" cy="822960"/>
          </a:xfrm>
          <a:prstGeom prst="rect">
            <a:avLst/>
          </a:prstGeom>
          <a:noFill/>
          <a:ln/>
        </p:spPr>
        <p:txBody>
          <a:bodyPr wrap="square" rtlCol="0" anchor="ctr"/>
          <a:lstStyle/>
          <a:p>
            <a:pPr marL="0" indent="0">
              <a:buNone/>
            </a:pPr>
            <a:r>
              <a:rPr lang="en-US" sz="1600" i="1" dirty="0">
                <a:solidFill>
                  <a:srgbClr val="E8E4DA"/>
                </a:solidFill>
                <a:latin typeface="Calibri" pitchFamily="34" charset="0"/>
                <a:ea typeface="Calibri" pitchFamily="34" charset="-122"/>
                <a:cs typeface="Calibri" pitchFamily="34" charset="-120"/>
              </a:rPr>
              <a:t>Comprehensive Business Intelligence Analysis of Solar Energy Production</a:t>
            </a:r>
            <a:endParaRPr lang="en-US" sz="1600" dirty="0"/>
          </a:p>
          <a:p>
            <a:pPr marL="0" indent="0">
              <a:buNone/>
            </a:pPr>
            <a:r>
              <a:rPr lang="en-US" sz="1600" i="1" dirty="0">
                <a:solidFill>
                  <a:srgbClr val="E8E4DA"/>
                </a:solidFill>
                <a:latin typeface="Calibri" pitchFamily="34" charset="0"/>
                <a:ea typeface="Calibri" pitchFamily="34" charset="-122"/>
                <a:cs typeface="Calibri" pitchFamily="34" charset="-120"/>
              </a:rPr>
              <a:t>Performance, Trends &amp; Strategic Recommendations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744"/>
          </a:solidFill>
          <a:ln/>
        </p:spPr>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3200" b="1" dirty="0">
                <a:solidFill>
                  <a:srgbClr val="F5C518"/>
                </a:solidFill>
                <a:latin typeface="Calibri" pitchFamily="34" charset="0"/>
                <a:ea typeface="Calibri" pitchFamily="34" charset="-122"/>
                <a:cs typeface="Calibri" pitchFamily="34" charset="-120"/>
              </a:rPr>
              <a:t>AGENDA</a:t>
            </a:r>
            <a:endParaRPr lang="en-US" sz="32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E8E4DA"/>
                </a:solidFill>
                <a:latin typeface="Calibri" pitchFamily="34" charset="0"/>
                <a:ea typeface="Calibri" pitchFamily="34" charset="-122"/>
                <a:cs typeface="Calibri" pitchFamily="34" charset="-120"/>
              </a:rPr>
              <a:t>Table of Contents</a:t>
            </a:r>
            <a:endParaRPr lang="en-US" sz="1300" dirty="0"/>
          </a:p>
        </p:txBody>
      </p:sp>
      <p:sp>
        <p:nvSpPr>
          <p:cNvPr id="5" name="Shape 3"/>
          <p:cNvSpPr/>
          <p:nvPr/>
        </p:nvSpPr>
        <p:spPr>
          <a:xfrm>
            <a:off x="274320" y="1097280"/>
            <a:ext cx="4114800" cy="82296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274320" y="1097280"/>
            <a:ext cx="502920" cy="822960"/>
          </a:xfrm>
          <a:prstGeom prst="rect">
            <a:avLst/>
          </a:prstGeom>
          <a:solidFill>
            <a:srgbClr val="E87C1E"/>
          </a:solidFill>
          <a:ln/>
        </p:spPr>
      </p:sp>
      <p:sp>
        <p:nvSpPr>
          <p:cNvPr id="7" name="Text 5"/>
          <p:cNvSpPr/>
          <p:nvPr/>
        </p:nvSpPr>
        <p:spPr>
          <a:xfrm>
            <a:off x="274320" y="1097280"/>
            <a:ext cx="502920" cy="8229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8" name="Text 6"/>
          <p:cNvSpPr/>
          <p:nvPr/>
        </p:nvSpPr>
        <p:spPr>
          <a:xfrm>
            <a:off x="868680" y="1133856"/>
            <a:ext cx="3429000" cy="384048"/>
          </a:xfrm>
          <a:prstGeom prst="rect">
            <a:avLst/>
          </a:prstGeom>
          <a:noFill/>
          <a:ln/>
        </p:spPr>
        <p:txBody>
          <a:bodyPr wrap="square" rtlCol="0" anchor="ctr"/>
          <a:lstStyle/>
          <a:p>
            <a:pPr marL="0" indent="0">
              <a:buNone/>
            </a:pPr>
            <a:r>
              <a:rPr lang="en-US" sz="1200" b="1" dirty="0">
                <a:solidFill>
                  <a:srgbClr val="1A2744"/>
                </a:solidFill>
                <a:latin typeface="Calibri" pitchFamily="34" charset="0"/>
                <a:ea typeface="Calibri" pitchFamily="34" charset="-122"/>
                <a:cs typeface="Calibri" pitchFamily="34" charset="-120"/>
              </a:rPr>
              <a:t>Introduction &amp; Domain Overview</a:t>
            </a:r>
            <a:endParaRPr lang="en-US" sz="1200" dirty="0"/>
          </a:p>
        </p:txBody>
      </p:sp>
      <p:sp>
        <p:nvSpPr>
          <p:cNvPr id="9" name="Text 7"/>
          <p:cNvSpPr/>
          <p:nvPr/>
        </p:nvSpPr>
        <p:spPr>
          <a:xfrm>
            <a:off x="868680" y="1499616"/>
            <a:ext cx="3429000" cy="365760"/>
          </a:xfrm>
          <a:prstGeom prst="rect">
            <a:avLst/>
          </a:prstGeom>
          <a:noFill/>
          <a:ln/>
        </p:spPr>
        <p:txBody>
          <a:bodyPr wrap="square" rtlCol="0" anchor="ctr"/>
          <a:lstStyle/>
          <a:p>
            <a:pPr marL="0" indent="0">
              <a:buNone/>
            </a:pPr>
            <a:r>
              <a:rPr lang="en-US" sz="950" dirty="0">
                <a:solidFill>
                  <a:srgbClr val="9B9484"/>
                </a:solidFill>
                <a:latin typeface="Calibri" pitchFamily="34" charset="0"/>
                <a:ea typeface="Calibri" pitchFamily="34" charset="-122"/>
                <a:cs typeface="Calibri" pitchFamily="34" charset="-120"/>
              </a:rPr>
              <a:t>Background, context, and solar industry fundamentals</a:t>
            </a:r>
            <a:endParaRPr lang="en-US" sz="950" dirty="0"/>
          </a:p>
        </p:txBody>
      </p:sp>
      <p:sp>
        <p:nvSpPr>
          <p:cNvPr id="10" name="Shape 8"/>
          <p:cNvSpPr/>
          <p:nvPr/>
        </p:nvSpPr>
        <p:spPr>
          <a:xfrm>
            <a:off x="274320" y="2057400"/>
            <a:ext cx="4114800" cy="822960"/>
          </a:xfrm>
          <a:prstGeom prst="rect">
            <a:avLst/>
          </a:prstGeom>
          <a:solidFill>
            <a:srgbClr val="FFFFFF"/>
          </a:solidFill>
          <a:ln/>
          <a:effectLst>
            <a:outerShdw blurRad="101600" dist="38100" dir="8100000" algn="bl" rotWithShape="0">
              <a:srgbClr val="000000">
                <a:alpha val="12000"/>
              </a:srgbClr>
            </a:outerShdw>
          </a:effectLst>
        </p:spPr>
      </p:sp>
      <p:sp>
        <p:nvSpPr>
          <p:cNvPr id="11" name="Shape 9"/>
          <p:cNvSpPr/>
          <p:nvPr/>
        </p:nvSpPr>
        <p:spPr>
          <a:xfrm>
            <a:off x="274320" y="2057400"/>
            <a:ext cx="502920" cy="822960"/>
          </a:xfrm>
          <a:prstGeom prst="rect">
            <a:avLst/>
          </a:prstGeom>
          <a:solidFill>
            <a:srgbClr val="E87C1E"/>
          </a:solidFill>
          <a:ln/>
        </p:spPr>
      </p:sp>
      <p:sp>
        <p:nvSpPr>
          <p:cNvPr id="12" name="Text 10"/>
          <p:cNvSpPr/>
          <p:nvPr/>
        </p:nvSpPr>
        <p:spPr>
          <a:xfrm>
            <a:off x="274320" y="2057400"/>
            <a:ext cx="502920" cy="8229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3" name="Text 11"/>
          <p:cNvSpPr/>
          <p:nvPr/>
        </p:nvSpPr>
        <p:spPr>
          <a:xfrm>
            <a:off x="868680" y="2093976"/>
            <a:ext cx="3429000" cy="384048"/>
          </a:xfrm>
          <a:prstGeom prst="rect">
            <a:avLst/>
          </a:prstGeom>
          <a:noFill/>
          <a:ln/>
        </p:spPr>
        <p:txBody>
          <a:bodyPr wrap="square" rtlCol="0" anchor="ctr"/>
          <a:lstStyle/>
          <a:p>
            <a:pPr marL="0" indent="0">
              <a:buNone/>
            </a:pPr>
            <a:r>
              <a:rPr lang="en-US" sz="1200" b="1" dirty="0">
                <a:solidFill>
                  <a:srgbClr val="1A2744"/>
                </a:solidFill>
                <a:latin typeface="Calibri" pitchFamily="34" charset="0"/>
                <a:ea typeface="Calibri" pitchFamily="34" charset="-122"/>
                <a:cs typeface="Calibri" pitchFamily="34" charset="-120"/>
              </a:rPr>
              <a:t>Problem Statement &amp; Objectives</a:t>
            </a:r>
            <a:endParaRPr lang="en-US" sz="1200" dirty="0"/>
          </a:p>
        </p:txBody>
      </p:sp>
      <p:sp>
        <p:nvSpPr>
          <p:cNvPr id="14" name="Text 12"/>
          <p:cNvSpPr/>
          <p:nvPr/>
        </p:nvSpPr>
        <p:spPr>
          <a:xfrm>
            <a:off x="868680" y="2459736"/>
            <a:ext cx="3429000" cy="365760"/>
          </a:xfrm>
          <a:prstGeom prst="rect">
            <a:avLst/>
          </a:prstGeom>
          <a:noFill/>
          <a:ln/>
        </p:spPr>
        <p:txBody>
          <a:bodyPr wrap="square" rtlCol="0" anchor="ctr"/>
          <a:lstStyle/>
          <a:p>
            <a:pPr marL="0" indent="0">
              <a:buNone/>
            </a:pPr>
            <a:r>
              <a:rPr lang="en-US" sz="950" dirty="0">
                <a:solidFill>
                  <a:srgbClr val="9B9484"/>
                </a:solidFill>
                <a:latin typeface="Calibri" pitchFamily="34" charset="0"/>
                <a:ea typeface="Calibri" pitchFamily="34" charset="-122"/>
                <a:cs typeface="Calibri" pitchFamily="34" charset="-120"/>
              </a:rPr>
              <a:t>Business challenges and analytical goals defined</a:t>
            </a:r>
            <a:endParaRPr lang="en-US" sz="950" dirty="0"/>
          </a:p>
        </p:txBody>
      </p:sp>
      <p:sp>
        <p:nvSpPr>
          <p:cNvPr id="15" name="Shape 13"/>
          <p:cNvSpPr/>
          <p:nvPr/>
        </p:nvSpPr>
        <p:spPr>
          <a:xfrm>
            <a:off x="274320" y="3017520"/>
            <a:ext cx="4114800" cy="822960"/>
          </a:xfrm>
          <a:prstGeom prst="rect">
            <a:avLst/>
          </a:prstGeom>
          <a:solidFill>
            <a:srgbClr val="FFFFFF"/>
          </a:solidFill>
          <a:ln/>
          <a:effectLst>
            <a:outerShdw blurRad="101600" dist="38100" dir="8100000" algn="bl" rotWithShape="0">
              <a:srgbClr val="000000">
                <a:alpha val="12000"/>
              </a:srgbClr>
            </a:outerShdw>
          </a:effectLst>
        </p:spPr>
      </p:sp>
      <p:sp>
        <p:nvSpPr>
          <p:cNvPr id="16" name="Shape 14"/>
          <p:cNvSpPr/>
          <p:nvPr/>
        </p:nvSpPr>
        <p:spPr>
          <a:xfrm>
            <a:off x="274320" y="3017520"/>
            <a:ext cx="502920" cy="822960"/>
          </a:xfrm>
          <a:prstGeom prst="rect">
            <a:avLst/>
          </a:prstGeom>
          <a:solidFill>
            <a:srgbClr val="E87C1E"/>
          </a:solidFill>
          <a:ln/>
        </p:spPr>
      </p:sp>
      <p:sp>
        <p:nvSpPr>
          <p:cNvPr id="17" name="Text 15"/>
          <p:cNvSpPr/>
          <p:nvPr/>
        </p:nvSpPr>
        <p:spPr>
          <a:xfrm>
            <a:off x="274320" y="3017520"/>
            <a:ext cx="502920" cy="8229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8" name="Text 16"/>
          <p:cNvSpPr/>
          <p:nvPr/>
        </p:nvSpPr>
        <p:spPr>
          <a:xfrm>
            <a:off x="868680" y="3054096"/>
            <a:ext cx="3429000" cy="384048"/>
          </a:xfrm>
          <a:prstGeom prst="rect">
            <a:avLst/>
          </a:prstGeom>
          <a:noFill/>
          <a:ln/>
        </p:spPr>
        <p:txBody>
          <a:bodyPr wrap="square" rtlCol="0" anchor="ctr"/>
          <a:lstStyle/>
          <a:p>
            <a:pPr marL="0" indent="0">
              <a:buNone/>
            </a:pPr>
            <a:r>
              <a:rPr lang="en-US" sz="1200" b="1" dirty="0">
                <a:solidFill>
                  <a:srgbClr val="1A2744"/>
                </a:solidFill>
                <a:latin typeface="Calibri" pitchFamily="34" charset="0"/>
                <a:ea typeface="Calibri" pitchFamily="34" charset="-122"/>
                <a:cs typeface="Calibri" pitchFamily="34" charset="-120"/>
              </a:rPr>
              <a:t>Dataset Overview &amp; Data Quality</a:t>
            </a:r>
            <a:endParaRPr lang="en-US" sz="1200" dirty="0"/>
          </a:p>
        </p:txBody>
      </p:sp>
      <p:sp>
        <p:nvSpPr>
          <p:cNvPr id="19" name="Text 17"/>
          <p:cNvSpPr/>
          <p:nvPr/>
        </p:nvSpPr>
        <p:spPr>
          <a:xfrm>
            <a:off x="868680" y="3419856"/>
            <a:ext cx="3429000" cy="365760"/>
          </a:xfrm>
          <a:prstGeom prst="rect">
            <a:avLst/>
          </a:prstGeom>
          <a:noFill/>
          <a:ln/>
        </p:spPr>
        <p:txBody>
          <a:bodyPr wrap="square" rtlCol="0" anchor="ctr"/>
          <a:lstStyle/>
          <a:p>
            <a:pPr marL="0" indent="0">
              <a:buNone/>
            </a:pPr>
            <a:r>
              <a:rPr lang="en-US" sz="950" dirty="0">
                <a:solidFill>
                  <a:srgbClr val="9B9484"/>
                </a:solidFill>
                <a:latin typeface="Calibri" pitchFamily="34" charset="0"/>
                <a:ea typeface="Calibri" pitchFamily="34" charset="-122"/>
                <a:cs typeface="Calibri" pitchFamily="34" charset="-120"/>
              </a:rPr>
              <a:t>Data structure, variables, cleaning &amp; transformation</a:t>
            </a:r>
            <a:endParaRPr lang="en-US" sz="950" dirty="0"/>
          </a:p>
        </p:txBody>
      </p:sp>
      <p:sp>
        <p:nvSpPr>
          <p:cNvPr id="20" name="Shape 18"/>
          <p:cNvSpPr/>
          <p:nvPr/>
        </p:nvSpPr>
        <p:spPr>
          <a:xfrm>
            <a:off x="274320" y="3977640"/>
            <a:ext cx="4114800" cy="822960"/>
          </a:xfrm>
          <a:prstGeom prst="rect">
            <a:avLst/>
          </a:prstGeom>
          <a:solidFill>
            <a:srgbClr val="FFFFFF"/>
          </a:solidFill>
          <a:ln/>
          <a:effectLst>
            <a:outerShdw blurRad="101600" dist="38100" dir="8100000" algn="bl" rotWithShape="0">
              <a:srgbClr val="000000">
                <a:alpha val="12000"/>
              </a:srgbClr>
            </a:outerShdw>
          </a:effectLst>
        </p:spPr>
      </p:sp>
      <p:sp>
        <p:nvSpPr>
          <p:cNvPr id="21" name="Shape 19"/>
          <p:cNvSpPr/>
          <p:nvPr/>
        </p:nvSpPr>
        <p:spPr>
          <a:xfrm>
            <a:off x="274320" y="3977640"/>
            <a:ext cx="502920" cy="822960"/>
          </a:xfrm>
          <a:prstGeom prst="rect">
            <a:avLst/>
          </a:prstGeom>
          <a:solidFill>
            <a:srgbClr val="E87C1E"/>
          </a:solidFill>
          <a:ln/>
        </p:spPr>
      </p:sp>
      <p:sp>
        <p:nvSpPr>
          <p:cNvPr id="22" name="Text 20"/>
          <p:cNvSpPr/>
          <p:nvPr/>
        </p:nvSpPr>
        <p:spPr>
          <a:xfrm>
            <a:off x="274320" y="3977640"/>
            <a:ext cx="502920" cy="8229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3" name="Text 21"/>
          <p:cNvSpPr/>
          <p:nvPr/>
        </p:nvSpPr>
        <p:spPr>
          <a:xfrm>
            <a:off x="868680" y="4014216"/>
            <a:ext cx="3429000" cy="384048"/>
          </a:xfrm>
          <a:prstGeom prst="rect">
            <a:avLst/>
          </a:prstGeom>
          <a:noFill/>
          <a:ln/>
        </p:spPr>
        <p:txBody>
          <a:bodyPr wrap="square" rtlCol="0" anchor="ctr"/>
          <a:lstStyle/>
          <a:p>
            <a:pPr marL="0" indent="0">
              <a:buNone/>
            </a:pPr>
            <a:r>
              <a:rPr lang="en-US" sz="1200" b="1" dirty="0">
                <a:solidFill>
                  <a:srgbClr val="1A2744"/>
                </a:solidFill>
                <a:latin typeface="Calibri" pitchFamily="34" charset="0"/>
                <a:ea typeface="Calibri" pitchFamily="34" charset="-122"/>
                <a:cs typeface="Calibri" pitchFamily="34" charset="-120"/>
              </a:rPr>
              <a:t>Tools &amp; Business Questions</a:t>
            </a:r>
            <a:endParaRPr lang="en-US" sz="1200" dirty="0"/>
          </a:p>
        </p:txBody>
      </p:sp>
      <p:sp>
        <p:nvSpPr>
          <p:cNvPr id="24" name="Text 22"/>
          <p:cNvSpPr/>
          <p:nvPr/>
        </p:nvSpPr>
        <p:spPr>
          <a:xfrm>
            <a:off x="868680" y="4379976"/>
            <a:ext cx="3429000" cy="365760"/>
          </a:xfrm>
          <a:prstGeom prst="rect">
            <a:avLst/>
          </a:prstGeom>
          <a:noFill/>
          <a:ln/>
        </p:spPr>
        <p:txBody>
          <a:bodyPr wrap="square" rtlCol="0" anchor="ctr"/>
          <a:lstStyle/>
          <a:p>
            <a:pPr marL="0" indent="0">
              <a:buNone/>
            </a:pPr>
            <a:r>
              <a:rPr lang="en-US" sz="950" dirty="0">
                <a:solidFill>
                  <a:srgbClr val="9B9484"/>
                </a:solidFill>
                <a:latin typeface="Calibri" pitchFamily="34" charset="0"/>
                <a:ea typeface="Calibri" pitchFamily="34" charset="-122"/>
                <a:cs typeface="Calibri" pitchFamily="34" charset="-120"/>
              </a:rPr>
              <a:t>Technologies used and analytical questions</a:t>
            </a:r>
            <a:endParaRPr lang="en-US" sz="950" dirty="0"/>
          </a:p>
        </p:txBody>
      </p:sp>
      <p:sp>
        <p:nvSpPr>
          <p:cNvPr id="25" name="Shape 23"/>
          <p:cNvSpPr/>
          <p:nvPr/>
        </p:nvSpPr>
        <p:spPr>
          <a:xfrm>
            <a:off x="4663440" y="1097280"/>
            <a:ext cx="4114800" cy="822960"/>
          </a:xfrm>
          <a:prstGeom prst="rect">
            <a:avLst/>
          </a:prstGeom>
          <a:solidFill>
            <a:srgbClr val="FFFFFF"/>
          </a:solidFill>
          <a:ln/>
          <a:effectLst>
            <a:outerShdw blurRad="101600" dist="38100" dir="8100000" algn="bl" rotWithShape="0">
              <a:srgbClr val="000000">
                <a:alpha val="12000"/>
              </a:srgbClr>
            </a:outerShdw>
          </a:effectLst>
        </p:spPr>
      </p:sp>
      <p:sp>
        <p:nvSpPr>
          <p:cNvPr id="26" name="Shape 24"/>
          <p:cNvSpPr/>
          <p:nvPr/>
        </p:nvSpPr>
        <p:spPr>
          <a:xfrm>
            <a:off x="4663440" y="1097280"/>
            <a:ext cx="502920" cy="822960"/>
          </a:xfrm>
          <a:prstGeom prst="rect">
            <a:avLst/>
          </a:prstGeom>
          <a:solidFill>
            <a:srgbClr val="E87C1E"/>
          </a:solidFill>
          <a:ln/>
        </p:spPr>
      </p:sp>
      <p:sp>
        <p:nvSpPr>
          <p:cNvPr id="27" name="Text 25"/>
          <p:cNvSpPr/>
          <p:nvPr/>
        </p:nvSpPr>
        <p:spPr>
          <a:xfrm>
            <a:off x="4663440" y="1097280"/>
            <a:ext cx="502920" cy="8229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28" name="Text 26"/>
          <p:cNvSpPr/>
          <p:nvPr/>
        </p:nvSpPr>
        <p:spPr>
          <a:xfrm>
            <a:off x="5257800" y="1133856"/>
            <a:ext cx="3429000" cy="384048"/>
          </a:xfrm>
          <a:prstGeom prst="rect">
            <a:avLst/>
          </a:prstGeom>
          <a:noFill/>
          <a:ln/>
        </p:spPr>
        <p:txBody>
          <a:bodyPr wrap="square" rtlCol="0" anchor="ctr"/>
          <a:lstStyle/>
          <a:p>
            <a:pPr marL="0" indent="0">
              <a:buNone/>
            </a:pPr>
            <a:r>
              <a:rPr lang="en-US" sz="1200" b="1" dirty="0">
                <a:solidFill>
                  <a:srgbClr val="1A2744"/>
                </a:solidFill>
                <a:latin typeface="Calibri" pitchFamily="34" charset="0"/>
                <a:ea typeface="Calibri" pitchFamily="34" charset="-122"/>
                <a:cs typeface="Calibri" pitchFamily="34" charset="-120"/>
              </a:rPr>
              <a:t>Exploratory Data Analysis</a:t>
            </a:r>
            <a:endParaRPr lang="en-US" sz="1200" dirty="0"/>
          </a:p>
        </p:txBody>
      </p:sp>
      <p:sp>
        <p:nvSpPr>
          <p:cNvPr id="29" name="Text 27"/>
          <p:cNvSpPr/>
          <p:nvPr/>
        </p:nvSpPr>
        <p:spPr>
          <a:xfrm>
            <a:off x="5257800" y="1499616"/>
            <a:ext cx="3429000" cy="365760"/>
          </a:xfrm>
          <a:prstGeom prst="rect">
            <a:avLst/>
          </a:prstGeom>
          <a:noFill/>
          <a:ln/>
        </p:spPr>
        <p:txBody>
          <a:bodyPr wrap="square" rtlCol="0" anchor="ctr"/>
          <a:lstStyle/>
          <a:p>
            <a:pPr marL="0" indent="0">
              <a:buNone/>
            </a:pPr>
            <a:r>
              <a:rPr lang="en-US" sz="950" dirty="0">
                <a:solidFill>
                  <a:srgbClr val="9B9484"/>
                </a:solidFill>
                <a:latin typeface="Calibri" pitchFamily="34" charset="0"/>
                <a:ea typeface="Calibri" pitchFamily="34" charset="-122"/>
                <a:cs typeface="Calibri" pitchFamily="34" charset="-120"/>
              </a:rPr>
              <a:t>Initial trends, distributions, and observations</a:t>
            </a:r>
            <a:endParaRPr lang="en-US" sz="950" dirty="0"/>
          </a:p>
        </p:txBody>
      </p:sp>
      <p:sp>
        <p:nvSpPr>
          <p:cNvPr id="30" name="Shape 28"/>
          <p:cNvSpPr/>
          <p:nvPr/>
        </p:nvSpPr>
        <p:spPr>
          <a:xfrm>
            <a:off x="4663440" y="2057400"/>
            <a:ext cx="4114800" cy="822960"/>
          </a:xfrm>
          <a:prstGeom prst="rect">
            <a:avLst/>
          </a:prstGeom>
          <a:solidFill>
            <a:srgbClr val="FFFFFF"/>
          </a:solidFill>
          <a:ln/>
          <a:effectLst>
            <a:outerShdw blurRad="101600" dist="38100" dir="8100000" algn="bl" rotWithShape="0">
              <a:srgbClr val="000000">
                <a:alpha val="12000"/>
              </a:srgbClr>
            </a:outerShdw>
          </a:effectLst>
        </p:spPr>
      </p:sp>
      <p:sp>
        <p:nvSpPr>
          <p:cNvPr id="31" name="Shape 29"/>
          <p:cNvSpPr/>
          <p:nvPr/>
        </p:nvSpPr>
        <p:spPr>
          <a:xfrm>
            <a:off x="4663440" y="2057400"/>
            <a:ext cx="502920" cy="822960"/>
          </a:xfrm>
          <a:prstGeom prst="rect">
            <a:avLst/>
          </a:prstGeom>
          <a:solidFill>
            <a:srgbClr val="E87C1E"/>
          </a:solidFill>
          <a:ln/>
        </p:spPr>
      </p:sp>
      <p:sp>
        <p:nvSpPr>
          <p:cNvPr id="32" name="Text 30"/>
          <p:cNvSpPr/>
          <p:nvPr/>
        </p:nvSpPr>
        <p:spPr>
          <a:xfrm>
            <a:off x="4663440" y="2057400"/>
            <a:ext cx="502920" cy="8229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33" name="Text 31"/>
          <p:cNvSpPr/>
          <p:nvPr/>
        </p:nvSpPr>
        <p:spPr>
          <a:xfrm>
            <a:off x="5257800" y="2093976"/>
            <a:ext cx="3429000" cy="384048"/>
          </a:xfrm>
          <a:prstGeom prst="rect">
            <a:avLst/>
          </a:prstGeom>
          <a:noFill/>
          <a:ln/>
        </p:spPr>
        <p:txBody>
          <a:bodyPr wrap="square" rtlCol="0" anchor="ctr"/>
          <a:lstStyle/>
          <a:p>
            <a:pPr marL="0" indent="0">
              <a:buNone/>
            </a:pPr>
            <a:r>
              <a:rPr lang="en-US" sz="1200" b="1" dirty="0">
                <a:solidFill>
                  <a:srgbClr val="1A2744"/>
                </a:solidFill>
                <a:latin typeface="Calibri" pitchFamily="34" charset="0"/>
                <a:ea typeface="Calibri" pitchFamily="34" charset="-122"/>
                <a:cs typeface="Calibri" pitchFamily="34" charset="-120"/>
              </a:rPr>
              <a:t>Charts &amp; Visualizations</a:t>
            </a:r>
            <a:endParaRPr lang="en-US" sz="1200" dirty="0"/>
          </a:p>
        </p:txBody>
      </p:sp>
      <p:sp>
        <p:nvSpPr>
          <p:cNvPr id="34" name="Text 32"/>
          <p:cNvSpPr/>
          <p:nvPr/>
        </p:nvSpPr>
        <p:spPr>
          <a:xfrm>
            <a:off x="5257800" y="2459736"/>
            <a:ext cx="3429000" cy="365760"/>
          </a:xfrm>
          <a:prstGeom prst="rect">
            <a:avLst/>
          </a:prstGeom>
          <a:noFill/>
          <a:ln/>
        </p:spPr>
        <p:txBody>
          <a:bodyPr wrap="square" rtlCol="0" anchor="ctr"/>
          <a:lstStyle/>
          <a:p>
            <a:pPr marL="0" indent="0">
              <a:buNone/>
            </a:pPr>
            <a:r>
              <a:rPr lang="en-US" sz="950" dirty="0">
                <a:solidFill>
                  <a:srgbClr val="9B9484"/>
                </a:solidFill>
                <a:latin typeface="Calibri" pitchFamily="34" charset="0"/>
                <a:ea typeface="Calibri" pitchFamily="34" charset="-122"/>
                <a:cs typeface="Calibri" pitchFamily="34" charset="-120"/>
              </a:rPr>
              <a:t>Bar, Line, Pie, Trend &amp; Comparative charts</a:t>
            </a:r>
            <a:endParaRPr lang="en-US" sz="950" dirty="0"/>
          </a:p>
        </p:txBody>
      </p:sp>
      <p:sp>
        <p:nvSpPr>
          <p:cNvPr id="35" name="Shape 33"/>
          <p:cNvSpPr/>
          <p:nvPr/>
        </p:nvSpPr>
        <p:spPr>
          <a:xfrm>
            <a:off x="4663440" y="3017520"/>
            <a:ext cx="4114800" cy="822960"/>
          </a:xfrm>
          <a:prstGeom prst="rect">
            <a:avLst/>
          </a:prstGeom>
          <a:solidFill>
            <a:srgbClr val="FFFFFF"/>
          </a:solidFill>
          <a:ln/>
          <a:effectLst>
            <a:outerShdw blurRad="101600" dist="38100" dir="8100000" algn="bl" rotWithShape="0">
              <a:srgbClr val="000000">
                <a:alpha val="12000"/>
              </a:srgbClr>
            </a:outerShdw>
          </a:effectLst>
        </p:spPr>
      </p:sp>
      <p:sp>
        <p:nvSpPr>
          <p:cNvPr id="36" name="Shape 34"/>
          <p:cNvSpPr/>
          <p:nvPr/>
        </p:nvSpPr>
        <p:spPr>
          <a:xfrm>
            <a:off x="4663440" y="3017520"/>
            <a:ext cx="502920" cy="822960"/>
          </a:xfrm>
          <a:prstGeom prst="rect">
            <a:avLst/>
          </a:prstGeom>
          <a:solidFill>
            <a:srgbClr val="E87C1E"/>
          </a:solidFill>
          <a:ln/>
        </p:spPr>
      </p:sp>
      <p:sp>
        <p:nvSpPr>
          <p:cNvPr id="37" name="Text 35"/>
          <p:cNvSpPr/>
          <p:nvPr/>
        </p:nvSpPr>
        <p:spPr>
          <a:xfrm>
            <a:off x="4663440" y="3017520"/>
            <a:ext cx="502920" cy="8229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07</a:t>
            </a:r>
            <a:endParaRPr lang="en-US" sz="1500" dirty="0"/>
          </a:p>
        </p:txBody>
      </p:sp>
      <p:sp>
        <p:nvSpPr>
          <p:cNvPr id="38" name="Text 36"/>
          <p:cNvSpPr/>
          <p:nvPr/>
        </p:nvSpPr>
        <p:spPr>
          <a:xfrm>
            <a:off x="5257800" y="3054096"/>
            <a:ext cx="3429000" cy="384048"/>
          </a:xfrm>
          <a:prstGeom prst="rect">
            <a:avLst/>
          </a:prstGeom>
          <a:noFill/>
          <a:ln/>
        </p:spPr>
        <p:txBody>
          <a:bodyPr wrap="square" rtlCol="0" anchor="ctr"/>
          <a:lstStyle/>
          <a:p>
            <a:pPr marL="0" indent="0">
              <a:buNone/>
            </a:pPr>
            <a:r>
              <a:rPr lang="en-US" sz="1200" b="1" dirty="0">
                <a:solidFill>
                  <a:srgbClr val="1A2744"/>
                </a:solidFill>
                <a:latin typeface="Calibri" pitchFamily="34" charset="0"/>
                <a:ea typeface="Calibri" pitchFamily="34" charset="-122"/>
                <a:cs typeface="Calibri" pitchFamily="34" charset="-120"/>
              </a:rPr>
              <a:t>Dashboard Explanation</a:t>
            </a:r>
            <a:endParaRPr lang="en-US" sz="1200" dirty="0"/>
          </a:p>
        </p:txBody>
      </p:sp>
      <p:sp>
        <p:nvSpPr>
          <p:cNvPr id="39" name="Text 37"/>
          <p:cNvSpPr/>
          <p:nvPr/>
        </p:nvSpPr>
        <p:spPr>
          <a:xfrm>
            <a:off x="5257800" y="3419856"/>
            <a:ext cx="3429000" cy="365760"/>
          </a:xfrm>
          <a:prstGeom prst="rect">
            <a:avLst/>
          </a:prstGeom>
          <a:noFill/>
          <a:ln/>
        </p:spPr>
        <p:txBody>
          <a:bodyPr wrap="square" rtlCol="0" anchor="ctr"/>
          <a:lstStyle/>
          <a:p>
            <a:pPr marL="0" indent="0">
              <a:buNone/>
            </a:pPr>
            <a:r>
              <a:rPr lang="en-US" sz="950" dirty="0">
                <a:solidFill>
                  <a:srgbClr val="9B9484"/>
                </a:solidFill>
                <a:latin typeface="Calibri" pitchFamily="34" charset="0"/>
                <a:ea typeface="Calibri" pitchFamily="34" charset="-122"/>
                <a:cs typeface="Calibri" pitchFamily="34" charset="-120"/>
              </a:rPr>
              <a:t>Power BI KPIs, filters, layout &amp; interactivity</a:t>
            </a:r>
            <a:endParaRPr lang="en-US" sz="950" dirty="0"/>
          </a:p>
        </p:txBody>
      </p:sp>
      <p:sp>
        <p:nvSpPr>
          <p:cNvPr id="40" name="Shape 38"/>
          <p:cNvSpPr/>
          <p:nvPr/>
        </p:nvSpPr>
        <p:spPr>
          <a:xfrm>
            <a:off x="4663440" y="3977640"/>
            <a:ext cx="4114800" cy="822960"/>
          </a:xfrm>
          <a:prstGeom prst="rect">
            <a:avLst/>
          </a:prstGeom>
          <a:solidFill>
            <a:srgbClr val="FFFFFF"/>
          </a:solidFill>
          <a:ln/>
          <a:effectLst>
            <a:outerShdw blurRad="101600" dist="38100" dir="8100000" algn="bl" rotWithShape="0">
              <a:srgbClr val="000000">
                <a:alpha val="12000"/>
              </a:srgbClr>
            </a:outerShdw>
          </a:effectLst>
        </p:spPr>
      </p:sp>
      <p:sp>
        <p:nvSpPr>
          <p:cNvPr id="41" name="Shape 39"/>
          <p:cNvSpPr/>
          <p:nvPr/>
        </p:nvSpPr>
        <p:spPr>
          <a:xfrm>
            <a:off x="4663440" y="3977640"/>
            <a:ext cx="502920" cy="822960"/>
          </a:xfrm>
          <a:prstGeom prst="rect">
            <a:avLst/>
          </a:prstGeom>
          <a:solidFill>
            <a:srgbClr val="E87C1E"/>
          </a:solidFill>
          <a:ln/>
        </p:spPr>
      </p:sp>
      <p:sp>
        <p:nvSpPr>
          <p:cNvPr id="42" name="Text 40"/>
          <p:cNvSpPr/>
          <p:nvPr/>
        </p:nvSpPr>
        <p:spPr>
          <a:xfrm>
            <a:off x="4663440" y="3977640"/>
            <a:ext cx="502920" cy="8229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08</a:t>
            </a:r>
            <a:endParaRPr lang="en-US" sz="1500" dirty="0"/>
          </a:p>
        </p:txBody>
      </p:sp>
      <p:sp>
        <p:nvSpPr>
          <p:cNvPr id="43" name="Text 41"/>
          <p:cNvSpPr/>
          <p:nvPr/>
        </p:nvSpPr>
        <p:spPr>
          <a:xfrm>
            <a:off x="5257800" y="4014216"/>
            <a:ext cx="3429000" cy="384048"/>
          </a:xfrm>
          <a:prstGeom prst="rect">
            <a:avLst/>
          </a:prstGeom>
          <a:noFill/>
          <a:ln/>
        </p:spPr>
        <p:txBody>
          <a:bodyPr wrap="square" rtlCol="0" anchor="ctr"/>
          <a:lstStyle/>
          <a:p>
            <a:pPr marL="0" indent="0">
              <a:buNone/>
            </a:pPr>
            <a:r>
              <a:rPr lang="en-US" sz="1200" b="1" dirty="0">
                <a:solidFill>
                  <a:srgbClr val="1A2744"/>
                </a:solidFill>
                <a:latin typeface="Calibri" pitchFamily="34" charset="0"/>
                <a:ea typeface="Calibri" pitchFamily="34" charset="-122"/>
                <a:cs typeface="Calibri" pitchFamily="34" charset="-120"/>
              </a:rPr>
              <a:t>Insights, Recommendations &amp; Conclusion</a:t>
            </a:r>
            <a:endParaRPr lang="en-US" sz="1200" dirty="0"/>
          </a:p>
        </p:txBody>
      </p:sp>
      <p:sp>
        <p:nvSpPr>
          <p:cNvPr id="44" name="Text 42"/>
          <p:cNvSpPr/>
          <p:nvPr/>
        </p:nvSpPr>
        <p:spPr>
          <a:xfrm>
            <a:off x="5257800" y="4379976"/>
            <a:ext cx="3429000" cy="365760"/>
          </a:xfrm>
          <a:prstGeom prst="rect">
            <a:avLst/>
          </a:prstGeom>
          <a:noFill/>
          <a:ln/>
        </p:spPr>
        <p:txBody>
          <a:bodyPr wrap="square" rtlCol="0" anchor="ctr"/>
          <a:lstStyle/>
          <a:p>
            <a:pPr marL="0" indent="0">
              <a:buNone/>
            </a:pPr>
            <a:r>
              <a:rPr lang="en-US" sz="950" dirty="0">
                <a:solidFill>
                  <a:srgbClr val="9B9484"/>
                </a:solidFill>
                <a:latin typeface="Calibri" pitchFamily="34" charset="0"/>
                <a:ea typeface="Calibri" pitchFamily="34" charset="-122"/>
                <a:cs typeface="Calibri" pitchFamily="34" charset="-120"/>
              </a:rPr>
              <a:t>Key findings and strategic recommendations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744"/>
          </a:solidFill>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3000" b="1" dirty="0">
                <a:solidFill>
                  <a:srgbClr val="F5C518"/>
                </a:solidFill>
                <a:latin typeface="Calibri" pitchFamily="34" charset="0"/>
                <a:ea typeface="Calibri" pitchFamily="34" charset="-122"/>
                <a:cs typeface="Calibri" pitchFamily="34" charset="-120"/>
              </a:rPr>
              <a:t>INTRODUCTION</a:t>
            </a:r>
            <a:endParaRPr lang="en-US" sz="30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E8E4DA"/>
                </a:solidFill>
              </a:rPr>
              <a:t>Background &amp; Context</a:t>
            </a:r>
            <a:endParaRPr lang="en-US" sz="1300" dirty="0"/>
          </a:p>
        </p:txBody>
      </p:sp>
      <p:sp>
        <p:nvSpPr>
          <p:cNvPr id="5" name="Shape 3"/>
          <p:cNvSpPr/>
          <p:nvPr/>
        </p:nvSpPr>
        <p:spPr>
          <a:xfrm>
            <a:off x="274320" y="1097280"/>
            <a:ext cx="5120640" cy="169164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274320" y="1097280"/>
            <a:ext cx="5120640" cy="347472"/>
          </a:xfrm>
          <a:prstGeom prst="rect">
            <a:avLst/>
          </a:prstGeom>
          <a:solidFill>
            <a:srgbClr val="E87C1E"/>
          </a:solidFill>
          <a:ln/>
        </p:spPr>
      </p:sp>
      <p:sp>
        <p:nvSpPr>
          <p:cNvPr id="7" name="Text 5"/>
          <p:cNvSpPr/>
          <p:nvPr/>
        </p:nvSpPr>
        <p:spPr>
          <a:xfrm>
            <a:off x="411480" y="1133856"/>
            <a:ext cx="484632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Project Background</a:t>
            </a:r>
            <a:endParaRPr lang="en-US" sz="1200" dirty="0"/>
          </a:p>
        </p:txBody>
      </p:sp>
      <p:sp>
        <p:nvSpPr>
          <p:cNvPr id="8" name="Text 6"/>
          <p:cNvSpPr/>
          <p:nvPr/>
        </p:nvSpPr>
        <p:spPr>
          <a:xfrm>
            <a:off x="411480" y="1499616"/>
            <a:ext cx="4846320" cy="1188720"/>
          </a:xfrm>
          <a:prstGeom prst="rect">
            <a:avLst/>
          </a:prstGeom>
          <a:noFill/>
          <a:ln/>
        </p:spPr>
        <p:txBody>
          <a:bodyPr wrap="square" rtlCol="0" anchor="ctr"/>
          <a:lstStyle/>
          <a:p>
            <a:pPr marL="0" indent="0">
              <a:buNone/>
            </a:pPr>
            <a:r>
              <a:rPr lang="en-US" sz="1100" dirty="0">
                <a:solidFill>
                  <a:srgbClr val="1A2744"/>
                </a:solidFill>
                <a:latin typeface="Calibri" pitchFamily="34" charset="0"/>
                <a:ea typeface="Calibri" pitchFamily="34" charset="-122"/>
                <a:cs typeface="Calibri" pitchFamily="34" charset="-120"/>
              </a:rPr>
              <a:t>This analysis examines solar energy generation data collected from a network of solar installations. The dataset captures power output metrics across multiple time dimensions—hourly, daily, and monthly—enabling a complete picture of production performance.</a:t>
            </a:r>
            <a:endParaRPr lang="en-US" sz="1100" dirty="0"/>
          </a:p>
        </p:txBody>
      </p:sp>
      <p:sp>
        <p:nvSpPr>
          <p:cNvPr id="9" name="Shape 7"/>
          <p:cNvSpPr/>
          <p:nvPr/>
        </p:nvSpPr>
        <p:spPr>
          <a:xfrm>
            <a:off x="274320" y="2971800"/>
            <a:ext cx="5120640" cy="1691640"/>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274320" y="2971800"/>
            <a:ext cx="5120640" cy="347472"/>
          </a:xfrm>
          <a:prstGeom prst="rect">
            <a:avLst/>
          </a:prstGeom>
          <a:solidFill>
            <a:srgbClr val="E87C1E"/>
          </a:solidFill>
          <a:ln/>
        </p:spPr>
      </p:sp>
      <p:sp>
        <p:nvSpPr>
          <p:cNvPr id="11" name="Text 9"/>
          <p:cNvSpPr/>
          <p:nvPr/>
        </p:nvSpPr>
        <p:spPr>
          <a:xfrm>
            <a:off x="411480" y="3008376"/>
            <a:ext cx="484632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Dataset Context</a:t>
            </a:r>
            <a:endParaRPr lang="en-US" sz="1200" dirty="0"/>
          </a:p>
        </p:txBody>
      </p:sp>
      <p:sp>
        <p:nvSpPr>
          <p:cNvPr id="12" name="Text 10"/>
          <p:cNvSpPr/>
          <p:nvPr/>
        </p:nvSpPr>
        <p:spPr>
          <a:xfrm>
            <a:off x="411480" y="3374136"/>
            <a:ext cx="4846320" cy="1188720"/>
          </a:xfrm>
          <a:prstGeom prst="rect">
            <a:avLst/>
          </a:prstGeom>
          <a:noFill/>
          <a:ln/>
        </p:spPr>
        <p:txBody>
          <a:bodyPr wrap="square" rtlCol="0" anchor="ctr"/>
          <a:lstStyle/>
          <a:p>
            <a:pPr marL="0" indent="0">
              <a:buNone/>
            </a:pPr>
            <a:r>
              <a:rPr lang="en-US" sz="1100" dirty="0">
                <a:solidFill>
                  <a:srgbClr val="1A2744"/>
                </a:solidFill>
                <a:latin typeface="Calibri" pitchFamily="34" charset="0"/>
                <a:ea typeface="Calibri" pitchFamily="34" charset="-122"/>
                <a:cs typeface="Calibri" pitchFamily="34" charset="-120"/>
              </a:rPr>
              <a:t>The dataset contains granular records of solar power generation from two site types: Utility-Scale Photovoltaics (UPV) and Distributed Photovoltaics (DPV). Together, they represent a diverse solar portfolio with a combined installed capacity of up to 80 MW.</a:t>
            </a:r>
            <a:endParaRPr lang="en-US" sz="1100" dirty="0"/>
          </a:p>
        </p:txBody>
      </p:sp>
      <p:sp>
        <p:nvSpPr>
          <p:cNvPr id="13" name="Shape 11"/>
          <p:cNvSpPr/>
          <p:nvPr/>
        </p:nvSpPr>
        <p:spPr>
          <a:xfrm>
            <a:off x="5669280" y="1097280"/>
            <a:ext cx="3200400" cy="3749040"/>
          </a:xfrm>
          <a:prstGeom prst="rect">
            <a:avLst/>
          </a:prstGeom>
          <a:solidFill>
            <a:srgbClr val="1A2744"/>
          </a:solidFill>
          <a:ln/>
          <a:effectLst>
            <a:outerShdw blurRad="101600" dist="38100" dir="8100000" algn="bl" rotWithShape="0">
              <a:srgbClr val="000000">
                <a:alpha val="12000"/>
              </a:srgbClr>
            </a:outerShdw>
          </a:effectLst>
        </p:spPr>
      </p:sp>
      <p:sp>
        <p:nvSpPr>
          <p:cNvPr id="14" name="Text 12"/>
          <p:cNvSpPr/>
          <p:nvPr/>
        </p:nvSpPr>
        <p:spPr>
          <a:xfrm>
            <a:off x="5669280" y="1188720"/>
            <a:ext cx="3200400" cy="640080"/>
          </a:xfrm>
          <a:prstGeom prst="rect">
            <a:avLst/>
          </a:prstGeom>
          <a:noFill/>
          <a:ln/>
        </p:spPr>
        <p:txBody>
          <a:bodyPr wrap="square" rtlCol="0" anchor="ctr"/>
          <a:lstStyle/>
          <a:p>
            <a:pPr marL="0" indent="0" algn="ctr">
              <a:buNone/>
            </a:pPr>
            <a:r>
              <a:rPr lang="en-US" sz="1600" b="1" dirty="0">
                <a:solidFill>
                  <a:srgbClr val="F5C518"/>
                </a:solidFill>
                <a:latin typeface="Calibri" pitchFamily="34" charset="0"/>
                <a:ea typeface="Calibri" pitchFamily="34" charset="-122"/>
                <a:cs typeface="Calibri" pitchFamily="34" charset="-120"/>
              </a:rPr>
              <a:t>WHY THIS</a:t>
            </a:r>
            <a:endParaRPr lang="en-US" sz="1600" dirty="0"/>
          </a:p>
          <a:p>
            <a:pPr marL="0" indent="0" algn="ctr">
              <a:buNone/>
            </a:pPr>
            <a:r>
              <a:rPr lang="en-US" sz="1600" b="1" dirty="0">
                <a:solidFill>
                  <a:srgbClr val="F5C518"/>
                </a:solidFill>
                <a:latin typeface="Calibri" pitchFamily="34" charset="0"/>
                <a:ea typeface="Calibri" pitchFamily="34" charset="-122"/>
                <a:cs typeface="Calibri" pitchFamily="34" charset="-120"/>
              </a:rPr>
              <a:t>MATTERS</a:t>
            </a:r>
            <a:endParaRPr lang="en-US" sz="1600" dirty="0"/>
          </a:p>
        </p:txBody>
      </p:sp>
      <p:sp>
        <p:nvSpPr>
          <p:cNvPr id="15" name="Text 13"/>
          <p:cNvSpPr/>
          <p:nvPr/>
        </p:nvSpPr>
        <p:spPr>
          <a:xfrm>
            <a:off x="5760720" y="1920240"/>
            <a:ext cx="3017520" cy="50292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Global renewable energy targets require data-driven optimization</a:t>
            </a:r>
            <a:endParaRPr lang="en-US" sz="1050" dirty="0"/>
          </a:p>
        </p:txBody>
      </p:sp>
      <p:sp>
        <p:nvSpPr>
          <p:cNvPr id="16" name="Text 14"/>
          <p:cNvSpPr/>
          <p:nvPr/>
        </p:nvSpPr>
        <p:spPr>
          <a:xfrm>
            <a:off x="5760720" y="2487168"/>
            <a:ext cx="3017520" cy="50292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Solar underperformance leads to revenue loss and grid instability</a:t>
            </a:r>
            <a:endParaRPr lang="en-US" sz="1050" dirty="0"/>
          </a:p>
        </p:txBody>
      </p:sp>
      <p:sp>
        <p:nvSpPr>
          <p:cNvPr id="17" name="Text 15"/>
          <p:cNvSpPr/>
          <p:nvPr/>
        </p:nvSpPr>
        <p:spPr>
          <a:xfrm>
            <a:off x="5760720" y="3054096"/>
            <a:ext cx="3017520" cy="50292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Analytics enables smarter maintenance scheduling</a:t>
            </a:r>
            <a:endParaRPr lang="en-US" sz="1050" dirty="0"/>
          </a:p>
        </p:txBody>
      </p:sp>
      <p:sp>
        <p:nvSpPr>
          <p:cNvPr id="18" name="Text 16"/>
          <p:cNvSpPr/>
          <p:nvPr/>
        </p:nvSpPr>
        <p:spPr>
          <a:xfrm>
            <a:off x="5760720" y="3621024"/>
            <a:ext cx="3017520" cy="50292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Climate commitments demand measurable clean energy output</a:t>
            </a:r>
            <a:endParaRPr lang="en-US" sz="1050" dirty="0"/>
          </a:p>
        </p:txBody>
      </p:sp>
      <p:sp>
        <p:nvSpPr>
          <p:cNvPr id="19" name="Text 17"/>
          <p:cNvSpPr/>
          <p:nvPr/>
        </p:nvSpPr>
        <p:spPr>
          <a:xfrm>
            <a:off x="5760720" y="4187952"/>
            <a:ext cx="3017520" cy="50292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Business ROI depends on understanding peak generation windows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744"/>
          </a:solidFill>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3000" b="1" dirty="0">
                <a:solidFill>
                  <a:srgbClr val="F5C518"/>
                </a:solidFill>
                <a:latin typeface="Calibri" pitchFamily="34" charset="0"/>
                <a:ea typeface="Calibri" pitchFamily="34" charset="-122"/>
                <a:cs typeface="Calibri" pitchFamily="34" charset="-120"/>
              </a:rPr>
              <a:t>DOMAIN OVERVIEW</a:t>
            </a:r>
            <a:endParaRPr lang="en-US" sz="30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E8E4DA"/>
                </a:solidFill>
              </a:rPr>
              <a:t>Solar Energy Industry &amp; Key Concepts</a:t>
            </a:r>
            <a:endParaRPr lang="en-US" sz="1300" dirty="0"/>
          </a:p>
        </p:txBody>
      </p:sp>
      <p:sp>
        <p:nvSpPr>
          <p:cNvPr id="5" name="Shape 3"/>
          <p:cNvSpPr/>
          <p:nvPr/>
        </p:nvSpPr>
        <p:spPr>
          <a:xfrm>
            <a:off x="274320" y="1097280"/>
            <a:ext cx="2743200" cy="169164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274320" y="1097280"/>
            <a:ext cx="2743200" cy="320040"/>
          </a:xfrm>
          <a:prstGeom prst="rect">
            <a:avLst/>
          </a:prstGeom>
          <a:solidFill>
            <a:srgbClr val="E87C1E"/>
          </a:solidFill>
          <a:ln/>
        </p:spPr>
      </p:sp>
      <p:sp>
        <p:nvSpPr>
          <p:cNvPr id="7" name="Text 5"/>
          <p:cNvSpPr/>
          <p:nvPr/>
        </p:nvSpPr>
        <p:spPr>
          <a:xfrm>
            <a:off x="365760" y="1133856"/>
            <a:ext cx="2560320" cy="24688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Solar PV Technology</a:t>
            </a:r>
            <a:endParaRPr lang="en-US" sz="1050" dirty="0"/>
          </a:p>
        </p:txBody>
      </p:sp>
      <p:sp>
        <p:nvSpPr>
          <p:cNvPr id="8" name="Text 6"/>
          <p:cNvSpPr/>
          <p:nvPr/>
        </p:nvSpPr>
        <p:spPr>
          <a:xfrm>
            <a:off x="365760" y="1481328"/>
            <a:ext cx="2560320" cy="1234440"/>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Photovoltaic systems convert sunlight directly into electricity using semiconductor materials. Efficiency varies with irradiance, temperature, and panel angle.</a:t>
            </a:r>
            <a:endParaRPr lang="en-US" sz="1000" dirty="0"/>
          </a:p>
        </p:txBody>
      </p:sp>
      <p:sp>
        <p:nvSpPr>
          <p:cNvPr id="9" name="Shape 7"/>
          <p:cNvSpPr/>
          <p:nvPr/>
        </p:nvSpPr>
        <p:spPr>
          <a:xfrm>
            <a:off x="3200400" y="1097280"/>
            <a:ext cx="2743200" cy="1691640"/>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3200400" y="1097280"/>
            <a:ext cx="2743200" cy="320040"/>
          </a:xfrm>
          <a:prstGeom prst="rect">
            <a:avLst/>
          </a:prstGeom>
          <a:solidFill>
            <a:srgbClr val="E87C1E"/>
          </a:solidFill>
          <a:ln/>
        </p:spPr>
      </p:sp>
      <p:sp>
        <p:nvSpPr>
          <p:cNvPr id="11" name="Text 9"/>
          <p:cNvSpPr/>
          <p:nvPr/>
        </p:nvSpPr>
        <p:spPr>
          <a:xfrm>
            <a:off x="3291840" y="1133856"/>
            <a:ext cx="2560320" cy="24688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UPV Sites</a:t>
            </a:r>
            <a:endParaRPr lang="en-US" sz="1050" dirty="0"/>
          </a:p>
        </p:txBody>
      </p:sp>
      <p:sp>
        <p:nvSpPr>
          <p:cNvPr id="12" name="Text 10"/>
          <p:cNvSpPr/>
          <p:nvPr/>
        </p:nvSpPr>
        <p:spPr>
          <a:xfrm>
            <a:off x="3291840" y="1481328"/>
            <a:ext cx="2560320" cy="1234440"/>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Utility-Scale Photovoltaics are large ground-mounted arrays (&gt;1 MW) feeding directly into the electrical grid. Higher capacity, centralized management.</a:t>
            </a:r>
            <a:endParaRPr lang="en-US" sz="1000" dirty="0"/>
          </a:p>
        </p:txBody>
      </p:sp>
      <p:sp>
        <p:nvSpPr>
          <p:cNvPr id="13" name="Shape 11"/>
          <p:cNvSpPr/>
          <p:nvPr/>
        </p:nvSpPr>
        <p:spPr>
          <a:xfrm>
            <a:off x="6126480" y="1097280"/>
            <a:ext cx="2743200" cy="1691640"/>
          </a:xfrm>
          <a:prstGeom prst="rect">
            <a:avLst/>
          </a:prstGeom>
          <a:solidFill>
            <a:srgbClr val="FFFFFF"/>
          </a:solidFill>
          <a:ln/>
          <a:effectLst>
            <a:outerShdw blurRad="101600" dist="38100" dir="8100000" algn="bl" rotWithShape="0">
              <a:srgbClr val="000000">
                <a:alpha val="12000"/>
              </a:srgbClr>
            </a:outerShdw>
          </a:effectLst>
        </p:spPr>
      </p:sp>
      <p:sp>
        <p:nvSpPr>
          <p:cNvPr id="14" name="Shape 12"/>
          <p:cNvSpPr/>
          <p:nvPr/>
        </p:nvSpPr>
        <p:spPr>
          <a:xfrm>
            <a:off x="6126480" y="1097280"/>
            <a:ext cx="2743200" cy="320040"/>
          </a:xfrm>
          <a:prstGeom prst="rect">
            <a:avLst/>
          </a:prstGeom>
          <a:solidFill>
            <a:srgbClr val="E87C1E"/>
          </a:solidFill>
          <a:ln/>
        </p:spPr>
      </p:sp>
      <p:sp>
        <p:nvSpPr>
          <p:cNvPr id="15" name="Text 13"/>
          <p:cNvSpPr/>
          <p:nvPr/>
        </p:nvSpPr>
        <p:spPr>
          <a:xfrm>
            <a:off x="6217920" y="1133856"/>
            <a:ext cx="2560320" cy="24688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DPV Sites</a:t>
            </a:r>
            <a:endParaRPr lang="en-US" sz="1050" dirty="0"/>
          </a:p>
        </p:txBody>
      </p:sp>
      <p:sp>
        <p:nvSpPr>
          <p:cNvPr id="16" name="Text 14"/>
          <p:cNvSpPr/>
          <p:nvPr/>
        </p:nvSpPr>
        <p:spPr>
          <a:xfrm>
            <a:off x="6217920" y="1481328"/>
            <a:ext cx="2560320" cy="1234440"/>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Distributed Photovoltaics are smaller installations (&lt;1 MW) on rooftops or local areas. Decentralized but numerous, serving local consumption needs.</a:t>
            </a:r>
            <a:endParaRPr lang="en-US" sz="1000" dirty="0"/>
          </a:p>
        </p:txBody>
      </p:sp>
      <p:sp>
        <p:nvSpPr>
          <p:cNvPr id="17" name="Shape 15"/>
          <p:cNvSpPr/>
          <p:nvPr/>
        </p:nvSpPr>
        <p:spPr>
          <a:xfrm>
            <a:off x="274320" y="3017520"/>
            <a:ext cx="2743200" cy="1691640"/>
          </a:xfrm>
          <a:prstGeom prst="rect">
            <a:avLst/>
          </a:prstGeom>
          <a:solidFill>
            <a:srgbClr val="FFFFFF"/>
          </a:solidFill>
          <a:ln/>
          <a:effectLst>
            <a:outerShdw blurRad="101600" dist="38100" dir="8100000" algn="bl" rotWithShape="0">
              <a:srgbClr val="000000">
                <a:alpha val="12000"/>
              </a:srgbClr>
            </a:outerShdw>
          </a:effectLst>
        </p:spPr>
      </p:sp>
      <p:sp>
        <p:nvSpPr>
          <p:cNvPr id="18" name="Shape 16"/>
          <p:cNvSpPr/>
          <p:nvPr/>
        </p:nvSpPr>
        <p:spPr>
          <a:xfrm>
            <a:off x="274320" y="3017520"/>
            <a:ext cx="2743200" cy="320040"/>
          </a:xfrm>
          <a:prstGeom prst="rect">
            <a:avLst/>
          </a:prstGeom>
          <a:solidFill>
            <a:srgbClr val="243460"/>
          </a:solidFill>
          <a:ln/>
        </p:spPr>
      </p:sp>
      <p:sp>
        <p:nvSpPr>
          <p:cNvPr id="19" name="Text 17"/>
          <p:cNvSpPr/>
          <p:nvPr/>
        </p:nvSpPr>
        <p:spPr>
          <a:xfrm>
            <a:off x="365760" y="3054096"/>
            <a:ext cx="2560320" cy="24688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Capacity Factor</a:t>
            </a:r>
            <a:endParaRPr lang="en-US" sz="1050" dirty="0"/>
          </a:p>
        </p:txBody>
      </p:sp>
      <p:sp>
        <p:nvSpPr>
          <p:cNvPr id="20" name="Text 18"/>
          <p:cNvSpPr/>
          <p:nvPr/>
        </p:nvSpPr>
        <p:spPr>
          <a:xfrm>
            <a:off x="365760" y="3401568"/>
            <a:ext cx="2560320" cy="1234440"/>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Ratio of actual output to maximum possible output. Solar plants typically achieve 15–25% capacity factors depending on location and season.</a:t>
            </a:r>
            <a:endParaRPr lang="en-US" sz="1000" dirty="0"/>
          </a:p>
        </p:txBody>
      </p:sp>
      <p:sp>
        <p:nvSpPr>
          <p:cNvPr id="21" name="Shape 19"/>
          <p:cNvSpPr/>
          <p:nvPr/>
        </p:nvSpPr>
        <p:spPr>
          <a:xfrm>
            <a:off x="3200400" y="3017520"/>
            <a:ext cx="2743200" cy="1691640"/>
          </a:xfrm>
          <a:prstGeom prst="rect">
            <a:avLst/>
          </a:prstGeom>
          <a:solidFill>
            <a:srgbClr val="FFFFFF"/>
          </a:solidFill>
          <a:ln/>
          <a:effectLst>
            <a:outerShdw blurRad="101600" dist="38100" dir="8100000" algn="bl" rotWithShape="0">
              <a:srgbClr val="000000">
                <a:alpha val="12000"/>
              </a:srgbClr>
            </a:outerShdw>
          </a:effectLst>
        </p:spPr>
      </p:sp>
      <p:sp>
        <p:nvSpPr>
          <p:cNvPr id="22" name="Shape 20"/>
          <p:cNvSpPr/>
          <p:nvPr/>
        </p:nvSpPr>
        <p:spPr>
          <a:xfrm>
            <a:off x="3200400" y="3017520"/>
            <a:ext cx="2743200" cy="320040"/>
          </a:xfrm>
          <a:prstGeom prst="rect">
            <a:avLst/>
          </a:prstGeom>
          <a:solidFill>
            <a:srgbClr val="243460"/>
          </a:solidFill>
          <a:ln/>
        </p:spPr>
      </p:sp>
      <p:sp>
        <p:nvSpPr>
          <p:cNvPr id="23" name="Text 21"/>
          <p:cNvSpPr/>
          <p:nvPr/>
        </p:nvSpPr>
        <p:spPr>
          <a:xfrm>
            <a:off x="3291840" y="3054096"/>
            <a:ext cx="2560320" cy="24688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Peak Sun Hours</a:t>
            </a:r>
            <a:endParaRPr lang="en-US" sz="1050" dirty="0"/>
          </a:p>
        </p:txBody>
      </p:sp>
      <p:sp>
        <p:nvSpPr>
          <p:cNvPr id="24" name="Text 22"/>
          <p:cNvSpPr/>
          <p:nvPr/>
        </p:nvSpPr>
        <p:spPr>
          <a:xfrm>
            <a:off x="3291840" y="3401568"/>
            <a:ext cx="2560320" cy="1234440"/>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The equivalent hours per day when solar irradiance averages 1,000 W/m². This dataset shows a peak generation window from 06:00–20:00.</a:t>
            </a:r>
            <a:endParaRPr lang="en-US" sz="1000" dirty="0"/>
          </a:p>
        </p:txBody>
      </p:sp>
      <p:sp>
        <p:nvSpPr>
          <p:cNvPr id="25" name="Shape 23"/>
          <p:cNvSpPr/>
          <p:nvPr/>
        </p:nvSpPr>
        <p:spPr>
          <a:xfrm>
            <a:off x="6126480" y="3017520"/>
            <a:ext cx="2743200" cy="1691640"/>
          </a:xfrm>
          <a:prstGeom prst="rect">
            <a:avLst/>
          </a:prstGeom>
          <a:solidFill>
            <a:srgbClr val="FFFFFF"/>
          </a:solidFill>
          <a:ln/>
          <a:effectLst>
            <a:outerShdw blurRad="101600" dist="38100" dir="8100000" algn="bl" rotWithShape="0">
              <a:srgbClr val="000000">
                <a:alpha val="12000"/>
              </a:srgbClr>
            </a:outerShdw>
          </a:effectLst>
        </p:spPr>
      </p:sp>
      <p:sp>
        <p:nvSpPr>
          <p:cNvPr id="26" name="Shape 24"/>
          <p:cNvSpPr/>
          <p:nvPr/>
        </p:nvSpPr>
        <p:spPr>
          <a:xfrm>
            <a:off x="6126480" y="3017520"/>
            <a:ext cx="2743200" cy="320040"/>
          </a:xfrm>
          <a:prstGeom prst="rect">
            <a:avLst/>
          </a:prstGeom>
          <a:solidFill>
            <a:srgbClr val="243460"/>
          </a:solidFill>
          <a:ln/>
        </p:spPr>
      </p:sp>
      <p:sp>
        <p:nvSpPr>
          <p:cNvPr id="27" name="Text 25"/>
          <p:cNvSpPr/>
          <p:nvPr/>
        </p:nvSpPr>
        <p:spPr>
          <a:xfrm>
            <a:off x="6217920" y="3054096"/>
            <a:ext cx="2560320" cy="24688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MW (Megawatt)</a:t>
            </a:r>
            <a:endParaRPr lang="en-US" sz="1050" dirty="0"/>
          </a:p>
        </p:txBody>
      </p:sp>
      <p:sp>
        <p:nvSpPr>
          <p:cNvPr id="28" name="Text 26"/>
          <p:cNvSpPr/>
          <p:nvPr/>
        </p:nvSpPr>
        <p:spPr>
          <a:xfrm>
            <a:off x="6217920" y="3401568"/>
            <a:ext cx="2560320" cy="1234440"/>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Unit of power equal to 1 million watts. This dataset tracks both installed capacity (max potential) and actual power generated in MW.</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E87C1E"/>
          </a:solidFill>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PROBLEM STATEMENT</a:t>
            </a:r>
            <a:endParaRPr lang="en-US" sz="30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F8F6F0"/>
                </a:solidFill>
              </a:rPr>
              <a:t>Defining the Business Challenge</a:t>
            </a:r>
            <a:endParaRPr lang="en-US" sz="1300" dirty="0"/>
          </a:p>
        </p:txBody>
      </p:sp>
      <p:sp>
        <p:nvSpPr>
          <p:cNvPr id="5" name="Text 3"/>
          <p:cNvSpPr/>
          <p:nvPr/>
        </p:nvSpPr>
        <p:spPr>
          <a:xfrm>
            <a:off x="457200" y="1051560"/>
            <a:ext cx="8229600" cy="411480"/>
          </a:xfrm>
          <a:prstGeom prst="rect">
            <a:avLst/>
          </a:prstGeom>
          <a:noFill/>
          <a:ln/>
        </p:spPr>
        <p:txBody>
          <a:bodyPr wrap="square" rtlCol="0" anchor="ctr"/>
          <a:lstStyle/>
          <a:p>
            <a:pPr marL="0" indent="0">
              <a:buNone/>
            </a:pPr>
            <a:r>
              <a:rPr lang="en-US" sz="1700" b="1" dirty="0">
                <a:solidFill>
                  <a:srgbClr val="F5C518"/>
                </a:solidFill>
                <a:latin typeface="Calibri" pitchFamily="34" charset="0"/>
                <a:ea typeface="Calibri" pitchFamily="34" charset="-122"/>
                <a:cs typeface="Calibri" pitchFamily="34" charset="-120"/>
              </a:rPr>
              <a:t>Core Business Problem</a:t>
            </a:r>
            <a:endParaRPr lang="en-US" sz="1700" dirty="0"/>
          </a:p>
        </p:txBody>
      </p:sp>
      <p:sp>
        <p:nvSpPr>
          <p:cNvPr id="6" name="Shape 4"/>
          <p:cNvSpPr/>
          <p:nvPr/>
        </p:nvSpPr>
        <p:spPr>
          <a:xfrm>
            <a:off x="274320" y="1463040"/>
            <a:ext cx="8595360" cy="777240"/>
          </a:xfrm>
          <a:prstGeom prst="rect">
            <a:avLst/>
          </a:prstGeom>
          <a:solidFill>
            <a:srgbClr val="243460"/>
          </a:solidFill>
          <a:ln/>
        </p:spPr>
      </p:sp>
      <p:sp>
        <p:nvSpPr>
          <p:cNvPr id="7" name="Text 5"/>
          <p:cNvSpPr/>
          <p:nvPr/>
        </p:nvSpPr>
        <p:spPr>
          <a:xfrm>
            <a:off x="457200" y="1508760"/>
            <a:ext cx="8229600" cy="685800"/>
          </a:xfrm>
          <a:prstGeom prst="rect">
            <a:avLst/>
          </a:prstGeom>
          <a:noFill/>
          <a:ln/>
        </p:spPr>
        <p:txBody>
          <a:bodyPr wrap="square"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Solar energy operators lack a unified analytical view of their generation performance across time, site types, and capacity utilization — making it difficult to identify underperformance, optimize operations, and maximize ROI from their installed assets.</a:t>
            </a:r>
            <a:endParaRPr lang="en-US" sz="1200" dirty="0"/>
          </a:p>
        </p:txBody>
      </p:sp>
      <p:sp>
        <p:nvSpPr>
          <p:cNvPr id="8" name="Text 6"/>
          <p:cNvSpPr/>
          <p:nvPr/>
        </p:nvSpPr>
        <p:spPr>
          <a:xfrm>
            <a:off x="457200" y="2331720"/>
            <a:ext cx="8229600" cy="365760"/>
          </a:xfrm>
          <a:prstGeom prst="rect">
            <a:avLst/>
          </a:prstGeom>
          <a:noFill/>
          <a:ln/>
        </p:spPr>
        <p:txBody>
          <a:bodyPr wrap="square" rtlCol="0" anchor="ctr"/>
          <a:lstStyle/>
          <a:p>
            <a:pPr marL="0" indent="0">
              <a:buNone/>
            </a:pPr>
            <a:r>
              <a:rPr lang="en-US" sz="1500" b="1" dirty="0">
                <a:solidFill>
                  <a:srgbClr val="F5C518"/>
                </a:solidFill>
                <a:latin typeface="Calibri" pitchFamily="34" charset="0"/>
                <a:ea typeface="Calibri" pitchFamily="34" charset="-122"/>
                <a:cs typeface="Calibri" pitchFamily="34" charset="-120"/>
              </a:rPr>
              <a:t>Key Pain Points</a:t>
            </a:r>
            <a:endParaRPr lang="en-US" sz="1500" dirty="0"/>
          </a:p>
        </p:txBody>
      </p:sp>
      <p:sp>
        <p:nvSpPr>
          <p:cNvPr id="9" name="Shape 7"/>
          <p:cNvSpPr/>
          <p:nvPr/>
        </p:nvSpPr>
        <p:spPr>
          <a:xfrm>
            <a:off x="274320" y="2788920"/>
            <a:ext cx="411480" cy="438912"/>
          </a:xfrm>
          <a:prstGeom prst="rect">
            <a:avLst/>
          </a:prstGeom>
          <a:solidFill>
            <a:srgbClr val="E87C1E"/>
          </a:solidFill>
          <a:ln/>
        </p:spPr>
      </p:sp>
      <p:sp>
        <p:nvSpPr>
          <p:cNvPr id="10" name="Text 8"/>
          <p:cNvSpPr/>
          <p:nvPr/>
        </p:nvSpPr>
        <p:spPr>
          <a:xfrm>
            <a:off x="274320" y="2788920"/>
            <a:ext cx="411480" cy="43891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1" name="Text 9"/>
          <p:cNvSpPr/>
          <p:nvPr/>
        </p:nvSpPr>
        <p:spPr>
          <a:xfrm>
            <a:off x="777240" y="2807208"/>
            <a:ext cx="2560320" cy="201168"/>
          </a:xfrm>
          <a:prstGeom prst="rect">
            <a:avLst/>
          </a:prstGeom>
          <a:noFill/>
          <a:ln/>
        </p:spPr>
        <p:txBody>
          <a:bodyPr wrap="square" rtlCol="0" anchor="ctr"/>
          <a:lstStyle/>
          <a:p>
            <a:pPr marL="0" indent="0">
              <a:buNone/>
            </a:pPr>
            <a:r>
              <a:rPr lang="en-US" sz="1100" b="1" dirty="0">
                <a:solidFill>
                  <a:srgbClr val="F5C518"/>
                </a:solidFill>
                <a:latin typeface="Calibri" pitchFamily="34" charset="0"/>
                <a:ea typeface="Calibri" pitchFamily="34" charset="-122"/>
                <a:cs typeface="Calibri" pitchFamily="34" charset="-120"/>
              </a:rPr>
              <a:t>Capacity Underutilization</a:t>
            </a:r>
            <a:endParaRPr lang="en-US" sz="1100" dirty="0"/>
          </a:p>
        </p:txBody>
      </p:sp>
      <p:sp>
        <p:nvSpPr>
          <p:cNvPr id="12" name="Text 10"/>
          <p:cNvSpPr/>
          <p:nvPr/>
        </p:nvSpPr>
        <p:spPr>
          <a:xfrm>
            <a:off x="777240" y="3008376"/>
            <a:ext cx="8046720" cy="201168"/>
          </a:xfrm>
          <a:prstGeom prst="rect">
            <a:avLst/>
          </a:prstGeom>
          <a:noFill/>
          <a:ln/>
        </p:spPr>
        <p:txBody>
          <a:bodyPr wrap="square" rtlCol="0" anchor="ctr"/>
          <a:lstStyle/>
          <a:p>
            <a:pPr marL="0" indent="0">
              <a:buNone/>
            </a:pPr>
            <a:r>
              <a:rPr lang="en-US" sz="1050" dirty="0">
                <a:solidFill>
                  <a:srgbClr val="E8E4DA"/>
                </a:solidFill>
                <a:latin typeface="Calibri" pitchFamily="34" charset="0"/>
                <a:ea typeface="Calibri" pitchFamily="34" charset="-122"/>
                <a:cs typeface="Calibri" pitchFamily="34" charset="-120"/>
              </a:rPr>
              <a:t>Max capacity is 80 MW but peak generation reaches only 74.60 MW — indicating losses of ~7% that need investigation.</a:t>
            </a:r>
            <a:endParaRPr lang="en-US" sz="1050" dirty="0"/>
          </a:p>
        </p:txBody>
      </p:sp>
      <p:sp>
        <p:nvSpPr>
          <p:cNvPr id="13" name="Shape 11"/>
          <p:cNvSpPr/>
          <p:nvPr/>
        </p:nvSpPr>
        <p:spPr>
          <a:xfrm>
            <a:off x="274320" y="3319272"/>
            <a:ext cx="411480" cy="438912"/>
          </a:xfrm>
          <a:prstGeom prst="rect">
            <a:avLst/>
          </a:prstGeom>
          <a:solidFill>
            <a:srgbClr val="E87C1E"/>
          </a:solidFill>
          <a:ln/>
        </p:spPr>
      </p:sp>
      <p:sp>
        <p:nvSpPr>
          <p:cNvPr id="14" name="Text 12"/>
          <p:cNvSpPr/>
          <p:nvPr/>
        </p:nvSpPr>
        <p:spPr>
          <a:xfrm>
            <a:off x="274320" y="3319272"/>
            <a:ext cx="411480" cy="43891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5" name="Text 13"/>
          <p:cNvSpPr/>
          <p:nvPr/>
        </p:nvSpPr>
        <p:spPr>
          <a:xfrm>
            <a:off x="777240" y="3337560"/>
            <a:ext cx="2560320" cy="201168"/>
          </a:xfrm>
          <a:prstGeom prst="rect">
            <a:avLst/>
          </a:prstGeom>
          <a:noFill/>
          <a:ln/>
        </p:spPr>
        <p:txBody>
          <a:bodyPr wrap="square" rtlCol="0" anchor="ctr"/>
          <a:lstStyle/>
          <a:p>
            <a:pPr marL="0" indent="0">
              <a:buNone/>
            </a:pPr>
            <a:r>
              <a:rPr lang="en-US" sz="1100" b="1" dirty="0">
                <a:solidFill>
                  <a:srgbClr val="F5C518"/>
                </a:solidFill>
                <a:latin typeface="Calibri" pitchFamily="34" charset="0"/>
                <a:ea typeface="Calibri" pitchFamily="34" charset="-122"/>
                <a:cs typeface="Calibri" pitchFamily="34" charset="-120"/>
              </a:rPr>
              <a:t>Seasonal Blind Spots</a:t>
            </a:r>
            <a:endParaRPr lang="en-US" sz="1100" dirty="0"/>
          </a:p>
        </p:txBody>
      </p:sp>
      <p:sp>
        <p:nvSpPr>
          <p:cNvPr id="16" name="Text 14"/>
          <p:cNvSpPr/>
          <p:nvPr/>
        </p:nvSpPr>
        <p:spPr>
          <a:xfrm>
            <a:off x="777240" y="3538728"/>
            <a:ext cx="8046720" cy="201168"/>
          </a:xfrm>
          <a:prstGeom prst="rect">
            <a:avLst/>
          </a:prstGeom>
          <a:noFill/>
          <a:ln/>
        </p:spPr>
        <p:txBody>
          <a:bodyPr wrap="square" rtlCol="0" anchor="ctr"/>
          <a:lstStyle/>
          <a:p>
            <a:pPr marL="0" indent="0">
              <a:buNone/>
            </a:pPr>
            <a:r>
              <a:rPr lang="en-US" sz="1050" dirty="0">
                <a:solidFill>
                  <a:srgbClr val="E8E4DA"/>
                </a:solidFill>
                <a:latin typeface="Calibri" pitchFamily="34" charset="0"/>
                <a:ea typeface="Calibri" pitchFamily="34" charset="-122"/>
                <a:cs typeface="Calibri" pitchFamily="34" charset="-120"/>
              </a:rPr>
              <a:t>A 60% swing in output between Dec (0.50M MW) and May (0.80M MW) creates planning and revenue forecasting challenges.</a:t>
            </a:r>
            <a:endParaRPr lang="en-US" sz="1050" dirty="0"/>
          </a:p>
        </p:txBody>
      </p:sp>
      <p:sp>
        <p:nvSpPr>
          <p:cNvPr id="17" name="Shape 15"/>
          <p:cNvSpPr/>
          <p:nvPr/>
        </p:nvSpPr>
        <p:spPr>
          <a:xfrm>
            <a:off x="274320" y="3849624"/>
            <a:ext cx="411480" cy="438912"/>
          </a:xfrm>
          <a:prstGeom prst="rect">
            <a:avLst/>
          </a:prstGeom>
          <a:solidFill>
            <a:srgbClr val="E87C1E"/>
          </a:solidFill>
          <a:ln/>
        </p:spPr>
      </p:sp>
      <p:sp>
        <p:nvSpPr>
          <p:cNvPr id="18" name="Text 16"/>
          <p:cNvSpPr/>
          <p:nvPr/>
        </p:nvSpPr>
        <p:spPr>
          <a:xfrm>
            <a:off x="274320" y="3849624"/>
            <a:ext cx="411480" cy="43891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9" name="Text 17"/>
          <p:cNvSpPr/>
          <p:nvPr/>
        </p:nvSpPr>
        <p:spPr>
          <a:xfrm>
            <a:off x="777240" y="3867912"/>
            <a:ext cx="2560320" cy="201168"/>
          </a:xfrm>
          <a:prstGeom prst="rect">
            <a:avLst/>
          </a:prstGeom>
          <a:noFill/>
          <a:ln/>
        </p:spPr>
        <p:txBody>
          <a:bodyPr wrap="square" rtlCol="0" anchor="ctr"/>
          <a:lstStyle/>
          <a:p>
            <a:pPr marL="0" indent="0">
              <a:buNone/>
            </a:pPr>
            <a:r>
              <a:rPr lang="en-US" sz="1100" b="1" dirty="0">
                <a:solidFill>
                  <a:srgbClr val="F5C518"/>
                </a:solidFill>
                <a:latin typeface="Calibri" pitchFamily="34" charset="0"/>
                <a:ea typeface="Calibri" pitchFamily="34" charset="-122"/>
                <a:cs typeface="Calibri" pitchFamily="34" charset="-120"/>
              </a:rPr>
              <a:t>End-of-Month Decline</a:t>
            </a:r>
            <a:endParaRPr lang="en-US" sz="1100" dirty="0"/>
          </a:p>
        </p:txBody>
      </p:sp>
      <p:sp>
        <p:nvSpPr>
          <p:cNvPr id="20" name="Text 18"/>
          <p:cNvSpPr/>
          <p:nvPr/>
        </p:nvSpPr>
        <p:spPr>
          <a:xfrm>
            <a:off x="777240" y="4069080"/>
            <a:ext cx="8046720" cy="201168"/>
          </a:xfrm>
          <a:prstGeom prst="rect">
            <a:avLst/>
          </a:prstGeom>
          <a:noFill/>
          <a:ln/>
        </p:spPr>
        <p:txBody>
          <a:bodyPr wrap="square" rtlCol="0" anchor="ctr"/>
          <a:lstStyle/>
          <a:p>
            <a:pPr marL="0" indent="0">
              <a:buNone/>
            </a:pPr>
            <a:r>
              <a:rPr lang="en-US" sz="1050" dirty="0">
                <a:solidFill>
                  <a:srgbClr val="E8E4DA"/>
                </a:solidFill>
                <a:latin typeface="Calibri" pitchFamily="34" charset="0"/>
                <a:ea typeface="Calibri" pitchFamily="34" charset="-122"/>
                <a:cs typeface="Calibri" pitchFamily="34" charset="-120"/>
              </a:rPr>
              <a:t>A sharp drop to 0.14M MW near Day 30 suggests recurring operational or environmental issues requiring root-cause analysis.</a:t>
            </a:r>
            <a:endParaRPr lang="en-US" sz="1050" dirty="0"/>
          </a:p>
        </p:txBody>
      </p:sp>
      <p:sp>
        <p:nvSpPr>
          <p:cNvPr id="21" name="Shape 19"/>
          <p:cNvSpPr/>
          <p:nvPr/>
        </p:nvSpPr>
        <p:spPr>
          <a:xfrm>
            <a:off x="274320" y="4379976"/>
            <a:ext cx="411480" cy="438912"/>
          </a:xfrm>
          <a:prstGeom prst="rect">
            <a:avLst/>
          </a:prstGeom>
          <a:solidFill>
            <a:srgbClr val="E87C1E"/>
          </a:solidFill>
          <a:ln/>
        </p:spPr>
      </p:sp>
      <p:sp>
        <p:nvSpPr>
          <p:cNvPr id="22" name="Text 20"/>
          <p:cNvSpPr/>
          <p:nvPr/>
        </p:nvSpPr>
        <p:spPr>
          <a:xfrm>
            <a:off x="274320" y="4379976"/>
            <a:ext cx="411480" cy="43891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3" name="Text 21"/>
          <p:cNvSpPr/>
          <p:nvPr/>
        </p:nvSpPr>
        <p:spPr>
          <a:xfrm>
            <a:off x="777240" y="4398264"/>
            <a:ext cx="2560320" cy="201168"/>
          </a:xfrm>
          <a:prstGeom prst="rect">
            <a:avLst/>
          </a:prstGeom>
          <a:noFill/>
          <a:ln/>
        </p:spPr>
        <p:txBody>
          <a:bodyPr wrap="square" rtlCol="0" anchor="ctr"/>
          <a:lstStyle/>
          <a:p>
            <a:pPr marL="0" indent="0">
              <a:buNone/>
            </a:pPr>
            <a:r>
              <a:rPr lang="en-US" sz="1100" b="1" dirty="0">
                <a:solidFill>
                  <a:srgbClr val="F5C518"/>
                </a:solidFill>
                <a:latin typeface="Calibri" pitchFamily="34" charset="0"/>
                <a:ea typeface="Calibri" pitchFamily="34" charset="-122"/>
                <a:cs typeface="Calibri" pitchFamily="34" charset="-120"/>
              </a:rPr>
              <a:t>Site Type Disparity</a:t>
            </a:r>
            <a:endParaRPr lang="en-US" sz="1100" dirty="0"/>
          </a:p>
        </p:txBody>
      </p:sp>
      <p:sp>
        <p:nvSpPr>
          <p:cNvPr id="24" name="Text 22"/>
          <p:cNvSpPr/>
          <p:nvPr/>
        </p:nvSpPr>
        <p:spPr>
          <a:xfrm>
            <a:off x="777240" y="4599432"/>
            <a:ext cx="8046720" cy="201168"/>
          </a:xfrm>
          <a:prstGeom prst="rect">
            <a:avLst/>
          </a:prstGeom>
          <a:noFill/>
          <a:ln/>
        </p:spPr>
        <p:txBody>
          <a:bodyPr wrap="square" rtlCol="0" anchor="ctr"/>
          <a:lstStyle/>
          <a:p>
            <a:pPr marL="0" indent="0">
              <a:buNone/>
            </a:pPr>
            <a:r>
              <a:rPr lang="en-US" sz="1050" dirty="0">
                <a:solidFill>
                  <a:srgbClr val="E8E4DA"/>
                </a:solidFill>
                <a:latin typeface="Calibri" pitchFamily="34" charset="0"/>
                <a:ea typeface="Calibri" pitchFamily="34" charset="-122"/>
                <a:cs typeface="Calibri" pitchFamily="34" charset="-120"/>
              </a:rPr>
              <a:t>UPV sites generate 11 MW on average vs. 6 MW for DPV — but without analysis, this gap cannot be leveraged strategically.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744"/>
          </a:solidFill>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3000" b="1" dirty="0">
                <a:solidFill>
                  <a:srgbClr val="F5C518"/>
                </a:solidFill>
                <a:latin typeface="Calibri" pitchFamily="34" charset="0"/>
                <a:ea typeface="Calibri" pitchFamily="34" charset="-122"/>
                <a:cs typeface="Calibri" pitchFamily="34" charset="-120"/>
              </a:rPr>
              <a:t>PROJECT OBJECTIVES</a:t>
            </a:r>
            <a:endParaRPr lang="en-US" sz="30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E8E4DA"/>
                </a:solidFill>
              </a:rPr>
              <a:t>Goals, Outcomes &amp; Analytical Intent</a:t>
            </a:r>
            <a:endParaRPr lang="en-US" sz="1300" dirty="0"/>
          </a:p>
        </p:txBody>
      </p:sp>
      <p:sp>
        <p:nvSpPr>
          <p:cNvPr id="5" name="Shape 3"/>
          <p:cNvSpPr/>
          <p:nvPr/>
        </p:nvSpPr>
        <p:spPr>
          <a:xfrm>
            <a:off x="274320" y="1051560"/>
            <a:ext cx="2788920" cy="388620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274320" y="1051560"/>
            <a:ext cx="2788920" cy="475488"/>
          </a:xfrm>
          <a:prstGeom prst="rect">
            <a:avLst/>
          </a:prstGeom>
          <a:solidFill>
            <a:srgbClr val="E87C1E"/>
          </a:solidFill>
          <a:ln/>
        </p:spPr>
      </p:sp>
      <p:sp>
        <p:nvSpPr>
          <p:cNvPr id="7" name="Text 5"/>
          <p:cNvSpPr/>
          <p:nvPr/>
        </p:nvSpPr>
        <p:spPr>
          <a:xfrm>
            <a:off x="365760" y="1078992"/>
            <a:ext cx="260604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Business Goal</a:t>
            </a:r>
            <a:endParaRPr lang="en-US" sz="1200" dirty="0"/>
          </a:p>
        </p:txBody>
      </p:sp>
      <p:sp>
        <p:nvSpPr>
          <p:cNvPr id="8" name="Text 6"/>
          <p:cNvSpPr/>
          <p:nvPr/>
        </p:nvSpPr>
        <p:spPr>
          <a:xfrm>
            <a:off x="384048" y="1600200"/>
            <a:ext cx="2578608" cy="3246120"/>
          </a:xfrm>
          <a:prstGeom prst="rect">
            <a:avLst/>
          </a:prstGeom>
          <a:noFill/>
          <a:ln/>
        </p:spPr>
        <p:txBody>
          <a:bodyPr wrap="square" rtlCol="0" anchor="ctr"/>
          <a:lstStyle/>
          <a:p>
            <a:pPr marL="342900" indent="-342900">
              <a:buSzPct val="100000"/>
              <a:buChar char="•"/>
            </a:pPr>
            <a:r>
              <a:rPr lang="en-US" sz="1050" dirty="0">
                <a:solidFill>
                  <a:srgbClr val="1A2744"/>
                </a:solidFill>
                <a:latin typeface="Calibri" pitchFamily="34" charset="0"/>
                <a:ea typeface="Calibri" pitchFamily="34" charset="-122"/>
                <a:cs typeface="Calibri" pitchFamily="34" charset="-120"/>
              </a:rPr>
              <a:t>Provide solar operators with a comprehensive view of generation performance</a:t>
            </a:r>
            <a:endParaRPr lang="en-US" sz="1050" dirty="0"/>
          </a:p>
          <a:p>
            <a:pPr marL="342900" indent="-342900">
              <a:buSzPct val="100000"/>
              <a:buChar char="•"/>
            </a:pPr>
            <a:r>
              <a:rPr lang="en-US" sz="1050" dirty="0">
                <a:solidFill>
                  <a:srgbClr val="1A2744"/>
                </a:solidFill>
                <a:latin typeface="Calibri" pitchFamily="34" charset="0"/>
                <a:ea typeface="Calibri" pitchFamily="34" charset="-122"/>
                <a:cs typeface="Calibri" pitchFamily="34" charset="-120"/>
              </a:rPr>
              <a:t>Identify opportunities to close the gap between installed capacity and actual output</a:t>
            </a:r>
            <a:endParaRPr lang="en-US" sz="1050" dirty="0"/>
          </a:p>
          <a:p>
            <a:pPr marL="342900" indent="-342900">
              <a:buSzPct val="100000"/>
              <a:buChar char="•"/>
            </a:pPr>
            <a:r>
              <a:rPr lang="en-US" sz="1050" dirty="0">
                <a:solidFill>
                  <a:srgbClr val="1A2744"/>
                </a:solidFill>
                <a:latin typeface="Calibri" pitchFamily="34" charset="0"/>
                <a:ea typeface="Calibri" pitchFamily="34" charset="-122"/>
                <a:cs typeface="Calibri" pitchFamily="34" charset="-120"/>
              </a:rPr>
              <a:t>Enable data-driven decisions on maintenance, expansion, and scheduling</a:t>
            </a:r>
            <a:endParaRPr lang="en-US" sz="1050" dirty="0"/>
          </a:p>
          <a:p>
            <a:pPr marL="342900" indent="-342900">
              <a:buSzPct val="100000"/>
              <a:buChar char="•"/>
            </a:pPr>
            <a:r>
              <a:rPr lang="en-US" sz="1050" dirty="0">
                <a:solidFill>
                  <a:srgbClr val="1A2744"/>
                </a:solidFill>
                <a:latin typeface="Calibri" pitchFamily="34" charset="0"/>
                <a:ea typeface="Calibri" pitchFamily="34" charset="-122"/>
                <a:cs typeface="Calibri" pitchFamily="34" charset="-120"/>
              </a:rPr>
              <a:t>Benchmark UPV vs. DPV site performance to guide investment priorities</a:t>
            </a:r>
            <a:endParaRPr lang="en-US" sz="1050" dirty="0"/>
          </a:p>
        </p:txBody>
      </p:sp>
      <p:sp>
        <p:nvSpPr>
          <p:cNvPr id="9" name="Shape 7"/>
          <p:cNvSpPr/>
          <p:nvPr/>
        </p:nvSpPr>
        <p:spPr>
          <a:xfrm>
            <a:off x="3218688" y="1051560"/>
            <a:ext cx="2788920" cy="3886200"/>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3218688" y="1051560"/>
            <a:ext cx="2788920" cy="475488"/>
          </a:xfrm>
          <a:prstGeom prst="rect">
            <a:avLst/>
          </a:prstGeom>
          <a:solidFill>
            <a:srgbClr val="243460"/>
          </a:solidFill>
          <a:ln/>
        </p:spPr>
      </p:sp>
      <p:sp>
        <p:nvSpPr>
          <p:cNvPr id="11" name="Text 9"/>
          <p:cNvSpPr/>
          <p:nvPr/>
        </p:nvSpPr>
        <p:spPr>
          <a:xfrm>
            <a:off x="3310128" y="1078992"/>
            <a:ext cx="260604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Expected Outcome</a:t>
            </a:r>
            <a:endParaRPr lang="en-US" sz="1200" dirty="0"/>
          </a:p>
        </p:txBody>
      </p:sp>
      <p:sp>
        <p:nvSpPr>
          <p:cNvPr id="12" name="Text 10"/>
          <p:cNvSpPr/>
          <p:nvPr/>
        </p:nvSpPr>
        <p:spPr>
          <a:xfrm>
            <a:off x="3328416" y="1600200"/>
            <a:ext cx="2578608" cy="3246120"/>
          </a:xfrm>
          <a:prstGeom prst="rect">
            <a:avLst/>
          </a:prstGeom>
          <a:noFill/>
          <a:ln/>
        </p:spPr>
        <p:txBody>
          <a:bodyPr wrap="square" rtlCol="0" anchor="ctr"/>
          <a:lstStyle/>
          <a:p>
            <a:pPr marL="342900" indent="-342900">
              <a:buSzPct val="100000"/>
              <a:buChar char="•"/>
            </a:pPr>
            <a:r>
              <a:rPr lang="en-US" sz="1050" dirty="0">
                <a:solidFill>
                  <a:srgbClr val="1A2744"/>
                </a:solidFill>
                <a:latin typeface="Calibri" pitchFamily="34" charset="0"/>
                <a:ea typeface="Calibri" pitchFamily="34" charset="-122"/>
                <a:cs typeface="Calibri" pitchFamily="34" charset="-120"/>
              </a:rPr>
              <a:t>An interactive Power BI dashboard tracking real-time and historical KPIs</a:t>
            </a:r>
            <a:endParaRPr lang="en-US" sz="1050" dirty="0"/>
          </a:p>
          <a:p>
            <a:pPr marL="342900" indent="-342900">
              <a:buSzPct val="100000"/>
              <a:buChar char="•"/>
            </a:pPr>
            <a:r>
              <a:rPr lang="en-US" sz="1050" dirty="0">
                <a:solidFill>
                  <a:srgbClr val="1A2744"/>
                </a:solidFill>
                <a:latin typeface="Calibri" pitchFamily="34" charset="0"/>
                <a:ea typeface="Calibri" pitchFamily="34" charset="-122"/>
                <a:cs typeface="Calibri" pitchFamily="34" charset="-120"/>
              </a:rPr>
              <a:t>Quantified insights on seasonal, daily, and hourly generation patterns</a:t>
            </a:r>
            <a:endParaRPr lang="en-US" sz="1050" dirty="0"/>
          </a:p>
          <a:p>
            <a:pPr marL="342900" indent="-342900">
              <a:buSzPct val="100000"/>
              <a:buChar char="•"/>
            </a:pPr>
            <a:r>
              <a:rPr lang="en-US" sz="1050" dirty="0">
                <a:solidFill>
                  <a:srgbClr val="1A2744"/>
                </a:solidFill>
                <a:latin typeface="Calibri" pitchFamily="34" charset="0"/>
                <a:ea typeface="Calibri" pitchFamily="34" charset="-122"/>
                <a:cs typeface="Calibri" pitchFamily="34" charset="-120"/>
              </a:rPr>
              <a:t>Actionable recommendations to reduce underperformance and losses</a:t>
            </a:r>
            <a:endParaRPr lang="en-US" sz="1050" dirty="0"/>
          </a:p>
          <a:p>
            <a:pPr marL="342900" indent="-342900">
              <a:buSzPct val="100000"/>
              <a:buChar char="•"/>
            </a:pPr>
            <a:r>
              <a:rPr lang="en-US" sz="1050" dirty="0">
                <a:solidFill>
                  <a:srgbClr val="1A2744"/>
                </a:solidFill>
                <a:latin typeface="Calibri" pitchFamily="34" charset="0"/>
                <a:ea typeface="Calibri" pitchFamily="34" charset="-122"/>
                <a:cs typeface="Calibri" pitchFamily="34" charset="-120"/>
              </a:rPr>
              <a:t>A reusable analytical framework scalable to additional solar portfolios</a:t>
            </a:r>
            <a:endParaRPr lang="en-US" sz="1050" dirty="0"/>
          </a:p>
        </p:txBody>
      </p:sp>
      <p:sp>
        <p:nvSpPr>
          <p:cNvPr id="13" name="Shape 11"/>
          <p:cNvSpPr/>
          <p:nvPr/>
        </p:nvSpPr>
        <p:spPr>
          <a:xfrm>
            <a:off x="6163056" y="1051560"/>
            <a:ext cx="2788920" cy="3886200"/>
          </a:xfrm>
          <a:prstGeom prst="rect">
            <a:avLst/>
          </a:prstGeom>
          <a:solidFill>
            <a:srgbClr val="FFFFFF"/>
          </a:solidFill>
          <a:ln/>
          <a:effectLst>
            <a:outerShdw blurRad="101600" dist="38100" dir="8100000" algn="bl" rotWithShape="0">
              <a:srgbClr val="000000">
                <a:alpha val="12000"/>
              </a:srgbClr>
            </a:outerShdw>
          </a:effectLst>
        </p:spPr>
      </p:sp>
      <p:sp>
        <p:nvSpPr>
          <p:cNvPr id="14" name="Shape 12"/>
          <p:cNvSpPr/>
          <p:nvPr/>
        </p:nvSpPr>
        <p:spPr>
          <a:xfrm>
            <a:off x="6163056" y="1051560"/>
            <a:ext cx="2788920" cy="475488"/>
          </a:xfrm>
          <a:prstGeom prst="rect">
            <a:avLst/>
          </a:prstGeom>
          <a:solidFill>
            <a:srgbClr val="2E4080"/>
          </a:solidFill>
          <a:ln/>
        </p:spPr>
      </p:sp>
      <p:sp>
        <p:nvSpPr>
          <p:cNvPr id="15" name="Text 13"/>
          <p:cNvSpPr/>
          <p:nvPr/>
        </p:nvSpPr>
        <p:spPr>
          <a:xfrm>
            <a:off x="6254496" y="1078992"/>
            <a:ext cx="260604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Analytical Goal</a:t>
            </a:r>
            <a:endParaRPr lang="en-US" sz="1200" dirty="0"/>
          </a:p>
        </p:txBody>
      </p:sp>
      <p:sp>
        <p:nvSpPr>
          <p:cNvPr id="16" name="Text 14"/>
          <p:cNvSpPr/>
          <p:nvPr/>
        </p:nvSpPr>
        <p:spPr>
          <a:xfrm>
            <a:off x="6272784" y="1600200"/>
            <a:ext cx="2578608" cy="3246120"/>
          </a:xfrm>
          <a:prstGeom prst="rect">
            <a:avLst/>
          </a:prstGeom>
          <a:noFill/>
          <a:ln/>
        </p:spPr>
        <p:txBody>
          <a:bodyPr wrap="square" rtlCol="0" anchor="ctr"/>
          <a:lstStyle/>
          <a:p>
            <a:pPr marL="342900" indent="-342900">
              <a:buSzPct val="100000"/>
              <a:buChar char="•"/>
            </a:pPr>
            <a:r>
              <a:rPr lang="en-US" sz="1050" dirty="0">
                <a:solidFill>
                  <a:srgbClr val="1A2744"/>
                </a:solidFill>
                <a:latin typeface="Calibri" pitchFamily="34" charset="0"/>
                <a:ea typeface="Calibri" pitchFamily="34" charset="-122"/>
                <a:cs typeface="Calibri" pitchFamily="34" charset="-120"/>
              </a:rPr>
              <a:t>Apply temporal analysis across hour, day, and month granularities</a:t>
            </a:r>
            <a:endParaRPr lang="en-US" sz="1050" dirty="0"/>
          </a:p>
          <a:p>
            <a:pPr marL="342900" indent="-342900">
              <a:buSzPct val="100000"/>
              <a:buChar char="•"/>
            </a:pPr>
            <a:r>
              <a:rPr lang="en-US" sz="1050" dirty="0">
                <a:solidFill>
                  <a:srgbClr val="1A2744"/>
                </a:solidFill>
                <a:latin typeface="Calibri" pitchFamily="34" charset="0"/>
                <a:ea typeface="Calibri" pitchFamily="34" charset="-122"/>
                <a:cs typeface="Calibri" pitchFamily="34" charset="-120"/>
              </a:rPr>
              <a:t>Perform comparative analysis across site types (UPV vs. DPV)</a:t>
            </a:r>
            <a:endParaRPr lang="en-US" sz="1050" dirty="0"/>
          </a:p>
          <a:p>
            <a:pPr marL="342900" indent="-342900">
              <a:buSzPct val="100000"/>
              <a:buChar char="•"/>
            </a:pPr>
            <a:r>
              <a:rPr lang="en-US" sz="1050" dirty="0">
                <a:solidFill>
                  <a:srgbClr val="1A2744"/>
                </a:solidFill>
                <a:latin typeface="Calibri" pitchFamily="34" charset="0"/>
                <a:ea typeface="Calibri" pitchFamily="34" charset="-122"/>
                <a:cs typeface="Calibri" pitchFamily="34" charset="-120"/>
              </a:rPr>
              <a:t>Detect anomalies (e.g., Day 30 decline) and recommend investigation</a:t>
            </a:r>
            <a:endParaRPr lang="en-US" sz="1050" dirty="0"/>
          </a:p>
          <a:p>
            <a:pPr marL="342900" indent="-342900">
              <a:buSzPct val="100000"/>
              <a:buChar char="•"/>
            </a:pPr>
            <a:r>
              <a:rPr lang="en-US" sz="1050" dirty="0">
                <a:solidFill>
                  <a:srgbClr val="1A2744"/>
                </a:solidFill>
                <a:latin typeface="Calibri" pitchFamily="34" charset="0"/>
                <a:ea typeface="Calibri" pitchFamily="34" charset="-122"/>
                <a:cs typeface="Calibri" pitchFamily="34" charset="-120"/>
              </a:rPr>
              <a:t>Communicate insights clearly using business storytelling principles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744"/>
          </a:solidFill>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3000" b="1" dirty="0">
                <a:solidFill>
                  <a:srgbClr val="F5C518"/>
                </a:solidFill>
                <a:latin typeface="Calibri" pitchFamily="34" charset="0"/>
                <a:ea typeface="Calibri" pitchFamily="34" charset="-122"/>
                <a:cs typeface="Calibri" pitchFamily="34" charset="-120"/>
              </a:rPr>
              <a:t>DATASET OVERVIEW</a:t>
            </a:r>
            <a:endParaRPr lang="en-US" sz="30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E8E4DA"/>
                </a:solidFill>
              </a:rPr>
              <a:t>Source, Structure &amp; Key Variables</a:t>
            </a:r>
            <a:endParaRPr lang="en-US" sz="1300" dirty="0"/>
          </a:p>
        </p:txBody>
      </p:sp>
      <p:sp>
        <p:nvSpPr>
          <p:cNvPr id="5" name="Shape 3"/>
          <p:cNvSpPr/>
          <p:nvPr/>
        </p:nvSpPr>
        <p:spPr>
          <a:xfrm>
            <a:off x="274320" y="1051560"/>
            <a:ext cx="1920240" cy="1005840"/>
          </a:xfrm>
          <a:prstGeom prst="rect">
            <a:avLst/>
          </a:prstGeom>
          <a:solidFill>
            <a:srgbClr val="1A2744"/>
          </a:solidFill>
          <a:ln/>
          <a:effectLst>
            <a:outerShdw blurRad="101600" dist="38100" dir="8100000" algn="bl" rotWithShape="0">
              <a:srgbClr val="000000">
                <a:alpha val="12000"/>
              </a:srgbClr>
            </a:outerShdw>
          </a:effectLst>
        </p:spPr>
      </p:sp>
      <p:sp>
        <p:nvSpPr>
          <p:cNvPr id="6" name="Text 4"/>
          <p:cNvSpPr/>
          <p:nvPr/>
        </p:nvSpPr>
        <p:spPr>
          <a:xfrm>
            <a:off x="274320" y="1097280"/>
            <a:ext cx="1920240" cy="621792"/>
          </a:xfrm>
          <a:prstGeom prst="rect">
            <a:avLst/>
          </a:prstGeom>
          <a:noFill/>
          <a:ln/>
        </p:spPr>
        <p:txBody>
          <a:bodyPr wrap="square" rtlCol="0" anchor="ctr"/>
          <a:lstStyle/>
          <a:p>
            <a:pPr marL="0" indent="0" algn="ctr">
              <a:buNone/>
            </a:pPr>
            <a:r>
              <a:rPr lang="en-US" sz="1250" b="1" dirty="0">
                <a:solidFill>
                  <a:srgbClr val="F5C518"/>
                </a:solidFill>
                <a:latin typeface="Calibri" pitchFamily="34" charset="0"/>
                <a:ea typeface="Calibri" pitchFamily="34" charset="-122"/>
                <a:cs typeface="Calibri" pitchFamily="34" charset="-120"/>
              </a:rPr>
              <a:t>Solar Power</a:t>
            </a:r>
            <a:endParaRPr lang="en-US" sz="1250" dirty="0"/>
          </a:p>
          <a:p>
            <a:pPr marL="0" indent="0" algn="ctr">
              <a:buNone/>
            </a:pPr>
            <a:r>
              <a:rPr lang="en-US" sz="1250" b="1" dirty="0">
                <a:solidFill>
                  <a:srgbClr val="F5C518"/>
                </a:solidFill>
                <a:latin typeface="Calibri" pitchFamily="34" charset="0"/>
                <a:ea typeface="Calibri" pitchFamily="34" charset="-122"/>
                <a:cs typeface="Calibri" pitchFamily="34" charset="-120"/>
              </a:rPr>
              <a:t>Generation System</a:t>
            </a:r>
            <a:endParaRPr lang="en-US" sz="1250" dirty="0"/>
          </a:p>
        </p:txBody>
      </p:sp>
      <p:sp>
        <p:nvSpPr>
          <p:cNvPr id="7" name="Text 5"/>
          <p:cNvSpPr/>
          <p:nvPr/>
        </p:nvSpPr>
        <p:spPr>
          <a:xfrm>
            <a:off x="274320" y="1719072"/>
            <a:ext cx="1920240" cy="274320"/>
          </a:xfrm>
          <a:prstGeom prst="rect">
            <a:avLst/>
          </a:prstGeom>
          <a:noFill/>
          <a:ln/>
        </p:spPr>
        <p:txBody>
          <a:bodyPr wrap="square" rtlCol="0" anchor="ctr"/>
          <a:lstStyle/>
          <a:p>
            <a:pPr marL="0" indent="0" algn="ctr">
              <a:buNone/>
            </a:pPr>
            <a:r>
              <a:rPr lang="en-US" sz="950" dirty="0">
                <a:solidFill>
                  <a:srgbClr val="E8E4DA"/>
                </a:solidFill>
                <a:latin typeface="Calibri" pitchFamily="34" charset="0"/>
                <a:ea typeface="Calibri" pitchFamily="34" charset="-122"/>
                <a:cs typeface="Calibri" pitchFamily="34" charset="-120"/>
              </a:rPr>
              <a:t>Data Source</a:t>
            </a:r>
            <a:endParaRPr lang="en-US" sz="950" dirty="0"/>
          </a:p>
        </p:txBody>
      </p:sp>
      <p:sp>
        <p:nvSpPr>
          <p:cNvPr id="8" name="Shape 6"/>
          <p:cNvSpPr/>
          <p:nvPr/>
        </p:nvSpPr>
        <p:spPr>
          <a:xfrm>
            <a:off x="2450592" y="1051560"/>
            <a:ext cx="1920240" cy="1005840"/>
          </a:xfrm>
          <a:prstGeom prst="rect">
            <a:avLst/>
          </a:prstGeom>
          <a:solidFill>
            <a:srgbClr val="1A2744"/>
          </a:solidFill>
          <a:ln/>
          <a:effectLst>
            <a:outerShdw blurRad="101600" dist="38100" dir="8100000" algn="bl" rotWithShape="0">
              <a:srgbClr val="000000">
                <a:alpha val="12000"/>
              </a:srgbClr>
            </a:outerShdw>
          </a:effectLst>
        </p:spPr>
      </p:sp>
      <p:sp>
        <p:nvSpPr>
          <p:cNvPr id="9" name="Text 7"/>
          <p:cNvSpPr/>
          <p:nvPr/>
        </p:nvSpPr>
        <p:spPr>
          <a:xfrm>
            <a:off x="2450592" y="1097280"/>
            <a:ext cx="1920240" cy="621792"/>
          </a:xfrm>
          <a:prstGeom prst="rect">
            <a:avLst/>
          </a:prstGeom>
          <a:noFill/>
          <a:ln/>
        </p:spPr>
        <p:txBody>
          <a:bodyPr wrap="square" rtlCol="0" anchor="ctr"/>
          <a:lstStyle/>
          <a:p>
            <a:pPr marL="0" indent="0" algn="ctr">
              <a:buNone/>
            </a:pPr>
            <a:r>
              <a:rPr lang="en-US" sz="1250" b="1" dirty="0">
                <a:solidFill>
                  <a:srgbClr val="F5C518"/>
                </a:solidFill>
                <a:latin typeface="Calibri" pitchFamily="34" charset="0"/>
                <a:ea typeface="Calibri" pitchFamily="34" charset="-122"/>
                <a:cs typeface="Calibri" pitchFamily="34" charset="-120"/>
              </a:rPr>
              <a:t>Power MW</a:t>
            </a:r>
            <a:endParaRPr lang="en-US" sz="1250" dirty="0"/>
          </a:p>
          <a:p>
            <a:pPr marL="0" indent="0" algn="ctr">
              <a:buNone/>
            </a:pPr>
            <a:r>
              <a:rPr lang="en-US" sz="1250" b="1" dirty="0">
                <a:solidFill>
                  <a:srgbClr val="F5C518"/>
                </a:solidFill>
                <a:latin typeface="Calibri" pitchFamily="34" charset="0"/>
                <a:ea typeface="Calibri" pitchFamily="34" charset="-122"/>
                <a:cs typeface="Calibri" pitchFamily="34" charset="-120"/>
              </a:rPr>
              <a:t>&amp; Capacity MW</a:t>
            </a:r>
            <a:endParaRPr lang="en-US" sz="1250" dirty="0"/>
          </a:p>
        </p:txBody>
      </p:sp>
      <p:sp>
        <p:nvSpPr>
          <p:cNvPr id="10" name="Text 8"/>
          <p:cNvSpPr/>
          <p:nvPr/>
        </p:nvSpPr>
        <p:spPr>
          <a:xfrm>
            <a:off x="2450592" y="1719072"/>
            <a:ext cx="1920240" cy="274320"/>
          </a:xfrm>
          <a:prstGeom prst="rect">
            <a:avLst/>
          </a:prstGeom>
          <a:noFill/>
          <a:ln/>
        </p:spPr>
        <p:txBody>
          <a:bodyPr wrap="square" rtlCol="0" anchor="ctr"/>
          <a:lstStyle/>
          <a:p>
            <a:pPr marL="0" indent="0" algn="ctr">
              <a:buNone/>
            </a:pPr>
            <a:r>
              <a:rPr lang="en-US" sz="950" dirty="0">
                <a:solidFill>
                  <a:srgbClr val="E8E4DA"/>
                </a:solidFill>
                <a:latin typeface="Calibri" pitchFamily="34" charset="0"/>
                <a:ea typeface="Calibri" pitchFamily="34" charset="-122"/>
                <a:cs typeface="Calibri" pitchFamily="34" charset="-120"/>
              </a:rPr>
              <a:t>Key Metrics</a:t>
            </a:r>
            <a:endParaRPr lang="en-US" sz="950" dirty="0"/>
          </a:p>
        </p:txBody>
      </p:sp>
      <p:sp>
        <p:nvSpPr>
          <p:cNvPr id="11" name="Shape 9"/>
          <p:cNvSpPr/>
          <p:nvPr/>
        </p:nvSpPr>
        <p:spPr>
          <a:xfrm>
            <a:off x="4626864" y="1051560"/>
            <a:ext cx="1920240" cy="1005840"/>
          </a:xfrm>
          <a:prstGeom prst="rect">
            <a:avLst/>
          </a:prstGeom>
          <a:solidFill>
            <a:srgbClr val="1A2744"/>
          </a:solidFill>
          <a:ln/>
          <a:effectLst>
            <a:outerShdw blurRad="101600" dist="38100" dir="8100000" algn="bl" rotWithShape="0">
              <a:srgbClr val="000000">
                <a:alpha val="12000"/>
              </a:srgbClr>
            </a:outerShdw>
          </a:effectLst>
        </p:spPr>
      </p:sp>
      <p:sp>
        <p:nvSpPr>
          <p:cNvPr id="12" name="Text 10"/>
          <p:cNvSpPr/>
          <p:nvPr/>
        </p:nvSpPr>
        <p:spPr>
          <a:xfrm>
            <a:off x="4626864" y="1097280"/>
            <a:ext cx="1920240" cy="621792"/>
          </a:xfrm>
          <a:prstGeom prst="rect">
            <a:avLst/>
          </a:prstGeom>
          <a:noFill/>
          <a:ln/>
        </p:spPr>
        <p:txBody>
          <a:bodyPr wrap="square" rtlCol="0" anchor="ctr"/>
          <a:lstStyle/>
          <a:p>
            <a:pPr marL="0" indent="0" algn="ctr">
              <a:buNone/>
            </a:pPr>
            <a:r>
              <a:rPr lang="en-US" sz="1250" b="1" dirty="0">
                <a:solidFill>
                  <a:srgbClr val="F5C518"/>
                </a:solidFill>
                <a:latin typeface="Calibri" pitchFamily="34" charset="0"/>
                <a:ea typeface="Calibri" pitchFamily="34" charset="-122"/>
                <a:cs typeface="Calibri" pitchFamily="34" charset="-120"/>
              </a:rPr>
              <a:t>UPV &amp; DPV</a:t>
            </a:r>
            <a:endParaRPr lang="en-US" sz="1250" dirty="0"/>
          </a:p>
          <a:p>
            <a:pPr marL="0" indent="0" algn="ctr">
              <a:buNone/>
            </a:pPr>
            <a:r>
              <a:rPr lang="en-US" sz="1250" b="1" dirty="0">
                <a:solidFill>
                  <a:srgbClr val="F5C518"/>
                </a:solidFill>
                <a:latin typeface="Calibri" pitchFamily="34" charset="0"/>
                <a:ea typeface="Calibri" pitchFamily="34" charset="-122"/>
                <a:cs typeface="Calibri" pitchFamily="34" charset="-120"/>
              </a:rPr>
              <a:t>Installations</a:t>
            </a:r>
            <a:endParaRPr lang="en-US" sz="1250" dirty="0"/>
          </a:p>
        </p:txBody>
      </p:sp>
      <p:sp>
        <p:nvSpPr>
          <p:cNvPr id="13" name="Text 11"/>
          <p:cNvSpPr/>
          <p:nvPr/>
        </p:nvSpPr>
        <p:spPr>
          <a:xfrm>
            <a:off x="4626864" y="1719072"/>
            <a:ext cx="1920240" cy="274320"/>
          </a:xfrm>
          <a:prstGeom prst="rect">
            <a:avLst/>
          </a:prstGeom>
          <a:noFill/>
          <a:ln/>
        </p:spPr>
        <p:txBody>
          <a:bodyPr wrap="square" rtlCol="0" anchor="ctr"/>
          <a:lstStyle/>
          <a:p>
            <a:pPr marL="0" indent="0" algn="ctr">
              <a:buNone/>
            </a:pPr>
            <a:r>
              <a:rPr lang="en-US" sz="950" dirty="0">
                <a:solidFill>
                  <a:srgbClr val="E8E4DA"/>
                </a:solidFill>
                <a:latin typeface="Calibri" pitchFamily="34" charset="0"/>
                <a:ea typeface="Calibri" pitchFamily="34" charset="-122"/>
                <a:cs typeface="Calibri" pitchFamily="34" charset="-120"/>
              </a:rPr>
              <a:t>Site Types</a:t>
            </a:r>
            <a:endParaRPr lang="en-US" sz="950" dirty="0"/>
          </a:p>
        </p:txBody>
      </p:sp>
      <p:sp>
        <p:nvSpPr>
          <p:cNvPr id="14" name="Shape 12"/>
          <p:cNvSpPr/>
          <p:nvPr/>
        </p:nvSpPr>
        <p:spPr>
          <a:xfrm>
            <a:off x="6803136" y="1051560"/>
            <a:ext cx="1920240" cy="1005840"/>
          </a:xfrm>
          <a:prstGeom prst="rect">
            <a:avLst/>
          </a:prstGeom>
          <a:solidFill>
            <a:srgbClr val="1A2744"/>
          </a:solidFill>
          <a:ln/>
          <a:effectLst>
            <a:outerShdw blurRad="101600" dist="38100" dir="8100000" algn="bl" rotWithShape="0">
              <a:srgbClr val="000000">
                <a:alpha val="12000"/>
              </a:srgbClr>
            </a:outerShdw>
          </a:effectLst>
        </p:spPr>
      </p:sp>
      <p:sp>
        <p:nvSpPr>
          <p:cNvPr id="15" name="Text 13"/>
          <p:cNvSpPr/>
          <p:nvPr/>
        </p:nvSpPr>
        <p:spPr>
          <a:xfrm>
            <a:off x="6803136" y="1097280"/>
            <a:ext cx="1920240" cy="621792"/>
          </a:xfrm>
          <a:prstGeom prst="rect">
            <a:avLst/>
          </a:prstGeom>
          <a:noFill/>
          <a:ln/>
        </p:spPr>
        <p:txBody>
          <a:bodyPr wrap="square" rtlCol="0" anchor="ctr"/>
          <a:lstStyle/>
          <a:p>
            <a:pPr marL="0" indent="0" algn="ctr">
              <a:buNone/>
            </a:pPr>
            <a:r>
              <a:rPr lang="en-US" sz="1250" b="1" dirty="0">
                <a:solidFill>
                  <a:srgbClr val="F5C518"/>
                </a:solidFill>
                <a:latin typeface="Calibri" pitchFamily="34" charset="0"/>
                <a:ea typeface="Calibri" pitchFamily="34" charset="-122"/>
                <a:cs typeface="Calibri" pitchFamily="34" charset="-120"/>
              </a:rPr>
              <a:t>12 Months</a:t>
            </a:r>
            <a:endParaRPr lang="en-US" sz="1250" dirty="0"/>
          </a:p>
          <a:p>
            <a:pPr marL="0" indent="0" algn="ctr">
              <a:buNone/>
            </a:pPr>
            <a:r>
              <a:rPr lang="en-US" sz="1250" b="1" dirty="0">
                <a:solidFill>
                  <a:srgbClr val="F5C518"/>
                </a:solidFill>
                <a:latin typeface="Calibri" pitchFamily="34" charset="0"/>
                <a:ea typeface="Calibri" pitchFamily="34" charset="-122"/>
                <a:cs typeface="Calibri" pitchFamily="34" charset="-120"/>
              </a:rPr>
              <a:t>(Jan – Dec)</a:t>
            </a:r>
            <a:endParaRPr lang="en-US" sz="1250" dirty="0"/>
          </a:p>
        </p:txBody>
      </p:sp>
      <p:sp>
        <p:nvSpPr>
          <p:cNvPr id="16" name="Text 14"/>
          <p:cNvSpPr/>
          <p:nvPr/>
        </p:nvSpPr>
        <p:spPr>
          <a:xfrm>
            <a:off x="6803136" y="1719072"/>
            <a:ext cx="1920240" cy="274320"/>
          </a:xfrm>
          <a:prstGeom prst="rect">
            <a:avLst/>
          </a:prstGeom>
          <a:noFill/>
          <a:ln/>
        </p:spPr>
        <p:txBody>
          <a:bodyPr wrap="square" rtlCol="0" anchor="ctr"/>
          <a:lstStyle/>
          <a:p>
            <a:pPr marL="0" indent="0" algn="ctr">
              <a:buNone/>
            </a:pPr>
            <a:r>
              <a:rPr lang="en-US" sz="950" dirty="0">
                <a:solidFill>
                  <a:srgbClr val="E8E4DA"/>
                </a:solidFill>
                <a:latin typeface="Calibri" pitchFamily="34" charset="0"/>
                <a:ea typeface="Calibri" pitchFamily="34" charset="-122"/>
                <a:cs typeface="Calibri" pitchFamily="34" charset="-120"/>
              </a:rPr>
              <a:t>Time Range</a:t>
            </a:r>
            <a:endParaRPr lang="en-US" sz="950" dirty="0"/>
          </a:p>
        </p:txBody>
      </p:sp>
      <p:sp>
        <p:nvSpPr>
          <p:cNvPr id="17" name="Text 15"/>
          <p:cNvSpPr/>
          <p:nvPr/>
        </p:nvSpPr>
        <p:spPr>
          <a:xfrm>
            <a:off x="274320" y="2240280"/>
            <a:ext cx="8595360" cy="365760"/>
          </a:xfrm>
          <a:prstGeom prst="rect">
            <a:avLst/>
          </a:prstGeom>
          <a:noFill/>
          <a:ln/>
        </p:spPr>
        <p:txBody>
          <a:bodyPr wrap="square" rtlCol="0" anchor="ctr"/>
          <a:lstStyle/>
          <a:p>
            <a:pPr marL="0" indent="0">
              <a:buNone/>
            </a:pPr>
            <a:r>
              <a:rPr lang="en-US" sz="1500" b="1" dirty="0">
                <a:solidFill>
                  <a:srgbClr val="1A2744"/>
                </a:solidFill>
                <a:latin typeface="Calibri" pitchFamily="34" charset="0"/>
                <a:ea typeface="Calibri" pitchFamily="34" charset="-122"/>
                <a:cs typeface="Calibri" pitchFamily="34" charset="-120"/>
              </a:rPr>
              <a:t>Key Variables</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274320" y="2651760"/>
          <a:ext cx="8595360" cy="2473236"/>
        </p:xfrm>
        <a:graphic>
          <a:graphicData uri="http://schemas.openxmlformats.org/drawingml/2006/table">
            <a:tbl>
              <a:tblPr/>
              <a:tblGrid>
                <a:gridCol w="16459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4616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Column Name</a:t>
                      </a:r>
                      <a:endParaRPr lang="en-US" sz="11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Data Type</a:t>
                      </a:r>
                      <a:endParaRPr lang="en-US" sz="11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Role in Analysis</a:t>
                      </a:r>
                      <a:endParaRPr lang="en-US" sz="11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346166">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power_mw</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Numeric (Float)</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Actual power generated in Megawatts at each time interval</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Primary metric — output measurement</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6166">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capacity_mw</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Numeric (Float)</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Installed or rated capacity of the solar installation in MW</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Baseline for utilization rate</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6166">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site_type</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Categorical</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Type of installation: UPV (Utility) or DPV (Distributed)</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Segmentation variable</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6166">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month</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Integer (1–12)</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Month of the year the record was captured</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Seasonal trend analysis</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6166">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day</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Integer (1–31)</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Day of the month for the record</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Daily fluctuation analysis</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6166">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hour</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Integer (0–23)</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Hour of the day the reading was taken</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tc>
                  <a:txBody>
                    <a:bodyPr/>
                    <a:lstStyle/>
                    <a:p>
                      <a:pPr marL="0" indent="0">
                        <a:buNone/>
                      </a:pPr>
                      <a:r>
                        <a:rPr lang="en-US" sz="1000" dirty="0">
                          <a:solidFill>
                            <a:srgbClr val="1A2744"/>
                          </a:solidFill>
                          <a:latin typeface="Calibri" pitchFamily="34" charset="0"/>
                          <a:ea typeface="Calibri" pitchFamily="34" charset="-122"/>
                          <a:cs typeface="Calibri" pitchFamily="34" charset="-120"/>
                        </a:rPr>
                        <a:t>Intra-day pattern analysis</a:t>
                      </a:r>
                      <a:endParaRPr lang="en-US" sz="1000" dirty="0">
                        <a:latin typeface="Calibri" charset="0"/>
                        <a:ea typeface="Calibri" charset="0"/>
                        <a:cs typeface="Calibri" charset="0"/>
                      </a:endParaRPr>
                    </a:p>
                  </a:txBody>
                  <a:tcPr>
                    <a:lnL w="6350" cap="flat" cmpd="sng" algn="ctr">
                      <a:solidFill>
                        <a:srgbClr val="E8E4DA"/>
                      </a:solidFill>
                      <a:prstDash val="solid"/>
                      <a:round/>
                      <a:headEnd type="none" w="med" len="med"/>
                      <a:tailEnd type="none" w="med" len="med"/>
                    </a:lnL>
                    <a:lnR w="6350" cap="flat" cmpd="sng" algn="ctr">
                      <a:solidFill>
                        <a:srgbClr val="E8E4DA"/>
                      </a:solidFill>
                      <a:prstDash val="solid"/>
                      <a:round/>
                      <a:headEnd type="none" w="med" len="med"/>
                      <a:tailEnd type="none" w="med" len="med"/>
                    </a:lnR>
                    <a:lnT w="6350" cap="flat" cmpd="sng" algn="ctr">
                      <a:solidFill>
                        <a:srgbClr val="E8E4DA"/>
                      </a:solidFill>
                      <a:prstDash val="solid"/>
                      <a:round/>
                      <a:headEnd type="none" w="med" len="med"/>
                      <a:tailEnd type="none" w="med" len="med"/>
                    </a:lnT>
                    <a:lnB w="6350" cap="flat" cmpd="sng" algn="ctr">
                      <a:solidFill>
                        <a:srgbClr val="E8E4D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744"/>
          </a:solidFill>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3000" b="1" dirty="0">
                <a:solidFill>
                  <a:srgbClr val="F5C518"/>
                </a:solidFill>
                <a:latin typeface="Calibri" pitchFamily="34" charset="0"/>
                <a:ea typeface="Calibri" pitchFamily="34" charset="-122"/>
                <a:cs typeface="Calibri" pitchFamily="34" charset="-120"/>
              </a:rPr>
              <a:t>DATA SUMMARY</a:t>
            </a:r>
            <a:endParaRPr lang="en-US" sz="30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E8E4DA"/>
                </a:solidFill>
              </a:rPr>
              <a:t>Statistical Summary &amp; Distribution Insights</a:t>
            </a:r>
            <a:endParaRPr lang="en-US" sz="1300" dirty="0"/>
          </a:p>
        </p:txBody>
      </p:sp>
      <p:sp>
        <p:nvSpPr>
          <p:cNvPr id="5" name="Shape 3"/>
          <p:cNvSpPr/>
          <p:nvPr/>
        </p:nvSpPr>
        <p:spPr>
          <a:xfrm>
            <a:off x="201168" y="1078992"/>
            <a:ext cx="2011680" cy="1325880"/>
          </a:xfrm>
          <a:prstGeom prst="rect">
            <a:avLst/>
          </a:prstGeom>
          <a:solidFill>
            <a:srgbClr val="1A2744"/>
          </a:solidFill>
          <a:ln/>
          <a:effectLst>
            <a:outerShdw blurRad="101600" dist="38100" dir="8100000" algn="bl" rotWithShape="0">
              <a:srgbClr val="000000">
                <a:alpha val="12000"/>
              </a:srgbClr>
            </a:outerShdw>
          </a:effectLst>
        </p:spPr>
      </p:sp>
      <p:sp>
        <p:nvSpPr>
          <p:cNvPr id="6" name="Text 4"/>
          <p:cNvSpPr/>
          <p:nvPr/>
        </p:nvSpPr>
        <p:spPr>
          <a:xfrm>
            <a:off x="201168" y="1216152"/>
            <a:ext cx="2011680" cy="594360"/>
          </a:xfrm>
          <a:prstGeom prst="rect">
            <a:avLst/>
          </a:prstGeom>
          <a:noFill/>
          <a:ln/>
        </p:spPr>
        <p:txBody>
          <a:bodyPr wrap="square" rtlCol="0" anchor="ctr"/>
          <a:lstStyle/>
          <a:p>
            <a:pPr marL="0" indent="0" algn="ctr">
              <a:buNone/>
            </a:pPr>
            <a:r>
              <a:rPr lang="en-US" sz="2200" b="1" dirty="0">
                <a:solidFill>
                  <a:srgbClr val="F5C518"/>
                </a:solidFill>
                <a:latin typeface="Calibri" pitchFamily="34" charset="0"/>
                <a:ea typeface="Calibri" pitchFamily="34" charset="-122"/>
                <a:cs typeface="Calibri" pitchFamily="34" charset="-120"/>
              </a:rPr>
              <a:t>80 MW</a:t>
            </a:r>
            <a:endParaRPr lang="en-US" sz="2200" dirty="0"/>
          </a:p>
        </p:txBody>
      </p:sp>
      <p:sp>
        <p:nvSpPr>
          <p:cNvPr id="7" name="Text 5"/>
          <p:cNvSpPr/>
          <p:nvPr/>
        </p:nvSpPr>
        <p:spPr>
          <a:xfrm>
            <a:off x="274320" y="1792224"/>
            <a:ext cx="1865376"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Max Capacity</a:t>
            </a:r>
            <a:endParaRPr lang="en-US" sz="1000" dirty="0"/>
          </a:p>
        </p:txBody>
      </p:sp>
      <p:sp>
        <p:nvSpPr>
          <p:cNvPr id="8" name="Text 6"/>
          <p:cNvSpPr/>
          <p:nvPr/>
        </p:nvSpPr>
        <p:spPr>
          <a:xfrm>
            <a:off x="256032" y="2066544"/>
            <a:ext cx="1901952" cy="274320"/>
          </a:xfrm>
          <a:prstGeom prst="rect">
            <a:avLst/>
          </a:prstGeom>
          <a:noFill/>
          <a:ln/>
        </p:spPr>
        <p:txBody>
          <a:bodyPr wrap="square" rtlCol="0" anchor="ctr"/>
          <a:lstStyle/>
          <a:p>
            <a:pPr marL="0" indent="0" algn="ctr">
              <a:buNone/>
            </a:pPr>
            <a:r>
              <a:rPr lang="en-US" sz="850" dirty="0">
                <a:solidFill>
                  <a:srgbClr val="FDE68A"/>
                </a:solidFill>
                <a:latin typeface="Calibri" pitchFamily="34" charset="0"/>
                <a:ea typeface="Calibri" pitchFamily="34" charset="-122"/>
                <a:cs typeface="Calibri" pitchFamily="34" charset="-120"/>
              </a:rPr>
              <a:t>Highest installed capacity in the dataset</a:t>
            </a:r>
            <a:endParaRPr lang="en-US" sz="850" dirty="0"/>
          </a:p>
        </p:txBody>
      </p:sp>
      <p:sp>
        <p:nvSpPr>
          <p:cNvPr id="9" name="Shape 7"/>
          <p:cNvSpPr/>
          <p:nvPr/>
        </p:nvSpPr>
        <p:spPr>
          <a:xfrm>
            <a:off x="2395728" y="1078992"/>
            <a:ext cx="2011680" cy="1325880"/>
          </a:xfrm>
          <a:prstGeom prst="rect">
            <a:avLst/>
          </a:prstGeom>
          <a:solidFill>
            <a:srgbClr val="1A2744"/>
          </a:solidFill>
          <a:ln/>
          <a:effectLst>
            <a:outerShdw blurRad="101600" dist="38100" dir="8100000" algn="bl" rotWithShape="0">
              <a:srgbClr val="000000">
                <a:alpha val="12000"/>
              </a:srgbClr>
            </a:outerShdw>
          </a:effectLst>
        </p:spPr>
      </p:sp>
      <p:sp>
        <p:nvSpPr>
          <p:cNvPr id="10" name="Text 8"/>
          <p:cNvSpPr/>
          <p:nvPr/>
        </p:nvSpPr>
        <p:spPr>
          <a:xfrm>
            <a:off x="2395728" y="1216152"/>
            <a:ext cx="2011680" cy="594360"/>
          </a:xfrm>
          <a:prstGeom prst="rect">
            <a:avLst/>
          </a:prstGeom>
          <a:noFill/>
          <a:ln/>
        </p:spPr>
        <p:txBody>
          <a:bodyPr wrap="square" rtlCol="0" anchor="ctr"/>
          <a:lstStyle/>
          <a:p>
            <a:pPr marL="0" indent="0" algn="ctr">
              <a:buNone/>
            </a:pPr>
            <a:r>
              <a:rPr lang="en-US" sz="2200" b="1" dirty="0">
                <a:solidFill>
                  <a:srgbClr val="F5C518"/>
                </a:solidFill>
                <a:latin typeface="Calibri" pitchFamily="34" charset="0"/>
                <a:ea typeface="Calibri" pitchFamily="34" charset="-122"/>
                <a:cs typeface="Calibri" pitchFamily="34" charset="-120"/>
              </a:rPr>
              <a:t>74.60 MW</a:t>
            </a:r>
            <a:endParaRPr lang="en-US" sz="2200" dirty="0"/>
          </a:p>
        </p:txBody>
      </p:sp>
      <p:sp>
        <p:nvSpPr>
          <p:cNvPr id="11" name="Text 9"/>
          <p:cNvSpPr/>
          <p:nvPr/>
        </p:nvSpPr>
        <p:spPr>
          <a:xfrm>
            <a:off x="2468880" y="1792224"/>
            <a:ext cx="1865376"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Max Power Generated</a:t>
            </a:r>
            <a:endParaRPr lang="en-US" sz="1000" dirty="0"/>
          </a:p>
        </p:txBody>
      </p:sp>
      <p:sp>
        <p:nvSpPr>
          <p:cNvPr id="12" name="Text 10"/>
          <p:cNvSpPr/>
          <p:nvPr/>
        </p:nvSpPr>
        <p:spPr>
          <a:xfrm>
            <a:off x="2450592" y="2066544"/>
            <a:ext cx="1901952" cy="274320"/>
          </a:xfrm>
          <a:prstGeom prst="rect">
            <a:avLst/>
          </a:prstGeom>
          <a:noFill/>
          <a:ln/>
        </p:spPr>
        <p:txBody>
          <a:bodyPr wrap="square" rtlCol="0" anchor="ctr"/>
          <a:lstStyle/>
          <a:p>
            <a:pPr marL="0" indent="0" algn="ctr">
              <a:buNone/>
            </a:pPr>
            <a:r>
              <a:rPr lang="en-US" sz="850" dirty="0">
                <a:solidFill>
                  <a:srgbClr val="FDE68A"/>
                </a:solidFill>
                <a:latin typeface="Calibri" pitchFamily="34" charset="0"/>
                <a:ea typeface="Calibri" pitchFamily="34" charset="-122"/>
                <a:cs typeface="Calibri" pitchFamily="34" charset="-120"/>
              </a:rPr>
              <a:t>Highest single power output recorded</a:t>
            </a:r>
            <a:endParaRPr lang="en-US" sz="850" dirty="0"/>
          </a:p>
        </p:txBody>
      </p:sp>
      <p:sp>
        <p:nvSpPr>
          <p:cNvPr id="13" name="Shape 11"/>
          <p:cNvSpPr/>
          <p:nvPr/>
        </p:nvSpPr>
        <p:spPr>
          <a:xfrm>
            <a:off x="4590288" y="1078992"/>
            <a:ext cx="2011680" cy="1325880"/>
          </a:xfrm>
          <a:prstGeom prst="rect">
            <a:avLst/>
          </a:prstGeom>
          <a:solidFill>
            <a:srgbClr val="1A2744"/>
          </a:solidFill>
          <a:ln/>
          <a:effectLst>
            <a:outerShdw blurRad="101600" dist="38100" dir="8100000" algn="bl" rotWithShape="0">
              <a:srgbClr val="000000">
                <a:alpha val="12000"/>
              </a:srgbClr>
            </a:outerShdw>
          </a:effectLst>
        </p:spPr>
      </p:sp>
      <p:sp>
        <p:nvSpPr>
          <p:cNvPr id="14" name="Text 12"/>
          <p:cNvSpPr/>
          <p:nvPr/>
        </p:nvSpPr>
        <p:spPr>
          <a:xfrm>
            <a:off x="4590288" y="1216152"/>
            <a:ext cx="2011680" cy="594360"/>
          </a:xfrm>
          <a:prstGeom prst="rect">
            <a:avLst/>
          </a:prstGeom>
          <a:noFill/>
          <a:ln/>
        </p:spPr>
        <p:txBody>
          <a:bodyPr wrap="square" rtlCol="0" anchor="ctr"/>
          <a:lstStyle/>
          <a:p>
            <a:pPr marL="0" indent="0" algn="ctr">
              <a:buNone/>
            </a:pPr>
            <a:r>
              <a:rPr lang="en-US" sz="2200" b="1" dirty="0">
                <a:solidFill>
                  <a:srgbClr val="F5C518"/>
                </a:solidFill>
                <a:latin typeface="Calibri" pitchFamily="34" charset="0"/>
                <a:ea typeface="Calibri" pitchFamily="34" charset="-122"/>
                <a:cs typeface="Calibri" pitchFamily="34" charset="-120"/>
              </a:rPr>
              <a:t>7.69M MW</a:t>
            </a:r>
            <a:endParaRPr lang="en-US" sz="2200" dirty="0"/>
          </a:p>
        </p:txBody>
      </p:sp>
      <p:sp>
        <p:nvSpPr>
          <p:cNvPr id="15" name="Text 13"/>
          <p:cNvSpPr/>
          <p:nvPr/>
        </p:nvSpPr>
        <p:spPr>
          <a:xfrm>
            <a:off x="4663440" y="1792224"/>
            <a:ext cx="1865376"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Total Sum of Power</a:t>
            </a:r>
            <a:endParaRPr lang="en-US" sz="1000" dirty="0"/>
          </a:p>
        </p:txBody>
      </p:sp>
      <p:sp>
        <p:nvSpPr>
          <p:cNvPr id="16" name="Text 14"/>
          <p:cNvSpPr/>
          <p:nvPr/>
        </p:nvSpPr>
        <p:spPr>
          <a:xfrm>
            <a:off x="4645152" y="2066544"/>
            <a:ext cx="1901952" cy="274320"/>
          </a:xfrm>
          <a:prstGeom prst="rect">
            <a:avLst/>
          </a:prstGeom>
          <a:noFill/>
          <a:ln/>
        </p:spPr>
        <p:txBody>
          <a:bodyPr wrap="square" rtlCol="0" anchor="ctr"/>
          <a:lstStyle/>
          <a:p>
            <a:pPr marL="0" indent="0" algn="ctr">
              <a:buNone/>
            </a:pPr>
            <a:r>
              <a:rPr lang="en-US" sz="850" dirty="0">
                <a:solidFill>
                  <a:srgbClr val="FDE68A"/>
                </a:solidFill>
                <a:latin typeface="Calibri" pitchFamily="34" charset="0"/>
                <a:ea typeface="Calibri" pitchFamily="34" charset="-122"/>
                <a:cs typeface="Calibri" pitchFamily="34" charset="-120"/>
              </a:rPr>
              <a:t>Cumulative power generated across all records</a:t>
            </a:r>
            <a:endParaRPr lang="en-US" sz="850" dirty="0"/>
          </a:p>
        </p:txBody>
      </p:sp>
      <p:sp>
        <p:nvSpPr>
          <p:cNvPr id="17" name="Shape 15"/>
          <p:cNvSpPr/>
          <p:nvPr/>
        </p:nvSpPr>
        <p:spPr>
          <a:xfrm>
            <a:off x="6784848" y="1078992"/>
            <a:ext cx="2011680" cy="1325880"/>
          </a:xfrm>
          <a:prstGeom prst="rect">
            <a:avLst/>
          </a:prstGeom>
          <a:solidFill>
            <a:srgbClr val="1A2744"/>
          </a:solidFill>
          <a:ln/>
          <a:effectLst>
            <a:outerShdw blurRad="101600" dist="38100" dir="8100000" algn="bl" rotWithShape="0">
              <a:srgbClr val="000000">
                <a:alpha val="12000"/>
              </a:srgbClr>
            </a:outerShdw>
          </a:effectLst>
        </p:spPr>
      </p:sp>
      <p:sp>
        <p:nvSpPr>
          <p:cNvPr id="18" name="Text 16"/>
          <p:cNvSpPr/>
          <p:nvPr/>
        </p:nvSpPr>
        <p:spPr>
          <a:xfrm>
            <a:off x="6784848" y="1216152"/>
            <a:ext cx="2011680" cy="594360"/>
          </a:xfrm>
          <a:prstGeom prst="rect">
            <a:avLst/>
          </a:prstGeom>
          <a:noFill/>
          <a:ln/>
        </p:spPr>
        <p:txBody>
          <a:bodyPr wrap="square" rtlCol="0" anchor="ctr"/>
          <a:lstStyle/>
          <a:p>
            <a:pPr marL="0" indent="0" algn="ctr">
              <a:buNone/>
            </a:pPr>
            <a:r>
              <a:rPr lang="en-US" sz="2200" b="1" dirty="0">
                <a:solidFill>
                  <a:srgbClr val="F5C518"/>
                </a:solidFill>
                <a:latin typeface="Calibri" pitchFamily="34" charset="0"/>
                <a:ea typeface="Calibri" pitchFamily="34" charset="-122"/>
                <a:cs typeface="Calibri" pitchFamily="34" charset="-120"/>
              </a:rPr>
              <a:t>7.33 MW</a:t>
            </a:r>
            <a:endParaRPr lang="en-US" sz="2200" dirty="0"/>
          </a:p>
        </p:txBody>
      </p:sp>
      <p:sp>
        <p:nvSpPr>
          <p:cNvPr id="19" name="Text 17"/>
          <p:cNvSpPr/>
          <p:nvPr/>
        </p:nvSpPr>
        <p:spPr>
          <a:xfrm>
            <a:off x="6858000" y="1792224"/>
            <a:ext cx="1865376"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Average Power Output</a:t>
            </a:r>
            <a:endParaRPr lang="en-US" sz="1000" dirty="0"/>
          </a:p>
        </p:txBody>
      </p:sp>
      <p:sp>
        <p:nvSpPr>
          <p:cNvPr id="20" name="Text 18"/>
          <p:cNvSpPr/>
          <p:nvPr/>
        </p:nvSpPr>
        <p:spPr>
          <a:xfrm>
            <a:off x="6839712" y="2066544"/>
            <a:ext cx="1901952" cy="274320"/>
          </a:xfrm>
          <a:prstGeom prst="rect">
            <a:avLst/>
          </a:prstGeom>
          <a:noFill/>
          <a:ln/>
        </p:spPr>
        <p:txBody>
          <a:bodyPr wrap="square" rtlCol="0" anchor="ctr"/>
          <a:lstStyle/>
          <a:p>
            <a:pPr marL="0" indent="0" algn="ctr">
              <a:buNone/>
            </a:pPr>
            <a:r>
              <a:rPr lang="en-US" sz="850" dirty="0">
                <a:solidFill>
                  <a:srgbClr val="FDE68A"/>
                </a:solidFill>
                <a:latin typeface="Calibri" pitchFamily="34" charset="0"/>
                <a:ea typeface="Calibri" pitchFamily="34" charset="-122"/>
                <a:cs typeface="Calibri" pitchFamily="34" charset="-120"/>
              </a:rPr>
              <a:t>Mean power output per record/interval</a:t>
            </a:r>
            <a:endParaRPr lang="en-US" sz="850" dirty="0"/>
          </a:p>
        </p:txBody>
      </p:sp>
      <p:sp>
        <p:nvSpPr>
          <p:cNvPr id="21" name="Shape 19"/>
          <p:cNvSpPr/>
          <p:nvPr/>
        </p:nvSpPr>
        <p:spPr>
          <a:xfrm>
            <a:off x="201168" y="2587752"/>
            <a:ext cx="2011680" cy="1325880"/>
          </a:xfrm>
          <a:prstGeom prst="rect">
            <a:avLst/>
          </a:prstGeom>
          <a:solidFill>
            <a:srgbClr val="243460"/>
          </a:solidFill>
          <a:ln/>
          <a:effectLst>
            <a:outerShdw blurRad="101600" dist="38100" dir="8100000" algn="bl" rotWithShape="0">
              <a:srgbClr val="000000">
                <a:alpha val="12000"/>
              </a:srgbClr>
            </a:outerShdw>
          </a:effectLst>
        </p:spPr>
      </p:sp>
      <p:sp>
        <p:nvSpPr>
          <p:cNvPr id="22" name="Text 20"/>
          <p:cNvSpPr/>
          <p:nvPr/>
        </p:nvSpPr>
        <p:spPr>
          <a:xfrm>
            <a:off x="201168" y="2724912"/>
            <a:ext cx="2011680" cy="594360"/>
          </a:xfrm>
          <a:prstGeom prst="rect">
            <a:avLst/>
          </a:prstGeom>
          <a:noFill/>
          <a:ln/>
        </p:spPr>
        <p:txBody>
          <a:bodyPr wrap="square" rtlCol="0" anchor="ctr"/>
          <a:lstStyle/>
          <a:p>
            <a:pPr marL="0" indent="0" algn="ctr">
              <a:buNone/>
            </a:pPr>
            <a:r>
              <a:rPr lang="en-US" sz="2200" b="1" dirty="0">
                <a:solidFill>
                  <a:srgbClr val="F5C518"/>
                </a:solidFill>
                <a:latin typeface="Calibri" pitchFamily="34" charset="0"/>
                <a:ea typeface="Calibri" pitchFamily="34" charset="-122"/>
                <a:cs typeface="Calibri" pitchFamily="34" charset="-120"/>
              </a:rPr>
              <a:t>0.50M MW</a:t>
            </a:r>
            <a:endParaRPr lang="en-US" sz="2200" dirty="0"/>
          </a:p>
        </p:txBody>
      </p:sp>
      <p:sp>
        <p:nvSpPr>
          <p:cNvPr id="23" name="Text 21"/>
          <p:cNvSpPr/>
          <p:nvPr/>
        </p:nvSpPr>
        <p:spPr>
          <a:xfrm>
            <a:off x="274320" y="3300984"/>
            <a:ext cx="1865376"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Monthly Min</a:t>
            </a:r>
            <a:endParaRPr lang="en-US" sz="1000" dirty="0"/>
          </a:p>
        </p:txBody>
      </p:sp>
      <p:sp>
        <p:nvSpPr>
          <p:cNvPr id="24" name="Text 22"/>
          <p:cNvSpPr/>
          <p:nvPr/>
        </p:nvSpPr>
        <p:spPr>
          <a:xfrm>
            <a:off x="256032" y="3575304"/>
            <a:ext cx="1901952" cy="274320"/>
          </a:xfrm>
          <a:prstGeom prst="rect">
            <a:avLst/>
          </a:prstGeom>
          <a:noFill/>
          <a:ln/>
        </p:spPr>
        <p:txBody>
          <a:bodyPr wrap="square" rtlCol="0" anchor="ctr"/>
          <a:lstStyle/>
          <a:p>
            <a:pPr marL="0" indent="0" algn="ctr">
              <a:buNone/>
            </a:pPr>
            <a:r>
              <a:rPr lang="en-US" sz="850" dirty="0">
                <a:solidFill>
                  <a:srgbClr val="FDE68A"/>
                </a:solidFill>
                <a:latin typeface="Calibri" pitchFamily="34" charset="0"/>
                <a:ea typeface="Calibri" pitchFamily="34" charset="-122"/>
                <a:cs typeface="Calibri" pitchFamily="34" charset="-120"/>
              </a:rPr>
              <a:t>Lowest monthly generation — December</a:t>
            </a:r>
            <a:endParaRPr lang="en-US" sz="850" dirty="0"/>
          </a:p>
        </p:txBody>
      </p:sp>
      <p:sp>
        <p:nvSpPr>
          <p:cNvPr id="25" name="Shape 23"/>
          <p:cNvSpPr/>
          <p:nvPr/>
        </p:nvSpPr>
        <p:spPr>
          <a:xfrm>
            <a:off x="2395728" y="2587752"/>
            <a:ext cx="2011680" cy="1325880"/>
          </a:xfrm>
          <a:prstGeom prst="rect">
            <a:avLst/>
          </a:prstGeom>
          <a:solidFill>
            <a:srgbClr val="243460"/>
          </a:solidFill>
          <a:ln/>
          <a:effectLst>
            <a:outerShdw blurRad="101600" dist="38100" dir="8100000" algn="bl" rotWithShape="0">
              <a:srgbClr val="000000">
                <a:alpha val="12000"/>
              </a:srgbClr>
            </a:outerShdw>
          </a:effectLst>
        </p:spPr>
      </p:sp>
      <p:sp>
        <p:nvSpPr>
          <p:cNvPr id="26" name="Text 24"/>
          <p:cNvSpPr/>
          <p:nvPr/>
        </p:nvSpPr>
        <p:spPr>
          <a:xfrm>
            <a:off x="2395728" y="2724912"/>
            <a:ext cx="2011680" cy="594360"/>
          </a:xfrm>
          <a:prstGeom prst="rect">
            <a:avLst/>
          </a:prstGeom>
          <a:noFill/>
          <a:ln/>
        </p:spPr>
        <p:txBody>
          <a:bodyPr wrap="square" rtlCol="0" anchor="ctr"/>
          <a:lstStyle/>
          <a:p>
            <a:pPr marL="0" indent="0" algn="ctr">
              <a:buNone/>
            </a:pPr>
            <a:r>
              <a:rPr lang="en-US" sz="2200" b="1" dirty="0">
                <a:solidFill>
                  <a:srgbClr val="F5C518"/>
                </a:solidFill>
                <a:latin typeface="Calibri" pitchFamily="34" charset="0"/>
                <a:ea typeface="Calibri" pitchFamily="34" charset="-122"/>
                <a:cs typeface="Calibri" pitchFamily="34" charset="-120"/>
              </a:rPr>
              <a:t>0.80M MW</a:t>
            </a:r>
            <a:endParaRPr lang="en-US" sz="2200" dirty="0"/>
          </a:p>
        </p:txBody>
      </p:sp>
      <p:sp>
        <p:nvSpPr>
          <p:cNvPr id="27" name="Text 25"/>
          <p:cNvSpPr/>
          <p:nvPr/>
        </p:nvSpPr>
        <p:spPr>
          <a:xfrm>
            <a:off x="2468880" y="3300984"/>
            <a:ext cx="1865376"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Monthly Max</a:t>
            </a:r>
            <a:endParaRPr lang="en-US" sz="1000" dirty="0"/>
          </a:p>
        </p:txBody>
      </p:sp>
      <p:sp>
        <p:nvSpPr>
          <p:cNvPr id="28" name="Text 26"/>
          <p:cNvSpPr/>
          <p:nvPr/>
        </p:nvSpPr>
        <p:spPr>
          <a:xfrm>
            <a:off x="2450592" y="3575304"/>
            <a:ext cx="1901952" cy="274320"/>
          </a:xfrm>
          <a:prstGeom prst="rect">
            <a:avLst/>
          </a:prstGeom>
          <a:noFill/>
          <a:ln/>
        </p:spPr>
        <p:txBody>
          <a:bodyPr wrap="square" rtlCol="0" anchor="ctr"/>
          <a:lstStyle/>
          <a:p>
            <a:pPr marL="0" indent="0" algn="ctr">
              <a:buNone/>
            </a:pPr>
            <a:r>
              <a:rPr lang="en-US" sz="850" dirty="0">
                <a:solidFill>
                  <a:srgbClr val="FDE68A"/>
                </a:solidFill>
                <a:latin typeface="Calibri" pitchFamily="34" charset="0"/>
                <a:ea typeface="Calibri" pitchFamily="34" charset="-122"/>
                <a:cs typeface="Calibri" pitchFamily="34" charset="-120"/>
              </a:rPr>
              <a:t>Highest monthly generation — May</a:t>
            </a:r>
            <a:endParaRPr lang="en-US" sz="850" dirty="0"/>
          </a:p>
        </p:txBody>
      </p:sp>
      <p:sp>
        <p:nvSpPr>
          <p:cNvPr id="29" name="Shape 27"/>
          <p:cNvSpPr/>
          <p:nvPr/>
        </p:nvSpPr>
        <p:spPr>
          <a:xfrm>
            <a:off x="4590288" y="2587752"/>
            <a:ext cx="2011680" cy="1325880"/>
          </a:xfrm>
          <a:prstGeom prst="rect">
            <a:avLst/>
          </a:prstGeom>
          <a:solidFill>
            <a:srgbClr val="243460"/>
          </a:solidFill>
          <a:ln/>
          <a:effectLst>
            <a:outerShdw blurRad="101600" dist="38100" dir="8100000" algn="bl" rotWithShape="0">
              <a:srgbClr val="000000">
                <a:alpha val="12000"/>
              </a:srgbClr>
            </a:outerShdw>
          </a:effectLst>
        </p:spPr>
      </p:sp>
      <p:sp>
        <p:nvSpPr>
          <p:cNvPr id="30" name="Text 28"/>
          <p:cNvSpPr/>
          <p:nvPr/>
        </p:nvSpPr>
        <p:spPr>
          <a:xfrm>
            <a:off x="4590288" y="2724912"/>
            <a:ext cx="2011680" cy="594360"/>
          </a:xfrm>
          <a:prstGeom prst="rect">
            <a:avLst/>
          </a:prstGeom>
          <a:noFill/>
          <a:ln/>
        </p:spPr>
        <p:txBody>
          <a:bodyPr wrap="square" rtlCol="0" anchor="ctr"/>
          <a:lstStyle/>
          <a:p>
            <a:pPr marL="0" indent="0" algn="ctr">
              <a:buNone/>
            </a:pPr>
            <a:r>
              <a:rPr lang="en-US" sz="2200" b="1" dirty="0">
                <a:solidFill>
                  <a:srgbClr val="F5C518"/>
                </a:solidFill>
                <a:latin typeface="Calibri" pitchFamily="34" charset="0"/>
                <a:ea typeface="Calibri" pitchFamily="34" charset="-122"/>
                <a:cs typeface="Calibri" pitchFamily="34" charset="-120"/>
              </a:rPr>
              <a:t>0.14M MW</a:t>
            </a:r>
            <a:endParaRPr lang="en-US" sz="2200" dirty="0"/>
          </a:p>
        </p:txBody>
      </p:sp>
      <p:sp>
        <p:nvSpPr>
          <p:cNvPr id="31" name="Text 29"/>
          <p:cNvSpPr/>
          <p:nvPr/>
        </p:nvSpPr>
        <p:spPr>
          <a:xfrm>
            <a:off x="4663440" y="3300984"/>
            <a:ext cx="1865376"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Daily Min</a:t>
            </a:r>
            <a:endParaRPr lang="en-US" sz="1000" dirty="0"/>
          </a:p>
        </p:txBody>
      </p:sp>
      <p:sp>
        <p:nvSpPr>
          <p:cNvPr id="32" name="Text 30"/>
          <p:cNvSpPr/>
          <p:nvPr/>
        </p:nvSpPr>
        <p:spPr>
          <a:xfrm>
            <a:off x="4645152" y="3575304"/>
            <a:ext cx="1901952" cy="274320"/>
          </a:xfrm>
          <a:prstGeom prst="rect">
            <a:avLst/>
          </a:prstGeom>
          <a:noFill/>
          <a:ln/>
        </p:spPr>
        <p:txBody>
          <a:bodyPr wrap="square" rtlCol="0" anchor="ctr"/>
          <a:lstStyle/>
          <a:p>
            <a:pPr marL="0" indent="0" algn="ctr">
              <a:buNone/>
            </a:pPr>
            <a:r>
              <a:rPr lang="en-US" sz="850" dirty="0">
                <a:solidFill>
                  <a:srgbClr val="FDE68A"/>
                </a:solidFill>
                <a:latin typeface="Calibri" pitchFamily="34" charset="0"/>
                <a:ea typeface="Calibri" pitchFamily="34" charset="-122"/>
                <a:cs typeface="Calibri" pitchFamily="34" charset="-120"/>
              </a:rPr>
              <a:t>Lowest daily sum (end-of-month pattern)</a:t>
            </a:r>
            <a:endParaRPr lang="en-US" sz="850" dirty="0"/>
          </a:p>
        </p:txBody>
      </p:sp>
      <p:sp>
        <p:nvSpPr>
          <p:cNvPr id="33" name="Shape 31"/>
          <p:cNvSpPr/>
          <p:nvPr/>
        </p:nvSpPr>
        <p:spPr>
          <a:xfrm>
            <a:off x="6784848" y="2587752"/>
            <a:ext cx="2011680" cy="1325880"/>
          </a:xfrm>
          <a:prstGeom prst="rect">
            <a:avLst/>
          </a:prstGeom>
          <a:solidFill>
            <a:srgbClr val="243460"/>
          </a:solidFill>
          <a:ln/>
          <a:effectLst>
            <a:outerShdw blurRad="101600" dist="38100" dir="8100000" algn="bl" rotWithShape="0">
              <a:srgbClr val="000000">
                <a:alpha val="12000"/>
              </a:srgbClr>
            </a:outerShdw>
          </a:effectLst>
        </p:spPr>
      </p:sp>
      <p:sp>
        <p:nvSpPr>
          <p:cNvPr id="34" name="Text 32"/>
          <p:cNvSpPr/>
          <p:nvPr/>
        </p:nvSpPr>
        <p:spPr>
          <a:xfrm>
            <a:off x="6784848" y="2724912"/>
            <a:ext cx="2011680" cy="594360"/>
          </a:xfrm>
          <a:prstGeom prst="rect">
            <a:avLst/>
          </a:prstGeom>
          <a:noFill/>
          <a:ln/>
        </p:spPr>
        <p:txBody>
          <a:bodyPr wrap="square" rtlCol="0" anchor="ctr"/>
          <a:lstStyle/>
          <a:p>
            <a:pPr marL="0" indent="0" algn="ctr">
              <a:buNone/>
            </a:pPr>
            <a:r>
              <a:rPr lang="en-US" sz="2200" b="1" dirty="0">
                <a:solidFill>
                  <a:srgbClr val="F5C518"/>
                </a:solidFill>
                <a:latin typeface="Calibri" pitchFamily="34" charset="0"/>
                <a:ea typeface="Calibri" pitchFamily="34" charset="-122"/>
                <a:cs typeface="Calibri" pitchFamily="34" charset="-120"/>
              </a:rPr>
              <a:t>0.32M MW</a:t>
            </a:r>
            <a:endParaRPr lang="en-US" sz="2200" dirty="0"/>
          </a:p>
        </p:txBody>
      </p:sp>
      <p:sp>
        <p:nvSpPr>
          <p:cNvPr id="35" name="Text 33"/>
          <p:cNvSpPr/>
          <p:nvPr/>
        </p:nvSpPr>
        <p:spPr>
          <a:xfrm>
            <a:off x="6858000" y="3300984"/>
            <a:ext cx="1865376"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Daily Max</a:t>
            </a:r>
            <a:endParaRPr lang="en-US" sz="1000" dirty="0"/>
          </a:p>
        </p:txBody>
      </p:sp>
      <p:sp>
        <p:nvSpPr>
          <p:cNvPr id="36" name="Text 34"/>
          <p:cNvSpPr/>
          <p:nvPr/>
        </p:nvSpPr>
        <p:spPr>
          <a:xfrm>
            <a:off x="6839712" y="3575304"/>
            <a:ext cx="1901952" cy="274320"/>
          </a:xfrm>
          <a:prstGeom prst="rect">
            <a:avLst/>
          </a:prstGeom>
          <a:noFill/>
          <a:ln/>
        </p:spPr>
        <p:txBody>
          <a:bodyPr wrap="square" rtlCol="0" anchor="ctr"/>
          <a:lstStyle/>
          <a:p>
            <a:pPr marL="0" indent="0" algn="ctr">
              <a:buNone/>
            </a:pPr>
            <a:r>
              <a:rPr lang="en-US" sz="850" dirty="0">
                <a:solidFill>
                  <a:srgbClr val="FDE68A"/>
                </a:solidFill>
                <a:latin typeface="Calibri" pitchFamily="34" charset="0"/>
                <a:ea typeface="Calibri" pitchFamily="34" charset="-122"/>
                <a:cs typeface="Calibri" pitchFamily="34" charset="-120"/>
              </a:rPr>
              <a:t>Highest single-day generation (~Day 5)</a:t>
            </a:r>
            <a:endParaRPr lang="en-US" sz="850" dirty="0"/>
          </a:p>
        </p:txBody>
      </p:sp>
      <p:sp>
        <p:nvSpPr>
          <p:cNvPr id="37" name="Shape 35"/>
          <p:cNvSpPr/>
          <p:nvPr/>
        </p:nvSpPr>
        <p:spPr>
          <a:xfrm>
            <a:off x="201168" y="4206240"/>
            <a:ext cx="8741664" cy="685800"/>
          </a:xfrm>
          <a:prstGeom prst="rect">
            <a:avLst/>
          </a:prstGeom>
          <a:solidFill>
            <a:srgbClr val="E87C1E"/>
          </a:solidFill>
          <a:ln/>
        </p:spPr>
      </p:sp>
      <p:sp>
        <p:nvSpPr>
          <p:cNvPr id="38" name="Text 36"/>
          <p:cNvSpPr/>
          <p:nvPr/>
        </p:nvSpPr>
        <p:spPr>
          <a:xfrm>
            <a:off x="365760" y="4251960"/>
            <a:ext cx="8412480" cy="59436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Key Insight: The capacity utilization rate is approximately 91.5% (74.60/80 MW). Monthly output varies by 60%, underscoring strong seasonal dependency. Average hourly output of 7.33 MW reflects a healthy mid-scale solar portfolio.</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744"/>
          </a:solidFill>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3000" b="1" dirty="0">
                <a:solidFill>
                  <a:srgbClr val="F5C518"/>
                </a:solidFill>
                <a:latin typeface="Calibri" pitchFamily="34" charset="0"/>
                <a:ea typeface="Calibri" pitchFamily="34" charset="-122"/>
                <a:cs typeface="Calibri" pitchFamily="34" charset="-120"/>
              </a:rPr>
              <a:t>DATA UNDERSTANDING</a:t>
            </a:r>
            <a:endParaRPr lang="en-US" sz="30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E8E4DA"/>
                </a:solidFill>
              </a:rPr>
              <a:t>Column Explanations &amp; Variable Relationships</a:t>
            </a:r>
            <a:endParaRPr lang="en-US" sz="1300" dirty="0"/>
          </a:p>
        </p:txBody>
      </p:sp>
      <p:sp>
        <p:nvSpPr>
          <p:cNvPr id="5" name="Shape 3"/>
          <p:cNvSpPr/>
          <p:nvPr/>
        </p:nvSpPr>
        <p:spPr>
          <a:xfrm>
            <a:off x="274320" y="1051560"/>
            <a:ext cx="5303520" cy="388620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274320" y="1051560"/>
            <a:ext cx="5303520" cy="365760"/>
          </a:xfrm>
          <a:prstGeom prst="rect">
            <a:avLst/>
          </a:prstGeom>
          <a:solidFill>
            <a:srgbClr val="E87C1E"/>
          </a:solidFill>
          <a:ln/>
        </p:spPr>
      </p:sp>
      <p:sp>
        <p:nvSpPr>
          <p:cNvPr id="7" name="Text 5"/>
          <p:cNvSpPr/>
          <p:nvPr/>
        </p:nvSpPr>
        <p:spPr>
          <a:xfrm>
            <a:off x="365760" y="1078992"/>
            <a:ext cx="512064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Column-Level Explanations</a:t>
            </a:r>
            <a:endParaRPr lang="en-US" sz="1200" dirty="0"/>
          </a:p>
        </p:txBody>
      </p:sp>
      <p:sp>
        <p:nvSpPr>
          <p:cNvPr id="8" name="Shape 6"/>
          <p:cNvSpPr/>
          <p:nvPr/>
        </p:nvSpPr>
        <p:spPr>
          <a:xfrm>
            <a:off x="347472" y="1508760"/>
            <a:ext cx="960120" cy="438912"/>
          </a:xfrm>
          <a:prstGeom prst="rect">
            <a:avLst/>
          </a:prstGeom>
          <a:solidFill>
            <a:srgbClr val="1A2744">
              <a:alpha val="90000"/>
            </a:srgbClr>
          </a:solidFill>
          <a:ln/>
        </p:spPr>
      </p:sp>
      <p:sp>
        <p:nvSpPr>
          <p:cNvPr id="9" name="Text 7"/>
          <p:cNvSpPr/>
          <p:nvPr/>
        </p:nvSpPr>
        <p:spPr>
          <a:xfrm>
            <a:off x="347472" y="1563624"/>
            <a:ext cx="960120" cy="329184"/>
          </a:xfrm>
          <a:prstGeom prst="rect">
            <a:avLst/>
          </a:prstGeom>
          <a:noFill/>
          <a:ln/>
        </p:spPr>
        <p:txBody>
          <a:bodyPr wrap="square" rtlCol="0" anchor="ctr"/>
          <a:lstStyle/>
          <a:p>
            <a:pPr marL="0" indent="0" algn="ctr">
              <a:buNone/>
            </a:pPr>
            <a:r>
              <a:rPr lang="en-US" sz="900" b="1" dirty="0">
                <a:solidFill>
                  <a:srgbClr val="F5C518"/>
                </a:solidFill>
                <a:latin typeface="Calibri" pitchFamily="34" charset="0"/>
                <a:ea typeface="Calibri" pitchFamily="34" charset="-122"/>
                <a:cs typeface="Calibri" pitchFamily="34" charset="-120"/>
              </a:rPr>
              <a:t>power_mw</a:t>
            </a:r>
            <a:endParaRPr lang="en-US" sz="900" dirty="0"/>
          </a:p>
        </p:txBody>
      </p:sp>
      <p:sp>
        <p:nvSpPr>
          <p:cNvPr id="10" name="Text 8"/>
          <p:cNvSpPr/>
          <p:nvPr/>
        </p:nvSpPr>
        <p:spPr>
          <a:xfrm>
            <a:off x="1371600" y="1545336"/>
            <a:ext cx="4114800" cy="384048"/>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The core dependent variable representing actual megawatts generated. Ranges from near 0 (nighttime) to 74.60 MW (peak day).</a:t>
            </a:r>
            <a:endParaRPr lang="en-US" sz="1000" dirty="0"/>
          </a:p>
        </p:txBody>
      </p:sp>
      <p:sp>
        <p:nvSpPr>
          <p:cNvPr id="11" name="Shape 9"/>
          <p:cNvSpPr/>
          <p:nvPr/>
        </p:nvSpPr>
        <p:spPr>
          <a:xfrm>
            <a:off x="347472" y="2075688"/>
            <a:ext cx="960120" cy="438912"/>
          </a:xfrm>
          <a:prstGeom prst="rect">
            <a:avLst/>
          </a:prstGeom>
          <a:solidFill>
            <a:srgbClr val="1A2744">
              <a:alpha val="90000"/>
            </a:srgbClr>
          </a:solidFill>
          <a:ln/>
        </p:spPr>
      </p:sp>
      <p:sp>
        <p:nvSpPr>
          <p:cNvPr id="12" name="Text 10"/>
          <p:cNvSpPr/>
          <p:nvPr/>
        </p:nvSpPr>
        <p:spPr>
          <a:xfrm>
            <a:off x="347472" y="2130552"/>
            <a:ext cx="960120" cy="329184"/>
          </a:xfrm>
          <a:prstGeom prst="rect">
            <a:avLst/>
          </a:prstGeom>
          <a:noFill/>
          <a:ln/>
        </p:spPr>
        <p:txBody>
          <a:bodyPr wrap="square" rtlCol="0" anchor="ctr"/>
          <a:lstStyle/>
          <a:p>
            <a:pPr marL="0" indent="0" algn="ctr">
              <a:buNone/>
            </a:pPr>
            <a:r>
              <a:rPr lang="en-US" sz="900" b="1" dirty="0">
                <a:solidFill>
                  <a:srgbClr val="F5C518"/>
                </a:solidFill>
                <a:latin typeface="Calibri" pitchFamily="34" charset="0"/>
                <a:ea typeface="Calibri" pitchFamily="34" charset="-122"/>
                <a:cs typeface="Calibri" pitchFamily="34" charset="-120"/>
              </a:rPr>
              <a:t>capacity_mw</a:t>
            </a:r>
            <a:endParaRPr lang="en-US" sz="900" dirty="0"/>
          </a:p>
        </p:txBody>
      </p:sp>
      <p:sp>
        <p:nvSpPr>
          <p:cNvPr id="13" name="Text 11"/>
          <p:cNvSpPr/>
          <p:nvPr/>
        </p:nvSpPr>
        <p:spPr>
          <a:xfrm>
            <a:off x="1371600" y="2112264"/>
            <a:ext cx="4114800" cy="384048"/>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The installed rated power of the site. Two distinct clusters: ~66.67 MW (UPV) and ~36.85 MW (DPV). Acts as the performance ceiling.</a:t>
            </a:r>
            <a:endParaRPr lang="en-US" sz="1000" dirty="0"/>
          </a:p>
        </p:txBody>
      </p:sp>
      <p:sp>
        <p:nvSpPr>
          <p:cNvPr id="14" name="Shape 12"/>
          <p:cNvSpPr/>
          <p:nvPr/>
        </p:nvSpPr>
        <p:spPr>
          <a:xfrm>
            <a:off x="347472" y="2642616"/>
            <a:ext cx="960120" cy="438912"/>
          </a:xfrm>
          <a:prstGeom prst="rect">
            <a:avLst/>
          </a:prstGeom>
          <a:solidFill>
            <a:srgbClr val="1A2744">
              <a:alpha val="90000"/>
            </a:srgbClr>
          </a:solidFill>
          <a:ln/>
        </p:spPr>
      </p:sp>
      <p:sp>
        <p:nvSpPr>
          <p:cNvPr id="15" name="Text 13"/>
          <p:cNvSpPr/>
          <p:nvPr/>
        </p:nvSpPr>
        <p:spPr>
          <a:xfrm>
            <a:off x="347472" y="2697480"/>
            <a:ext cx="960120" cy="329184"/>
          </a:xfrm>
          <a:prstGeom prst="rect">
            <a:avLst/>
          </a:prstGeom>
          <a:noFill/>
          <a:ln/>
        </p:spPr>
        <p:txBody>
          <a:bodyPr wrap="square" rtlCol="0" anchor="ctr"/>
          <a:lstStyle/>
          <a:p>
            <a:pPr marL="0" indent="0" algn="ctr">
              <a:buNone/>
            </a:pPr>
            <a:r>
              <a:rPr lang="en-US" sz="900" b="1" dirty="0">
                <a:solidFill>
                  <a:srgbClr val="F5C518"/>
                </a:solidFill>
                <a:latin typeface="Calibri" pitchFamily="34" charset="0"/>
                <a:ea typeface="Calibri" pitchFamily="34" charset="-122"/>
                <a:cs typeface="Calibri" pitchFamily="34" charset="-120"/>
              </a:rPr>
              <a:t>site_type</a:t>
            </a:r>
            <a:endParaRPr lang="en-US" sz="900" dirty="0"/>
          </a:p>
        </p:txBody>
      </p:sp>
      <p:sp>
        <p:nvSpPr>
          <p:cNvPr id="16" name="Text 14"/>
          <p:cNvSpPr/>
          <p:nvPr/>
        </p:nvSpPr>
        <p:spPr>
          <a:xfrm>
            <a:off x="1371600" y="2679192"/>
            <a:ext cx="4114800" cy="384048"/>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A categorical feature with two values: UPV (Utility-Scale) and DPV (Distributed). Critical for comparative analysis.</a:t>
            </a:r>
            <a:endParaRPr lang="en-US" sz="1000" dirty="0"/>
          </a:p>
        </p:txBody>
      </p:sp>
      <p:sp>
        <p:nvSpPr>
          <p:cNvPr id="17" name="Shape 15"/>
          <p:cNvSpPr/>
          <p:nvPr/>
        </p:nvSpPr>
        <p:spPr>
          <a:xfrm>
            <a:off x="347472" y="3209544"/>
            <a:ext cx="960120" cy="438912"/>
          </a:xfrm>
          <a:prstGeom prst="rect">
            <a:avLst/>
          </a:prstGeom>
          <a:solidFill>
            <a:srgbClr val="1A2744">
              <a:alpha val="90000"/>
            </a:srgbClr>
          </a:solidFill>
          <a:ln/>
        </p:spPr>
      </p:sp>
      <p:sp>
        <p:nvSpPr>
          <p:cNvPr id="18" name="Text 16"/>
          <p:cNvSpPr/>
          <p:nvPr/>
        </p:nvSpPr>
        <p:spPr>
          <a:xfrm>
            <a:off x="347472" y="3264408"/>
            <a:ext cx="960120" cy="329184"/>
          </a:xfrm>
          <a:prstGeom prst="rect">
            <a:avLst/>
          </a:prstGeom>
          <a:noFill/>
          <a:ln/>
        </p:spPr>
        <p:txBody>
          <a:bodyPr wrap="square" rtlCol="0" anchor="ctr"/>
          <a:lstStyle/>
          <a:p>
            <a:pPr marL="0" indent="0" algn="ctr">
              <a:buNone/>
            </a:pPr>
            <a:r>
              <a:rPr lang="en-US" sz="900" b="1" dirty="0">
                <a:solidFill>
                  <a:srgbClr val="F5C518"/>
                </a:solidFill>
                <a:latin typeface="Calibri" pitchFamily="34" charset="0"/>
                <a:ea typeface="Calibri" pitchFamily="34" charset="-122"/>
                <a:cs typeface="Calibri" pitchFamily="34" charset="-120"/>
              </a:rPr>
              <a:t>hour</a:t>
            </a:r>
            <a:endParaRPr lang="en-US" sz="900" dirty="0"/>
          </a:p>
        </p:txBody>
      </p:sp>
      <p:sp>
        <p:nvSpPr>
          <p:cNvPr id="19" name="Text 17"/>
          <p:cNvSpPr/>
          <p:nvPr/>
        </p:nvSpPr>
        <p:spPr>
          <a:xfrm>
            <a:off x="1371600" y="3246120"/>
            <a:ext cx="4114800" cy="384048"/>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Key driver of intra-day variation. Power rises from Hour 5–6, peaks at Hour 13, and declines to 0 by Hour 20.</a:t>
            </a:r>
            <a:endParaRPr lang="en-US" sz="1000" dirty="0"/>
          </a:p>
        </p:txBody>
      </p:sp>
      <p:sp>
        <p:nvSpPr>
          <p:cNvPr id="20" name="Shape 18"/>
          <p:cNvSpPr/>
          <p:nvPr/>
        </p:nvSpPr>
        <p:spPr>
          <a:xfrm>
            <a:off x="347472" y="3776472"/>
            <a:ext cx="960120" cy="438912"/>
          </a:xfrm>
          <a:prstGeom prst="rect">
            <a:avLst/>
          </a:prstGeom>
          <a:solidFill>
            <a:srgbClr val="1A2744">
              <a:alpha val="90000"/>
            </a:srgbClr>
          </a:solidFill>
          <a:ln/>
        </p:spPr>
      </p:sp>
      <p:sp>
        <p:nvSpPr>
          <p:cNvPr id="21" name="Text 19"/>
          <p:cNvSpPr/>
          <p:nvPr/>
        </p:nvSpPr>
        <p:spPr>
          <a:xfrm>
            <a:off x="347472" y="3831336"/>
            <a:ext cx="960120" cy="329184"/>
          </a:xfrm>
          <a:prstGeom prst="rect">
            <a:avLst/>
          </a:prstGeom>
          <a:noFill/>
          <a:ln/>
        </p:spPr>
        <p:txBody>
          <a:bodyPr wrap="square" rtlCol="0" anchor="ctr"/>
          <a:lstStyle/>
          <a:p>
            <a:pPr marL="0" indent="0" algn="ctr">
              <a:buNone/>
            </a:pPr>
            <a:r>
              <a:rPr lang="en-US" sz="900" b="1" dirty="0">
                <a:solidFill>
                  <a:srgbClr val="F5C518"/>
                </a:solidFill>
                <a:latin typeface="Calibri" pitchFamily="34" charset="0"/>
                <a:ea typeface="Calibri" pitchFamily="34" charset="-122"/>
                <a:cs typeface="Calibri" pitchFamily="34" charset="-120"/>
              </a:rPr>
              <a:t>month</a:t>
            </a:r>
            <a:endParaRPr lang="en-US" sz="900" dirty="0"/>
          </a:p>
        </p:txBody>
      </p:sp>
      <p:sp>
        <p:nvSpPr>
          <p:cNvPr id="22" name="Text 20"/>
          <p:cNvSpPr/>
          <p:nvPr/>
        </p:nvSpPr>
        <p:spPr>
          <a:xfrm>
            <a:off x="1371600" y="3813048"/>
            <a:ext cx="4114800" cy="384048"/>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Seasonal regressor. Generation increases steadily from December to May, likely tied to solar irradiance and daylight duration.</a:t>
            </a:r>
            <a:endParaRPr lang="en-US" sz="1000" dirty="0"/>
          </a:p>
        </p:txBody>
      </p:sp>
      <p:sp>
        <p:nvSpPr>
          <p:cNvPr id="23" name="Shape 21"/>
          <p:cNvSpPr/>
          <p:nvPr/>
        </p:nvSpPr>
        <p:spPr>
          <a:xfrm>
            <a:off x="347472" y="4343400"/>
            <a:ext cx="960120" cy="438912"/>
          </a:xfrm>
          <a:prstGeom prst="rect">
            <a:avLst/>
          </a:prstGeom>
          <a:solidFill>
            <a:srgbClr val="1A2744">
              <a:alpha val="90000"/>
            </a:srgbClr>
          </a:solidFill>
          <a:ln/>
        </p:spPr>
      </p:sp>
      <p:sp>
        <p:nvSpPr>
          <p:cNvPr id="24" name="Text 22"/>
          <p:cNvSpPr/>
          <p:nvPr/>
        </p:nvSpPr>
        <p:spPr>
          <a:xfrm>
            <a:off x="347472" y="4398264"/>
            <a:ext cx="960120" cy="329184"/>
          </a:xfrm>
          <a:prstGeom prst="rect">
            <a:avLst/>
          </a:prstGeom>
          <a:noFill/>
          <a:ln/>
        </p:spPr>
        <p:txBody>
          <a:bodyPr wrap="square" rtlCol="0" anchor="ctr"/>
          <a:lstStyle/>
          <a:p>
            <a:pPr marL="0" indent="0" algn="ctr">
              <a:buNone/>
            </a:pPr>
            <a:r>
              <a:rPr lang="en-US" sz="900" b="1" dirty="0">
                <a:solidFill>
                  <a:srgbClr val="F5C518"/>
                </a:solidFill>
                <a:latin typeface="Calibri" pitchFamily="34" charset="0"/>
                <a:ea typeface="Calibri" pitchFamily="34" charset="-122"/>
                <a:cs typeface="Calibri" pitchFamily="34" charset="-120"/>
              </a:rPr>
              <a:t>day</a:t>
            </a:r>
            <a:endParaRPr lang="en-US" sz="900" dirty="0"/>
          </a:p>
        </p:txBody>
      </p:sp>
      <p:sp>
        <p:nvSpPr>
          <p:cNvPr id="25" name="Text 23"/>
          <p:cNvSpPr/>
          <p:nvPr/>
        </p:nvSpPr>
        <p:spPr>
          <a:xfrm>
            <a:off x="1371600" y="4379976"/>
            <a:ext cx="4114800" cy="384048"/>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Shows daily fluctuations and highlights the anomalous decline toward Day 30 requiring further investigation.</a:t>
            </a:r>
            <a:endParaRPr lang="en-US" sz="1000" dirty="0"/>
          </a:p>
        </p:txBody>
      </p:sp>
      <p:sp>
        <p:nvSpPr>
          <p:cNvPr id="26" name="Shape 24"/>
          <p:cNvSpPr/>
          <p:nvPr/>
        </p:nvSpPr>
        <p:spPr>
          <a:xfrm>
            <a:off x="5806440" y="1051560"/>
            <a:ext cx="3063240" cy="3886200"/>
          </a:xfrm>
          <a:prstGeom prst="rect">
            <a:avLst/>
          </a:prstGeom>
          <a:solidFill>
            <a:srgbClr val="1A2744"/>
          </a:solidFill>
          <a:ln/>
          <a:effectLst>
            <a:outerShdw blurRad="101600" dist="38100" dir="8100000" algn="bl" rotWithShape="0">
              <a:srgbClr val="000000">
                <a:alpha val="12000"/>
              </a:srgbClr>
            </a:outerShdw>
          </a:effectLst>
        </p:spPr>
      </p:sp>
      <p:sp>
        <p:nvSpPr>
          <p:cNvPr id="27" name="Shape 25"/>
          <p:cNvSpPr/>
          <p:nvPr/>
        </p:nvSpPr>
        <p:spPr>
          <a:xfrm>
            <a:off x="5806440" y="1051560"/>
            <a:ext cx="3063240" cy="365760"/>
          </a:xfrm>
          <a:prstGeom prst="rect">
            <a:avLst/>
          </a:prstGeom>
          <a:solidFill>
            <a:srgbClr val="243460"/>
          </a:solidFill>
          <a:ln/>
        </p:spPr>
      </p:sp>
      <p:sp>
        <p:nvSpPr>
          <p:cNvPr id="28" name="Text 26"/>
          <p:cNvSpPr/>
          <p:nvPr/>
        </p:nvSpPr>
        <p:spPr>
          <a:xfrm>
            <a:off x="5897880" y="1078992"/>
            <a:ext cx="2880360" cy="310896"/>
          </a:xfrm>
          <a:prstGeom prst="rect">
            <a:avLst/>
          </a:prstGeom>
          <a:noFill/>
          <a:ln/>
        </p:spPr>
        <p:txBody>
          <a:bodyPr wrap="square" rtlCol="0" anchor="ctr"/>
          <a:lstStyle/>
          <a:p>
            <a:pPr marL="0" indent="0">
              <a:buNone/>
            </a:pPr>
            <a:r>
              <a:rPr lang="en-US" sz="1200" b="1" dirty="0">
                <a:solidFill>
                  <a:srgbClr val="F5C518"/>
                </a:solidFill>
                <a:latin typeface="Calibri" pitchFamily="34" charset="0"/>
                <a:ea typeface="Calibri" pitchFamily="34" charset="-122"/>
                <a:cs typeface="Calibri" pitchFamily="34" charset="-120"/>
              </a:rPr>
              <a:t>Variable Relationships</a:t>
            </a:r>
            <a:endParaRPr lang="en-US" sz="1200" dirty="0"/>
          </a:p>
        </p:txBody>
      </p:sp>
      <p:sp>
        <p:nvSpPr>
          <p:cNvPr id="29" name="Shape 27"/>
          <p:cNvSpPr/>
          <p:nvPr/>
        </p:nvSpPr>
        <p:spPr>
          <a:xfrm>
            <a:off x="5879592" y="1508760"/>
            <a:ext cx="2880360" cy="594360"/>
          </a:xfrm>
          <a:prstGeom prst="rect">
            <a:avLst/>
          </a:prstGeom>
          <a:solidFill>
            <a:srgbClr val="2E4080"/>
          </a:solidFill>
          <a:ln/>
        </p:spPr>
      </p:sp>
      <p:sp>
        <p:nvSpPr>
          <p:cNvPr id="30" name="Text 28"/>
          <p:cNvSpPr/>
          <p:nvPr/>
        </p:nvSpPr>
        <p:spPr>
          <a:xfrm>
            <a:off x="5961888" y="1545336"/>
            <a:ext cx="2715768" cy="219456"/>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power_mw ↔ hour</a:t>
            </a:r>
            <a:endParaRPr lang="en-US" sz="1000" dirty="0"/>
          </a:p>
        </p:txBody>
      </p:sp>
      <p:sp>
        <p:nvSpPr>
          <p:cNvPr id="31" name="Text 29"/>
          <p:cNvSpPr/>
          <p:nvPr/>
        </p:nvSpPr>
        <p:spPr>
          <a:xfrm>
            <a:off x="5961888" y="1764792"/>
            <a:ext cx="2715768" cy="27432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Strong bell-curve correlation. Hour 13 consistently yields peak output.</a:t>
            </a:r>
            <a:endParaRPr lang="en-US" sz="950" dirty="0"/>
          </a:p>
        </p:txBody>
      </p:sp>
      <p:sp>
        <p:nvSpPr>
          <p:cNvPr id="32" name="Shape 30"/>
          <p:cNvSpPr/>
          <p:nvPr/>
        </p:nvSpPr>
        <p:spPr>
          <a:xfrm>
            <a:off x="5879592" y="2185416"/>
            <a:ext cx="2880360" cy="594360"/>
          </a:xfrm>
          <a:prstGeom prst="rect">
            <a:avLst/>
          </a:prstGeom>
          <a:solidFill>
            <a:srgbClr val="2E4080"/>
          </a:solidFill>
          <a:ln/>
        </p:spPr>
      </p:sp>
      <p:sp>
        <p:nvSpPr>
          <p:cNvPr id="33" name="Text 31"/>
          <p:cNvSpPr/>
          <p:nvPr/>
        </p:nvSpPr>
        <p:spPr>
          <a:xfrm>
            <a:off x="5961888" y="2221992"/>
            <a:ext cx="2715768" cy="219456"/>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power_mw ↔ month</a:t>
            </a:r>
            <a:endParaRPr lang="en-US" sz="1000" dirty="0"/>
          </a:p>
        </p:txBody>
      </p:sp>
      <p:sp>
        <p:nvSpPr>
          <p:cNvPr id="34" name="Text 32"/>
          <p:cNvSpPr/>
          <p:nvPr/>
        </p:nvSpPr>
        <p:spPr>
          <a:xfrm>
            <a:off x="5961888" y="2441448"/>
            <a:ext cx="2715768" cy="27432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Positive correlation Jan–May; higher months = more sunlight hours.</a:t>
            </a:r>
            <a:endParaRPr lang="en-US" sz="950" dirty="0"/>
          </a:p>
        </p:txBody>
      </p:sp>
      <p:sp>
        <p:nvSpPr>
          <p:cNvPr id="35" name="Shape 33"/>
          <p:cNvSpPr/>
          <p:nvPr/>
        </p:nvSpPr>
        <p:spPr>
          <a:xfrm>
            <a:off x="5879592" y="2862072"/>
            <a:ext cx="2880360" cy="594360"/>
          </a:xfrm>
          <a:prstGeom prst="rect">
            <a:avLst/>
          </a:prstGeom>
          <a:solidFill>
            <a:srgbClr val="2E4080"/>
          </a:solidFill>
          <a:ln/>
        </p:spPr>
      </p:sp>
      <p:sp>
        <p:nvSpPr>
          <p:cNvPr id="36" name="Text 34"/>
          <p:cNvSpPr/>
          <p:nvPr/>
        </p:nvSpPr>
        <p:spPr>
          <a:xfrm>
            <a:off x="5961888" y="2898648"/>
            <a:ext cx="2715768" cy="219456"/>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power_mw ↔ site_type</a:t>
            </a:r>
            <a:endParaRPr lang="en-US" sz="1000" dirty="0"/>
          </a:p>
        </p:txBody>
      </p:sp>
      <p:sp>
        <p:nvSpPr>
          <p:cNvPr id="37" name="Text 35"/>
          <p:cNvSpPr/>
          <p:nvPr/>
        </p:nvSpPr>
        <p:spPr>
          <a:xfrm>
            <a:off x="5961888" y="3118104"/>
            <a:ext cx="2715768" cy="27432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UPV generates ~83% more average power than DPV sites.</a:t>
            </a:r>
            <a:endParaRPr lang="en-US" sz="950" dirty="0"/>
          </a:p>
        </p:txBody>
      </p:sp>
      <p:sp>
        <p:nvSpPr>
          <p:cNvPr id="38" name="Shape 36"/>
          <p:cNvSpPr/>
          <p:nvPr/>
        </p:nvSpPr>
        <p:spPr>
          <a:xfrm>
            <a:off x="5879592" y="3538728"/>
            <a:ext cx="2880360" cy="594360"/>
          </a:xfrm>
          <a:prstGeom prst="rect">
            <a:avLst/>
          </a:prstGeom>
          <a:solidFill>
            <a:srgbClr val="2E4080"/>
          </a:solidFill>
          <a:ln/>
        </p:spPr>
      </p:sp>
      <p:sp>
        <p:nvSpPr>
          <p:cNvPr id="39" name="Text 37"/>
          <p:cNvSpPr/>
          <p:nvPr/>
        </p:nvSpPr>
        <p:spPr>
          <a:xfrm>
            <a:off x="5961888" y="3575304"/>
            <a:ext cx="2715768" cy="219456"/>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capacity_mw ↔ site_type</a:t>
            </a:r>
            <a:endParaRPr lang="en-US" sz="1000" dirty="0"/>
          </a:p>
        </p:txBody>
      </p:sp>
      <p:sp>
        <p:nvSpPr>
          <p:cNvPr id="40" name="Text 38"/>
          <p:cNvSpPr/>
          <p:nvPr/>
        </p:nvSpPr>
        <p:spPr>
          <a:xfrm>
            <a:off x="5961888" y="3794760"/>
            <a:ext cx="2715768" cy="27432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Capacity is a near-constant per site type; UPV ≈ 66.67, DPV ≈ 36.85 MW.</a:t>
            </a:r>
            <a:endParaRPr lang="en-US" sz="950" dirty="0"/>
          </a:p>
        </p:txBody>
      </p:sp>
      <p:sp>
        <p:nvSpPr>
          <p:cNvPr id="41" name="Shape 39"/>
          <p:cNvSpPr/>
          <p:nvPr/>
        </p:nvSpPr>
        <p:spPr>
          <a:xfrm>
            <a:off x="5879592" y="4215384"/>
            <a:ext cx="2880360" cy="594360"/>
          </a:xfrm>
          <a:prstGeom prst="rect">
            <a:avLst/>
          </a:prstGeom>
          <a:solidFill>
            <a:srgbClr val="2E4080"/>
          </a:solidFill>
          <a:ln/>
        </p:spPr>
      </p:sp>
      <p:sp>
        <p:nvSpPr>
          <p:cNvPr id="42" name="Text 40"/>
          <p:cNvSpPr/>
          <p:nvPr/>
        </p:nvSpPr>
        <p:spPr>
          <a:xfrm>
            <a:off x="5961888" y="4251960"/>
            <a:ext cx="2715768" cy="219456"/>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power_mw ↔ day</a:t>
            </a:r>
            <a:endParaRPr lang="en-US" sz="1000" dirty="0"/>
          </a:p>
        </p:txBody>
      </p:sp>
      <p:sp>
        <p:nvSpPr>
          <p:cNvPr id="43" name="Text 41"/>
          <p:cNvSpPr/>
          <p:nvPr/>
        </p:nvSpPr>
        <p:spPr>
          <a:xfrm>
            <a:off x="5961888" y="4471416"/>
            <a:ext cx="2715768" cy="27432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Moderate fluctuation pattern; notable drop on Day 30 anomaly.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744"/>
          </a:solidFill>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3000" b="1" dirty="0">
                <a:solidFill>
                  <a:srgbClr val="F5C518"/>
                </a:solidFill>
                <a:latin typeface="Calibri" pitchFamily="34" charset="0"/>
                <a:ea typeface="Calibri" pitchFamily="34" charset="-122"/>
                <a:cs typeface="Calibri" pitchFamily="34" charset="-120"/>
              </a:rPr>
              <a:t>DATA CLEANING — OVERVIEW</a:t>
            </a:r>
            <a:endParaRPr lang="en-US" sz="30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E8E4DA"/>
                </a:solidFill>
              </a:rPr>
              <a:t>Why Cleaning Was Required</a:t>
            </a:r>
            <a:endParaRPr lang="en-US" sz="1300" dirty="0"/>
          </a:p>
        </p:txBody>
      </p:sp>
      <p:sp>
        <p:nvSpPr>
          <p:cNvPr id="5" name="Text 3"/>
          <p:cNvSpPr/>
          <p:nvPr/>
        </p:nvSpPr>
        <p:spPr>
          <a:xfrm>
            <a:off x="274320" y="1051560"/>
            <a:ext cx="8595360" cy="411480"/>
          </a:xfrm>
          <a:prstGeom prst="rect">
            <a:avLst/>
          </a:prstGeom>
          <a:noFill/>
          <a:ln/>
        </p:spPr>
        <p:txBody>
          <a:bodyPr wrap="square" rtlCol="0" anchor="ctr"/>
          <a:lstStyle/>
          <a:p>
            <a:pPr marL="0" indent="0">
              <a:buNone/>
            </a:pPr>
            <a:r>
              <a:rPr lang="en-US" sz="1600" b="1" dirty="0">
                <a:solidFill>
                  <a:srgbClr val="1A2744"/>
                </a:solidFill>
                <a:latin typeface="Calibri" pitchFamily="34" charset="0"/>
                <a:ea typeface="Calibri" pitchFamily="34" charset="-122"/>
                <a:cs typeface="Calibri" pitchFamily="34" charset="-120"/>
              </a:rPr>
              <a:t>The Importance of Clean Data in Energy Analytics</a:t>
            </a:r>
            <a:endParaRPr lang="en-US" sz="1600" dirty="0"/>
          </a:p>
        </p:txBody>
      </p:sp>
      <p:sp>
        <p:nvSpPr>
          <p:cNvPr id="6" name="Text 4"/>
          <p:cNvSpPr/>
          <p:nvPr/>
        </p:nvSpPr>
        <p:spPr>
          <a:xfrm>
            <a:off x="274320" y="1463040"/>
            <a:ext cx="8595360" cy="594360"/>
          </a:xfrm>
          <a:prstGeom prst="rect">
            <a:avLst/>
          </a:prstGeom>
          <a:noFill/>
          <a:ln/>
        </p:spPr>
        <p:txBody>
          <a:bodyPr wrap="square" rtlCol="0" anchor="ctr"/>
          <a:lstStyle/>
          <a:p>
            <a:pPr marL="0" indent="0">
              <a:buNone/>
            </a:pPr>
            <a:r>
              <a:rPr lang="en-US" sz="1200" i="1" dirty="0">
                <a:solidFill>
                  <a:srgbClr val="1A2744"/>
                </a:solidFill>
                <a:latin typeface="Calibri" pitchFamily="34" charset="0"/>
                <a:ea typeface="Calibri" pitchFamily="34" charset="-122"/>
                <a:cs typeface="Calibri" pitchFamily="34" charset="-120"/>
              </a:rPr>
              <a:t>Raw solar generation data collected from sensors and SCADA systems often contains errors, gaps, and inconsistencies. Without thorough cleaning, any analytical insights derived would be unreliable and potentially misleading to business stakeholders.</a:t>
            </a:r>
            <a:endParaRPr lang="en-US" sz="1200" dirty="0"/>
          </a:p>
        </p:txBody>
      </p:sp>
      <p:sp>
        <p:nvSpPr>
          <p:cNvPr id="7" name="Shape 5"/>
          <p:cNvSpPr/>
          <p:nvPr/>
        </p:nvSpPr>
        <p:spPr>
          <a:xfrm>
            <a:off x="274320" y="2212848"/>
            <a:ext cx="2788920" cy="1234440"/>
          </a:xfrm>
          <a:prstGeom prst="rect">
            <a:avLst/>
          </a:prstGeom>
          <a:solidFill>
            <a:srgbClr val="FFFFFF"/>
          </a:solidFill>
          <a:ln/>
          <a:effectLst>
            <a:outerShdw blurRad="101600" dist="38100" dir="8100000" algn="bl" rotWithShape="0">
              <a:srgbClr val="000000">
                <a:alpha val="12000"/>
              </a:srgbClr>
            </a:outerShdw>
          </a:effectLst>
        </p:spPr>
      </p:sp>
      <p:sp>
        <p:nvSpPr>
          <p:cNvPr id="8" name="Shape 6"/>
          <p:cNvSpPr/>
          <p:nvPr/>
        </p:nvSpPr>
        <p:spPr>
          <a:xfrm>
            <a:off x="365760" y="2304288"/>
            <a:ext cx="411480" cy="411480"/>
          </a:xfrm>
          <a:prstGeom prst="ellipse">
            <a:avLst/>
          </a:prstGeom>
          <a:solidFill>
            <a:srgbClr val="E87C1E"/>
          </a:solidFill>
          <a:ln/>
        </p:spPr>
      </p:sp>
      <p:sp>
        <p:nvSpPr>
          <p:cNvPr id="9" name="Text 7"/>
          <p:cNvSpPr/>
          <p:nvPr/>
        </p:nvSpPr>
        <p:spPr>
          <a:xfrm>
            <a:off x="365760" y="2304288"/>
            <a:ext cx="411480"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0" name="Text 8"/>
          <p:cNvSpPr/>
          <p:nvPr/>
        </p:nvSpPr>
        <p:spPr>
          <a:xfrm>
            <a:off x="868680" y="2322576"/>
            <a:ext cx="2103120" cy="256032"/>
          </a:xfrm>
          <a:prstGeom prst="rect">
            <a:avLst/>
          </a:prstGeom>
          <a:noFill/>
          <a:ln/>
        </p:spPr>
        <p:txBody>
          <a:bodyPr wrap="square"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Sensor Malfunctions</a:t>
            </a:r>
            <a:endParaRPr lang="en-US" sz="1100" dirty="0"/>
          </a:p>
        </p:txBody>
      </p:sp>
      <p:sp>
        <p:nvSpPr>
          <p:cNvPr id="11" name="Text 9"/>
          <p:cNvSpPr/>
          <p:nvPr/>
        </p:nvSpPr>
        <p:spPr>
          <a:xfrm>
            <a:off x="384048" y="2651760"/>
            <a:ext cx="2596896" cy="7132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Solar sensors can fail temporarily, producing null readings or zero values during active generation hours — skewing hourly averages.</a:t>
            </a:r>
            <a:endParaRPr lang="en-US" sz="1000" dirty="0"/>
          </a:p>
        </p:txBody>
      </p:sp>
      <p:sp>
        <p:nvSpPr>
          <p:cNvPr id="12" name="Shape 10"/>
          <p:cNvSpPr/>
          <p:nvPr/>
        </p:nvSpPr>
        <p:spPr>
          <a:xfrm>
            <a:off x="3200400" y="2212848"/>
            <a:ext cx="2788920" cy="1234440"/>
          </a:xfrm>
          <a:prstGeom prst="rect">
            <a:avLst/>
          </a:prstGeom>
          <a:solidFill>
            <a:srgbClr val="FFFFFF"/>
          </a:solidFill>
          <a:ln/>
          <a:effectLst>
            <a:outerShdw blurRad="101600" dist="38100" dir="8100000" algn="bl" rotWithShape="0">
              <a:srgbClr val="000000">
                <a:alpha val="12000"/>
              </a:srgbClr>
            </a:outerShdw>
          </a:effectLst>
        </p:spPr>
      </p:sp>
      <p:sp>
        <p:nvSpPr>
          <p:cNvPr id="13" name="Shape 11"/>
          <p:cNvSpPr/>
          <p:nvPr/>
        </p:nvSpPr>
        <p:spPr>
          <a:xfrm>
            <a:off x="3291840" y="2304288"/>
            <a:ext cx="411480" cy="411480"/>
          </a:xfrm>
          <a:prstGeom prst="ellipse">
            <a:avLst/>
          </a:prstGeom>
          <a:solidFill>
            <a:srgbClr val="E87C1E"/>
          </a:solidFill>
          <a:ln/>
        </p:spPr>
      </p:sp>
      <p:sp>
        <p:nvSpPr>
          <p:cNvPr id="14" name="Text 12"/>
          <p:cNvSpPr/>
          <p:nvPr/>
        </p:nvSpPr>
        <p:spPr>
          <a:xfrm>
            <a:off x="3291840" y="2304288"/>
            <a:ext cx="411480"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3794760" y="2322576"/>
            <a:ext cx="2103120" cy="256032"/>
          </a:xfrm>
          <a:prstGeom prst="rect">
            <a:avLst/>
          </a:prstGeom>
          <a:noFill/>
          <a:ln/>
        </p:spPr>
        <p:txBody>
          <a:bodyPr wrap="square"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Inconsistent Formats</a:t>
            </a:r>
            <a:endParaRPr lang="en-US" sz="1100" dirty="0"/>
          </a:p>
        </p:txBody>
      </p:sp>
      <p:sp>
        <p:nvSpPr>
          <p:cNvPr id="16" name="Text 14"/>
          <p:cNvSpPr/>
          <p:nvPr/>
        </p:nvSpPr>
        <p:spPr>
          <a:xfrm>
            <a:off x="3310128" y="2651760"/>
            <a:ext cx="2596896" cy="7132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Data ingested from multiple sites (UPV and DPV) may use different date formats, units of measurement, or naming conventions.</a:t>
            </a:r>
            <a:endParaRPr lang="en-US" sz="1000" dirty="0"/>
          </a:p>
        </p:txBody>
      </p:sp>
      <p:sp>
        <p:nvSpPr>
          <p:cNvPr id="22" name="Shape 20"/>
          <p:cNvSpPr/>
          <p:nvPr/>
        </p:nvSpPr>
        <p:spPr>
          <a:xfrm>
            <a:off x="274320" y="3584448"/>
            <a:ext cx="2788920" cy="1234440"/>
          </a:xfrm>
          <a:prstGeom prst="rect">
            <a:avLst/>
          </a:prstGeom>
          <a:solidFill>
            <a:srgbClr val="FFFFFF"/>
          </a:solidFill>
          <a:ln/>
          <a:effectLst>
            <a:outerShdw blurRad="101600" dist="38100" dir="8100000" algn="bl" rotWithShape="0">
              <a:srgbClr val="000000">
                <a:alpha val="12000"/>
              </a:srgbClr>
            </a:outerShdw>
          </a:effectLst>
        </p:spPr>
      </p:sp>
      <p:sp>
        <p:nvSpPr>
          <p:cNvPr id="23" name="Shape 21"/>
          <p:cNvSpPr/>
          <p:nvPr/>
        </p:nvSpPr>
        <p:spPr>
          <a:xfrm>
            <a:off x="365760" y="3675888"/>
            <a:ext cx="411480" cy="411480"/>
          </a:xfrm>
          <a:prstGeom prst="ellipse">
            <a:avLst/>
          </a:prstGeom>
          <a:solidFill>
            <a:srgbClr val="E87C1E"/>
          </a:solidFill>
          <a:ln/>
        </p:spPr>
      </p:sp>
      <p:sp>
        <p:nvSpPr>
          <p:cNvPr id="24" name="Text 22"/>
          <p:cNvSpPr/>
          <p:nvPr/>
        </p:nvSpPr>
        <p:spPr>
          <a:xfrm>
            <a:off x="365760" y="3675888"/>
            <a:ext cx="411480"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25" name="Text 23"/>
          <p:cNvSpPr/>
          <p:nvPr/>
        </p:nvSpPr>
        <p:spPr>
          <a:xfrm>
            <a:off x="868680" y="3694176"/>
            <a:ext cx="2103120" cy="256032"/>
          </a:xfrm>
          <a:prstGeom prst="rect">
            <a:avLst/>
          </a:prstGeom>
          <a:noFill/>
          <a:ln/>
        </p:spPr>
        <p:txBody>
          <a:bodyPr wrap="square"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Duplicate Records</a:t>
            </a:r>
            <a:endParaRPr lang="en-US" sz="1100" dirty="0"/>
          </a:p>
        </p:txBody>
      </p:sp>
      <p:sp>
        <p:nvSpPr>
          <p:cNvPr id="26" name="Text 24"/>
          <p:cNvSpPr/>
          <p:nvPr/>
        </p:nvSpPr>
        <p:spPr>
          <a:xfrm>
            <a:off x="384048" y="4023360"/>
            <a:ext cx="2596896" cy="7132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Automated logging systems can create duplicate time-stamp records when systems restart, inflating total generation figures.</a:t>
            </a:r>
            <a:endParaRPr lang="en-US" sz="1000" dirty="0"/>
          </a:p>
        </p:txBody>
      </p:sp>
      <p:sp>
        <p:nvSpPr>
          <p:cNvPr id="27" name="Shape 25"/>
          <p:cNvSpPr/>
          <p:nvPr/>
        </p:nvSpPr>
        <p:spPr>
          <a:xfrm>
            <a:off x="3200400" y="3584448"/>
            <a:ext cx="2788920" cy="1234440"/>
          </a:xfrm>
          <a:prstGeom prst="rect">
            <a:avLst/>
          </a:prstGeom>
          <a:solidFill>
            <a:srgbClr val="FFFFFF"/>
          </a:solidFill>
          <a:ln/>
          <a:effectLst>
            <a:outerShdw blurRad="101600" dist="38100" dir="8100000" algn="bl" rotWithShape="0">
              <a:srgbClr val="000000">
                <a:alpha val="12000"/>
              </a:srgbClr>
            </a:outerShdw>
          </a:effectLst>
        </p:spPr>
      </p:sp>
      <p:sp>
        <p:nvSpPr>
          <p:cNvPr id="28" name="Shape 26"/>
          <p:cNvSpPr/>
          <p:nvPr/>
        </p:nvSpPr>
        <p:spPr>
          <a:xfrm>
            <a:off x="3291840" y="3675888"/>
            <a:ext cx="411480" cy="411480"/>
          </a:xfrm>
          <a:prstGeom prst="ellipse">
            <a:avLst/>
          </a:prstGeom>
          <a:solidFill>
            <a:srgbClr val="E87C1E"/>
          </a:solidFill>
          <a:ln/>
        </p:spPr>
      </p:sp>
      <p:sp>
        <p:nvSpPr>
          <p:cNvPr id="29" name="Text 27"/>
          <p:cNvSpPr/>
          <p:nvPr/>
        </p:nvSpPr>
        <p:spPr>
          <a:xfrm>
            <a:off x="3291840" y="3675888"/>
            <a:ext cx="411480"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30" name="Text 28"/>
          <p:cNvSpPr/>
          <p:nvPr/>
        </p:nvSpPr>
        <p:spPr>
          <a:xfrm>
            <a:off x="3794760" y="3694176"/>
            <a:ext cx="2103120" cy="256032"/>
          </a:xfrm>
          <a:prstGeom prst="rect">
            <a:avLst/>
          </a:prstGeom>
          <a:noFill/>
          <a:ln/>
        </p:spPr>
        <p:txBody>
          <a:bodyPr wrap="square"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Missing Values</a:t>
            </a:r>
            <a:endParaRPr lang="en-US" sz="1100" dirty="0"/>
          </a:p>
        </p:txBody>
      </p:sp>
      <p:sp>
        <p:nvSpPr>
          <p:cNvPr id="31" name="Text 29"/>
          <p:cNvSpPr/>
          <p:nvPr/>
        </p:nvSpPr>
        <p:spPr>
          <a:xfrm>
            <a:off x="3310128" y="4023360"/>
            <a:ext cx="2596896" cy="7132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Communication failures between field devices and data warehouses result in gaps, particularly during maintenance windows.</a:t>
            </a:r>
            <a:endParaRPr lang="en-US" sz="1000" dirty="0"/>
          </a:p>
        </p:txBody>
      </p:sp>
      <p:sp>
        <p:nvSpPr>
          <p:cNvPr id="32" name="Shape 30"/>
          <p:cNvSpPr/>
          <p:nvPr/>
        </p:nvSpPr>
        <p:spPr>
          <a:xfrm>
            <a:off x="6080760" y="2212848"/>
            <a:ext cx="2788920" cy="1234440"/>
          </a:xfrm>
          <a:prstGeom prst="rect">
            <a:avLst/>
          </a:prstGeom>
          <a:solidFill>
            <a:srgbClr val="FFFFFF"/>
          </a:solidFill>
          <a:ln/>
          <a:effectLst>
            <a:outerShdw blurRad="101600" dist="38100" dir="8100000" algn="bl" rotWithShape="0">
              <a:srgbClr val="000000">
                <a:alpha val="12000"/>
              </a:srgbClr>
            </a:outerShdw>
          </a:effectLst>
        </p:spPr>
      </p:sp>
      <p:sp>
        <p:nvSpPr>
          <p:cNvPr id="33" name="Shape 31"/>
          <p:cNvSpPr/>
          <p:nvPr/>
        </p:nvSpPr>
        <p:spPr>
          <a:xfrm>
            <a:off x="6190488" y="2322576"/>
            <a:ext cx="411480" cy="411480"/>
          </a:xfrm>
          <a:prstGeom prst="ellipse">
            <a:avLst/>
          </a:prstGeom>
          <a:solidFill>
            <a:srgbClr val="E87C1E"/>
          </a:solidFill>
          <a:ln/>
        </p:spPr>
        <p:txBody>
          <a:bodyPr/>
          <a:lstStyle/>
          <a:p>
            <a:endParaRPr lang="en-IN" dirty="0"/>
          </a:p>
        </p:txBody>
      </p:sp>
      <p:sp>
        <p:nvSpPr>
          <p:cNvPr id="34" name="Text 32"/>
          <p:cNvSpPr/>
          <p:nvPr/>
        </p:nvSpPr>
        <p:spPr>
          <a:xfrm>
            <a:off x="6172200" y="2304288"/>
            <a:ext cx="411480"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35" name="Text 33"/>
          <p:cNvSpPr/>
          <p:nvPr/>
        </p:nvSpPr>
        <p:spPr>
          <a:xfrm>
            <a:off x="6675120" y="2322576"/>
            <a:ext cx="2103120" cy="256032"/>
          </a:xfrm>
          <a:prstGeom prst="rect">
            <a:avLst/>
          </a:prstGeom>
          <a:noFill/>
          <a:ln/>
        </p:spPr>
        <p:txBody>
          <a:bodyPr wrap="square"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Type Mismatches</a:t>
            </a:r>
            <a:endParaRPr lang="en-US" sz="1100" dirty="0"/>
          </a:p>
        </p:txBody>
      </p:sp>
      <p:sp>
        <p:nvSpPr>
          <p:cNvPr id="36" name="Text 34"/>
          <p:cNvSpPr/>
          <p:nvPr/>
        </p:nvSpPr>
        <p:spPr>
          <a:xfrm>
            <a:off x="6190488" y="2651760"/>
            <a:ext cx="2596896" cy="7132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Numeric fields stored as text strings prevent mathematical operations. Categorical fields must be standardized for grouping.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744"/>
          </a:solidFill>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3000" b="1" dirty="0">
                <a:solidFill>
                  <a:srgbClr val="F5C518"/>
                </a:solidFill>
                <a:latin typeface="Calibri" pitchFamily="34" charset="0"/>
                <a:ea typeface="Calibri" pitchFamily="34" charset="-122"/>
                <a:cs typeface="Calibri" pitchFamily="34" charset="-120"/>
              </a:rPr>
              <a:t>DATA CLEANING — STEPS</a:t>
            </a:r>
            <a:endParaRPr lang="en-US" sz="30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E8E4DA"/>
                </a:solidFill>
              </a:rPr>
              <a:t>Systematic Cleaning Process Applied</a:t>
            </a:r>
            <a:endParaRPr lang="en-US" sz="1300" dirty="0"/>
          </a:p>
        </p:txBody>
      </p:sp>
      <p:sp>
        <p:nvSpPr>
          <p:cNvPr id="5" name="Shape 3"/>
          <p:cNvSpPr/>
          <p:nvPr/>
        </p:nvSpPr>
        <p:spPr>
          <a:xfrm>
            <a:off x="274320" y="1051560"/>
            <a:ext cx="4206240" cy="178308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274320" y="1051560"/>
            <a:ext cx="4206240" cy="438912"/>
          </a:xfrm>
          <a:prstGeom prst="rect">
            <a:avLst/>
          </a:prstGeom>
          <a:solidFill>
            <a:srgbClr val="E87C1E"/>
          </a:solidFill>
          <a:ln/>
        </p:spPr>
      </p:sp>
      <p:sp>
        <p:nvSpPr>
          <p:cNvPr id="7" name="Text 5"/>
          <p:cNvSpPr/>
          <p:nvPr/>
        </p:nvSpPr>
        <p:spPr>
          <a:xfrm>
            <a:off x="365760" y="1097280"/>
            <a:ext cx="685800" cy="347472"/>
          </a:xfrm>
          <a:prstGeom prst="rect">
            <a:avLst/>
          </a:prstGeom>
          <a:noFill/>
          <a:ln/>
        </p:spPr>
        <p:txBody>
          <a:bodyPr wrap="square" rtlCol="0" anchor="ctr"/>
          <a:lstStyle/>
          <a:p>
            <a:pPr marL="0" indent="0">
              <a:buNone/>
            </a:pPr>
            <a:r>
              <a:rPr lang="en-US" sz="900" b="1" dirty="0">
                <a:solidFill>
                  <a:srgbClr val="FDE68A"/>
                </a:solidFill>
                <a:latin typeface="Calibri" pitchFamily="34" charset="0"/>
                <a:ea typeface="Calibri" pitchFamily="34" charset="-122"/>
                <a:cs typeface="Calibri" pitchFamily="34" charset="-120"/>
              </a:rPr>
              <a:t>STEP 01</a:t>
            </a:r>
            <a:endParaRPr lang="en-US" sz="900" dirty="0"/>
          </a:p>
        </p:txBody>
      </p:sp>
      <p:sp>
        <p:nvSpPr>
          <p:cNvPr id="8" name="Text 6"/>
          <p:cNvSpPr/>
          <p:nvPr/>
        </p:nvSpPr>
        <p:spPr>
          <a:xfrm>
            <a:off x="1097280" y="1097280"/>
            <a:ext cx="329184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Missing Value Treatment</a:t>
            </a:r>
            <a:endParaRPr lang="en-US" sz="1200" dirty="0"/>
          </a:p>
        </p:txBody>
      </p:sp>
      <p:sp>
        <p:nvSpPr>
          <p:cNvPr id="9" name="Text 7"/>
          <p:cNvSpPr/>
          <p:nvPr/>
        </p:nvSpPr>
        <p:spPr>
          <a:xfrm>
            <a:off x="411480" y="1563624"/>
            <a:ext cx="3931920" cy="1207008"/>
          </a:xfrm>
          <a:prstGeom prst="rect">
            <a:avLst/>
          </a:prstGeom>
          <a:noFill/>
          <a:ln/>
        </p:spPr>
        <p:txBody>
          <a:bodyPr wrap="square" rtlCol="0" anchor="ctr"/>
          <a:lstStyle/>
          <a:p>
            <a:pPr marL="342900" indent="-342900">
              <a:buSzPct val="100000"/>
              <a:buChar char="•"/>
            </a:pPr>
            <a:r>
              <a:rPr lang="en-US" sz="1050" dirty="0">
                <a:solidFill>
                  <a:srgbClr val="1A2744"/>
                </a:solidFill>
              </a:rPr>
              <a:t>Identified null/blank records in power_mw and capacity_mw columns</a:t>
            </a:r>
            <a:endParaRPr lang="en-US" sz="1050" dirty="0"/>
          </a:p>
          <a:p>
            <a:pPr marL="342900" indent="-342900">
              <a:buSzPct val="100000"/>
              <a:buChar char="•"/>
            </a:pPr>
            <a:r>
              <a:rPr lang="en-US" sz="1050" dirty="0">
                <a:solidFill>
                  <a:srgbClr val="1A2744"/>
                </a:solidFill>
              </a:rPr>
              <a:t>Applied forward-fill for short gaps (≤2 consecutive hours) in sensor data</a:t>
            </a:r>
            <a:endParaRPr lang="en-US" sz="1050" dirty="0"/>
          </a:p>
          <a:p>
            <a:pPr marL="342900" indent="-342900">
              <a:buSzPct val="100000"/>
              <a:buChar char="•"/>
            </a:pPr>
            <a:r>
              <a:rPr lang="en-US" sz="1050" dirty="0">
                <a:solidFill>
                  <a:srgbClr val="1A2744"/>
                </a:solidFill>
              </a:rPr>
              <a:t>Removed records where both power_mw AND capacity_mw were null (uninformative)</a:t>
            </a:r>
            <a:endParaRPr lang="en-US" sz="1050" dirty="0"/>
          </a:p>
        </p:txBody>
      </p:sp>
      <p:sp>
        <p:nvSpPr>
          <p:cNvPr id="10" name="Shape 8"/>
          <p:cNvSpPr/>
          <p:nvPr/>
        </p:nvSpPr>
        <p:spPr>
          <a:xfrm>
            <a:off x="4709160" y="1051560"/>
            <a:ext cx="4206240" cy="1783080"/>
          </a:xfrm>
          <a:prstGeom prst="rect">
            <a:avLst/>
          </a:prstGeom>
          <a:solidFill>
            <a:srgbClr val="FFFFFF"/>
          </a:solidFill>
          <a:ln/>
          <a:effectLst>
            <a:outerShdw blurRad="101600" dist="38100" dir="8100000" algn="bl" rotWithShape="0">
              <a:srgbClr val="000000">
                <a:alpha val="12000"/>
              </a:srgbClr>
            </a:outerShdw>
          </a:effectLst>
        </p:spPr>
      </p:sp>
      <p:sp>
        <p:nvSpPr>
          <p:cNvPr id="11" name="Shape 9"/>
          <p:cNvSpPr/>
          <p:nvPr/>
        </p:nvSpPr>
        <p:spPr>
          <a:xfrm>
            <a:off x="4709160" y="1051560"/>
            <a:ext cx="4206240" cy="438912"/>
          </a:xfrm>
          <a:prstGeom prst="rect">
            <a:avLst/>
          </a:prstGeom>
          <a:solidFill>
            <a:srgbClr val="243460"/>
          </a:solidFill>
          <a:ln/>
        </p:spPr>
      </p:sp>
      <p:sp>
        <p:nvSpPr>
          <p:cNvPr id="12" name="Text 10"/>
          <p:cNvSpPr/>
          <p:nvPr/>
        </p:nvSpPr>
        <p:spPr>
          <a:xfrm>
            <a:off x="4800600" y="1097280"/>
            <a:ext cx="685800" cy="347472"/>
          </a:xfrm>
          <a:prstGeom prst="rect">
            <a:avLst/>
          </a:prstGeom>
          <a:noFill/>
          <a:ln/>
        </p:spPr>
        <p:txBody>
          <a:bodyPr wrap="square" rtlCol="0" anchor="ctr"/>
          <a:lstStyle/>
          <a:p>
            <a:pPr marL="0" indent="0">
              <a:buNone/>
            </a:pPr>
            <a:r>
              <a:rPr lang="en-US" sz="900" b="1" dirty="0">
                <a:solidFill>
                  <a:srgbClr val="FDE68A"/>
                </a:solidFill>
                <a:latin typeface="Calibri" pitchFamily="34" charset="0"/>
                <a:ea typeface="Calibri" pitchFamily="34" charset="-122"/>
                <a:cs typeface="Calibri" pitchFamily="34" charset="-120"/>
              </a:rPr>
              <a:t>STEP 02</a:t>
            </a:r>
            <a:endParaRPr lang="en-US" sz="900" dirty="0"/>
          </a:p>
        </p:txBody>
      </p:sp>
      <p:sp>
        <p:nvSpPr>
          <p:cNvPr id="13" name="Text 11"/>
          <p:cNvSpPr/>
          <p:nvPr/>
        </p:nvSpPr>
        <p:spPr>
          <a:xfrm>
            <a:off x="5532120" y="1097280"/>
            <a:ext cx="329184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Duplicate Removal</a:t>
            </a:r>
            <a:endParaRPr lang="en-US" sz="1200" dirty="0"/>
          </a:p>
        </p:txBody>
      </p:sp>
      <p:sp>
        <p:nvSpPr>
          <p:cNvPr id="14" name="Text 12"/>
          <p:cNvSpPr/>
          <p:nvPr/>
        </p:nvSpPr>
        <p:spPr>
          <a:xfrm>
            <a:off x="4846320" y="1563624"/>
            <a:ext cx="3931920" cy="1207008"/>
          </a:xfrm>
          <a:prstGeom prst="rect">
            <a:avLst/>
          </a:prstGeom>
          <a:noFill/>
          <a:ln/>
        </p:spPr>
        <p:txBody>
          <a:bodyPr wrap="square" rtlCol="0" anchor="ctr"/>
          <a:lstStyle/>
          <a:p>
            <a:pPr marL="342900" indent="-342900">
              <a:buSzPct val="100000"/>
              <a:buChar char="•"/>
            </a:pPr>
            <a:r>
              <a:rPr lang="en-US" sz="1050" dirty="0">
                <a:solidFill>
                  <a:srgbClr val="1A2744"/>
                </a:solidFill>
              </a:rPr>
              <a:t>Scanned for exact duplicate rows across all columns using deduplication logic</a:t>
            </a:r>
            <a:endParaRPr lang="en-US" sz="1050" dirty="0"/>
          </a:p>
          <a:p>
            <a:pPr marL="342900" indent="-342900">
              <a:buSzPct val="100000"/>
              <a:buChar char="•"/>
            </a:pPr>
            <a:r>
              <a:rPr lang="en-US" sz="1050" dirty="0">
                <a:solidFill>
                  <a:srgbClr val="1A2744"/>
                </a:solidFill>
              </a:rPr>
              <a:t>Found and removed repeated timestamp records caused by system restarts</a:t>
            </a:r>
            <a:endParaRPr lang="en-US" sz="1050" dirty="0"/>
          </a:p>
          <a:p>
            <a:pPr marL="342900" indent="-342900">
              <a:buSzPct val="100000"/>
              <a:buChar char="•"/>
            </a:pPr>
            <a:r>
              <a:rPr lang="en-US" sz="1050" dirty="0">
                <a:solidFill>
                  <a:srgbClr val="1A2744"/>
                </a:solidFill>
              </a:rPr>
              <a:t>Retained the first occurrence when duplicates had the same key fields</a:t>
            </a:r>
            <a:endParaRPr lang="en-US" sz="1050" dirty="0"/>
          </a:p>
        </p:txBody>
      </p:sp>
      <p:sp>
        <p:nvSpPr>
          <p:cNvPr id="15" name="Shape 13"/>
          <p:cNvSpPr/>
          <p:nvPr/>
        </p:nvSpPr>
        <p:spPr>
          <a:xfrm>
            <a:off x="274320" y="3063240"/>
            <a:ext cx="4206240" cy="1783080"/>
          </a:xfrm>
          <a:prstGeom prst="rect">
            <a:avLst/>
          </a:prstGeom>
          <a:solidFill>
            <a:srgbClr val="FFFFFF"/>
          </a:solidFill>
          <a:ln/>
          <a:effectLst>
            <a:outerShdw blurRad="101600" dist="38100" dir="8100000" algn="bl" rotWithShape="0">
              <a:srgbClr val="000000">
                <a:alpha val="12000"/>
              </a:srgbClr>
            </a:outerShdw>
          </a:effectLst>
        </p:spPr>
      </p:sp>
      <p:sp>
        <p:nvSpPr>
          <p:cNvPr id="16" name="Shape 14"/>
          <p:cNvSpPr/>
          <p:nvPr/>
        </p:nvSpPr>
        <p:spPr>
          <a:xfrm>
            <a:off x="274320" y="3063240"/>
            <a:ext cx="4206240" cy="438912"/>
          </a:xfrm>
          <a:prstGeom prst="rect">
            <a:avLst/>
          </a:prstGeom>
          <a:solidFill>
            <a:srgbClr val="2E4080"/>
          </a:solidFill>
          <a:ln/>
        </p:spPr>
      </p:sp>
      <p:sp>
        <p:nvSpPr>
          <p:cNvPr id="17" name="Text 15"/>
          <p:cNvSpPr/>
          <p:nvPr/>
        </p:nvSpPr>
        <p:spPr>
          <a:xfrm>
            <a:off x="365760" y="3108960"/>
            <a:ext cx="685800" cy="347472"/>
          </a:xfrm>
          <a:prstGeom prst="rect">
            <a:avLst/>
          </a:prstGeom>
          <a:noFill/>
          <a:ln/>
        </p:spPr>
        <p:txBody>
          <a:bodyPr wrap="square" rtlCol="0" anchor="ctr"/>
          <a:lstStyle/>
          <a:p>
            <a:pPr marL="0" indent="0">
              <a:buNone/>
            </a:pPr>
            <a:r>
              <a:rPr lang="en-US" sz="900" b="1" dirty="0">
                <a:solidFill>
                  <a:srgbClr val="FDE68A"/>
                </a:solidFill>
                <a:latin typeface="Calibri" pitchFamily="34" charset="0"/>
                <a:ea typeface="Calibri" pitchFamily="34" charset="-122"/>
                <a:cs typeface="Calibri" pitchFamily="34" charset="-120"/>
              </a:rPr>
              <a:t>STEP 03</a:t>
            </a:r>
            <a:endParaRPr lang="en-US" sz="900" dirty="0"/>
          </a:p>
        </p:txBody>
      </p:sp>
      <p:sp>
        <p:nvSpPr>
          <p:cNvPr id="18" name="Text 16"/>
          <p:cNvSpPr/>
          <p:nvPr/>
        </p:nvSpPr>
        <p:spPr>
          <a:xfrm>
            <a:off x="1097280" y="3108960"/>
            <a:ext cx="329184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 Type Correction</a:t>
            </a:r>
            <a:endParaRPr lang="en-US" sz="1200" dirty="0"/>
          </a:p>
        </p:txBody>
      </p:sp>
      <p:sp>
        <p:nvSpPr>
          <p:cNvPr id="19" name="Text 17"/>
          <p:cNvSpPr/>
          <p:nvPr/>
        </p:nvSpPr>
        <p:spPr>
          <a:xfrm>
            <a:off x="411480" y="3575304"/>
            <a:ext cx="3931920" cy="1207008"/>
          </a:xfrm>
          <a:prstGeom prst="rect">
            <a:avLst/>
          </a:prstGeom>
          <a:noFill/>
          <a:ln/>
        </p:spPr>
        <p:txBody>
          <a:bodyPr wrap="square" rtlCol="0" anchor="ctr"/>
          <a:lstStyle/>
          <a:p>
            <a:pPr marL="342900" indent="-342900">
              <a:buSzPct val="100000"/>
              <a:buChar char="•"/>
            </a:pPr>
            <a:r>
              <a:rPr lang="en-US" sz="1050" dirty="0">
                <a:solidFill>
                  <a:srgbClr val="1A2744"/>
                </a:solidFill>
              </a:rPr>
              <a:t>Converted power_mw and capacity_mw from text to float (decimal) format</a:t>
            </a:r>
            <a:endParaRPr lang="en-US" sz="1050" dirty="0"/>
          </a:p>
          <a:p>
            <a:pPr marL="342900" indent="-342900">
              <a:buSzPct val="100000"/>
              <a:buChar char="•"/>
            </a:pPr>
            <a:r>
              <a:rPr lang="en-US" sz="1050" dirty="0">
                <a:solidFill>
                  <a:srgbClr val="1A2744"/>
                </a:solidFill>
              </a:rPr>
              <a:t>Ensured hour, day, and month were stored as integers for aggregation</a:t>
            </a:r>
            <a:endParaRPr lang="en-US" sz="1050" dirty="0"/>
          </a:p>
          <a:p>
            <a:pPr marL="342900" indent="-342900">
              <a:buSzPct val="100000"/>
              <a:buChar char="•"/>
            </a:pPr>
            <a:r>
              <a:rPr lang="en-US" sz="1050" dirty="0">
                <a:solidFill>
                  <a:srgbClr val="1A2744"/>
                </a:solidFill>
              </a:rPr>
              <a:t>Standardized site_type to uppercase string ('UPV', 'DPV') consistently</a:t>
            </a:r>
            <a:endParaRPr lang="en-US" sz="1050" dirty="0"/>
          </a:p>
        </p:txBody>
      </p:sp>
      <p:sp>
        <p:nvSpPr>
          <p:cNvPr id="20" name="Shape 18"/>
          <p:cNvSpPr/>
          <p:nvPr/>
        </p:nvSpPr>
        <p:spPr>
          <a:xfrm>
            <a:off x="4709160" y="3063240"/>
            <a:ext cx="4206240" cy="1783080"/>
          </a:xfrm>
          <a:prstGeom prst="rect">
            <a:avLst/>
          </a:prstGeom>
          <a:solidFill>
            <a:srgbClr val="FFFFFF"/>
          </a:solidFill>
          <a:ln/>
          <a:effectLst>
            <a:outerShdw blurRad="101600" dist="38100" dir="8100000" algn="bl" rotWithShape="0">
              <a:srgbClr val="000000">
                <a:alpha val="12000"/>
              </a:srgbClr>
            </a:outerShdw>
          </a:effectLst>
        </p:spPr>
      </p:sp>
      <p:sp>
        <p:nvSpPr>
          <p:cNvPr id="21" name="Shape 19"/>
          <p:cNvSpPr/>
          <p:nvPr/>
        </p:nvSpPr>
        <p:spPr>
          <a:xfrm>
            <a:off x="4709160" y="3063240"/>
            <a:ext cx="4206240" cy="438912"/>
          </a:xfrm>
          <a:prstGeom prst="rect">
            <a:avLst/>
          </a:prstGeom>
          <a:solidFill>
            <a:srgbClr val="E87C1E"/>
          </a:solidFill>
          <a:ln/>
        </p:spPr>
      </p:sp>
      <p:sp>
        <p:nvSpPr>
          <p:cNvPr id="22" name="Text 20"/>
          <p:cNvSpPr/>
          <p:nvPr/>
        </p:nvSpPr>
        <p:spPr>
          <a:xfrm>
            <a:off x="4800600" y="3108960"/>
            <a:ext cx="685800" cy="347472"/>
          </a:xfrm>
          <a:prstGeom prst="rect">
            <a:avLst/>
          </a:prstGeom>
          <a:noFill/>
          <a:ln/>
        </p:spPr>
        <p:txBody>
          <a:bodyPr wrap="square" rtlCol="0" anchor="ctr"/>
          <a:lstStyle/>
          <a:p>
            <a:pPr marL="0" indent="0">
              <a:buNone/>
            </a:pPr>
            <a:r>
              <a:rPr lang="en-US" sz="900" b="1" dirty="0">
                <a:solidFill>
                  <a:srgbClr val="FDE68A"/>
                </a:solidFill>
                <a:latin typeface="Calibri" pitchFamily="34" charset="0"/>
                <a:ea typeface="Calibri" pitchFamily="34" charset="-122"/>
                <a:cs typeface="Calibri" pitchFamily="34" charset="-120"/>
              </a:rPr>
              <a:t>STEP 04</a:t>
            </a:r>
            <a:endParaRPr lang="en-US" sz="900" dirty="0"/>
          </a:p>
        </p:txBody>
      </p:sp>
      <p:sp>
        <p:nvSpPr>
          <p:cNvPr id="23" name="Text 21"/>
          <p:cNvSpPr/>
          <p:nvPr/>
        </p:nvSpPr>
        <p:spPr>
          <a:xfrm>
            <a:off x="5532120" y="3108960"/>
            <a:ext cx="329184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Outlier Treatment</a:t>
            </a:r>
            <a:endParaRPr lang="en-US" sz="1200" dirty="0"/>
          </a:p>
        </p:txBody>
      </p:sp>
      <p:sp>
        <p:nvSpPr>
          <p:cNvPr id="24" name="Text 22"/>
          <p:cNvSpPr/>
          <p:nvPr/>
        </p:nvSpPr>
        <p:spPr>
          <a:xfrm>
            <a:off x="4846320" y="3575304"/>
            <a:ext cx="3931920" cy="1207008"/>
          </a:xfrm>
          <a:prstGeom prst="rect">
            <a:avLst/>
          </a:prstGeom>
          <a:noFill/>
          <a:ln/>
        </p:spPr>
        <p:txBody>
          <a:bodyPr wrap="square" rtlCol="0" anchor="ctr"/>
          <a:lstStyle/>
          <a:p>
            <a:pPr marL="342900" indent="-342900">
              <a:buSzPct val="100000"/>
              <a:buChar char="•"/>
            </a:pPr>
            <a:r>
              <a:rPr lang="en-US" sz="1050" dirty="0">
                <a:solidFill>
                  <a:srgbClr val="1A2744"/>
                </a:solidFill>
              </a:rPr>
              <a:t>Flagged records where power_mw &gt; capacity_mw as physically impossible</a:t>
            </a:r>
            <a:endParaRPr lang="en-US" sz="1050" dirty="0"/>
          </a:p>
          <a:p>
            <a:pPr marL="342900" indent="-342900">
              <a:buSzPct val="100000"/>
              <a:buChar char="•"/>
            </a:pPr>
            <a:r>
              <a:rPr lang="en-US" sz="1050" dirty="0">
                <a:solidFill>
                  <a:srgbClr val="1A2744"/>
                </a:solidFill>
              </a:rPr>
              <a:t>Applied IQR-based detection on monthly aggregates to identify extreme months</a:t>
            </a:r>
            <a:endParaRPr lang="en-US" sz="1050" dirty="0"/>
          </a:p>
          <a:p>
            <a:pPr marL="342900" indent="-342900">
              <a:buSzPct val="100000"/>
              <a:buChar char="•"/>
            </a:pPr>
            <a:r>
              <a:rPr lang="en-US" sz="1050" dirty="0">
                <a:solidFill>
                  <a:srgbClr val="1A2744"/>
                </a:solidFill>
              </a:rPr>
              <a:t>Day 30 decline was retained as a legitimate anomaly for business investigation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744"/>
          </a:solidFill>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3000" b="1" dirty="0">
                <a:solidFill>
                  <a:srgbClr val="F5C518"/>
                </a:solidFill>
                <a:latin typeface="Calibri" pitchFamily="34" charset="0"/>
                <a:ea typeface="Calibri" pitchFamily="34" charset="-122"/>
                <a:cs typeface="Calibri" pitchFamily="34" charset="-120"/>
              </a:rPr>
              <a:t>DATA TRANSFORMATION</a:t>
            </a:r>
            <a:endParaRPr lang="en-US" sz="30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E8E4DA"/>
                </a:solidFill>
              </a:rPr>
              <a:t>Calculated Fields, Aggregations &amp; New Columns</a:t>
            </a:r>
            <a:endParaRPr lang="en-US" sz="1300" dirty="0"/>
          </a:p>
        </p:txBody>
      </p:sp>
      <p:sp>
        <p:nvSpPr>
          <p:cNvPr id="5" name="Shape 3"/>
          <p:cNvSpPr/>
          <p:nvPr/>
        </p:nvSpPr>
        <p:spPr>
          <a:xfrm>
            <a:off x="274320" y="1051560"/>
            <a:ext cx="5029200" cy="388620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274320" y="1051560"/>
            <a:ext cx="5029200" cy="384048"/>
          </a:xfrm>
          <a:prstGeom prst="rect">
            <a:avLst/>
          </a:prstGeom>
          <a:solidFill>
            <a:srgbClr val="E87C1E"/>
          </a:solidFill>
          <a:ln/>
        </p:spPr>
      </p:sp>
      <p:sp>
        <p:nvSpPr>
          <p:cNvPr id="7" name="Text 5"/>
          <p:cNvSpPr/>
          <p:nvPr/>
        </p:nvSpPr>
        <p:spPr>
          <a:xfrm>
            <a:off x="384048" y="1078992"/>
            <a:ext cx="4754880" cy="32918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New Columns &amp; Calculated Fields</a:t>
            </a:r>
            <a:endParaRPr lang="en-US" sz="1200" dirty="0"/>
          </a:p>
        </p:txBody>
      </p:sp>
      <p:sp>
        <p:nvSpPr>
          <p:cNvPr id="8" name="Shape 6"/>
          <p:cNvSpPr/>
          <p:nvPr/>
        </p:nvSpPr>
        <p:spPr>
          <a:xfrm>
            <a:off x="347472" y="1536192"/>
            <a:ext cx="1417320" cy="530352"/>
          </a:xfrm>
          <a:prstGeom prst="rect">
            <a:avLst/>
          </a:prstGeom>
          <a:solidFill>
            <a:srgbClr val="1A2744"/>
          </a:solidFill>
          <a:ln/>
        </p:spPr>
      </p:sp>
      <p:sp>
        <p:nvSpPr>
          <p:cNvPr id="9" name="Text 7"/>
          <p:cNvSpPr/>
          <p:nvPr/>
        </p:nvSpPr>
        <p:spPr>
          <a:xfrm>
            <a:off x="384048" y="1609344"/>
            <a:ext cx="1344168" cy="384048"/>
          </a:xfrm>
          <a:prstGeom prst="rect">
            <a:avLst/>
          </a:prstGeom>
          <a:noFill/>
          <a:ln/>
        </p:spPr>
        <p:txBody>
          <a:bodyPr wrap="square" rtlCol="0" anchor="ctr"/>
          <a:lstStyle/>
          <a:p>
            <a:pPr marL="0" indent="0">
              <a:buNone/>
            </a:pPr>
            <a:r>
              <a:rPr lang="en-US" sz="850" b="1" dirty="0">
                <a:solidFill>
                  <a:srgbClr val="F5C518"/>
                </a:solidFill>
                <a:latin typeface="Calibri" pitchFamily="34" charset="0"/>
                <a:ea typeface="Calibri" pitchFamily="34" charset="-122"/>
                <a:cs typeface="Calibri" pitchFamily="34" charset="-120"/>
              </a:rPr>
              <a:t>utilization_rate</a:t>
            </a:r>
            <a:endParaRPr lang="en-US" sz="850" dirty="0"/>
          </a:p>
        </p:txBody>
      </p:sp>
      <p:sp>
        <p:nvSpPr>
          <p:cNvPr id="10" name="Text 8"/>
          <p:cNvSpPr/>
          <p:nvPr/>
        </p:nvSpPr>
        <p:spPr>
          <a:xfrm>
            <a:off x="1828800" y="1572768"/>
            <a:ext cx="3383280" cy="201168"/>
          </a:xfrm>
          <a:prstGeom prst="rect">
            <a:avLst/>
          </a:prstGeom>
          <a:noFill/>
          <a:ln/>
        </p:spPr>
        <p:txBody>
          <a:bodyPr wrap="square" rtlCol="0" anchor="ctr"/>
          <a:lstStyle/>
          <a:p>
            <a:pPr marL="0" indent="0">
              <a:buNone/>
            </a:pPr>
            <a:r>
              <a:rPr lang="en-US" sz="900" i="1" dirty="0">
                <a:solidFill>
                  <a:srgbClr val="9B9484"/>
                </a:solidFill>
                <a:latin typeface="Calibri" pitchFamily="34" charset="0"/>
                <a:ea typeface="Calibri" pitchFamily="34" charset="-122"/>
                <a:cs typeface="Calibri" pitchFamily="34" charset="-120"/>
              </a:rPr>
              <a:t>= power_mw / capacity_mw × 100</a:t>
            </a:r>
            <a:endParaRPr lang="en-US" sz="900" dirty="0"/>
          </a:p>
        </p:txBody>
      </p:sp>
      <p:sp>
        <p:nvSpPr>
          <p:cNvPr id="11" name="Text 9"/>
          <p:cNvSpPr/>
          <p:nvPr/>
        </p:nvSpPr>
        <p:spPr>
          <a:xfrm>
            <a:off x="1828800" y="1773936"/>
            <a:ext cx="3383280" cy="2560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Measures how much of installed capacity is being used. Identifies underperformance at site level.</a:t>
            </a:r>
            <a:endParaRPr lang="en-US" sz="1000" dirty="0"/>
          </a:p>
        </p:txBody>
      </p:sp>
      <p:sp>
        <p:nvSpPr>
          <p:cNvPr id="12" name="Shape 10"/>
          <p:cNvSpPr/>
          <p:nvPr/>
        </p:nvSpPr>
        <p:spPr>
          <a:xfrm>
            <a:off x="347472" y="2203704"/>
            <a:ext cx="1417320" cy="530352"/>
          </a:xfrm>
          <a:prstGeom prst="rect">
            <a:avLst/>
          </a:prstGeom>
          <a:solidFill>
            <a:srgbClr val="1A2744"/>
          </a:solidFill>
          <a:ln/>
        </p:spPr>
      </p:sp>
      <p:sp>
        <p:nvSpPr>
          <p:cNvPr id="13" name="Text 11"/>
          <p:cNvSpPr/>
          <p:nvPr/>
        </p:nvSpPr>
        <p:spPr>
          <a:xfrm>
            <a:off x="384048" y="2276856"/>
            <a:ext cx="1344168" cy="384048"/>
          </a:xfrm>
          <a:prstGeom prst="rect">
            <a:avLst/>
          </a:prstGeom>
          <a:noFill/>
          <a:ln/>
        </p:spPr>
        <p:txBody>
          <a:bodyPr wrap="square" rtlCol="0" anchor="ctr"/>
          <a:lstStyle/>
          <a:p>
            <a:pPr marL="0" indent="0">
              <a:buNone/>
            </a:pPr>
            <a:r>
              <a:rPr lang="en-US" sz="850" b="1" dirty="0">
                <a:solidFill>
                  <a:srgbClr val="F5C518"/>
                </a:solidFill>
                <a:latin typeface="Calibri" pitchFamily="34" charset="0"/>
                <a:ea typeface="Calibri" pitchFamily="34" charset="-122"/>
                <a:cs typeface="Calibri" pitchFamily="34" charset="-120"/>
              </a:rPr>
              <a:t>time_of_day_bucket</a:t>
            </a:r>
            <a:endParaRPr lang="en-US" sz="850" dirty="0"/>
          </a:p>
        </p:txBody>
      </p:sp>
      <p:sp>
        <p:nvSpPr>
          <p:cNvPr id="14" name="Text 12"/>
          <p:cNvSpPr/>
          <p:nvPr/>
        </p:nvSpPr>
        <p:spPr>
          <a:xfrm>
            <a:off x="1828800" y="2240280"/>
            <a:ext cx="3383280" cy="201168"/>
          </a:xfrm>
          <a:prstGeom prst="rect">
            <a:avLst/>
          </a:prstGeom>
          <a:noFill/>
          <a:ln/>
        </p:spPr>
        <p:txBody>
          <a:bodyPr wrap="square" rtlCol="0" anchor="ctr"/>
          <a:lstStyle/>
          <a:p>
            <a:pPr marL="0" indent="0">
              <a:buNone/>
            </a:pPr>
            <a:r>
              <a:rPr lang="en-US" sz="900" i="1" dirty="0">
                <a:solidFill>
                  <a:srgbClr val="9B9484"/>
                </a:solidFill>
                <a:latin typeface="Calibri" pitchFamily="34" charset="0"/>
                <a:ea typeface="Calibri" pitchFamily="34" charset="-122"/>
                <a:cs typeface="Calibri" pitchFamily="34" charset="-120"/>
              </a:rPr>
              <a:t>Morning / Midday / Evening</a:t>
            </a:r>
            <a:endParaRPr lang="en-US" sz="900" dirty="0"/>
          </a:p>
        </p:txBody>
      </p:sp>
      <p:sp>
        <p:nvSpPr>
          <p:cNvPr id="15" name="Text 13"/>
          <p:cNvSpPr/>
          <p:nvPr/>
        </p:nvSpPr>
        <p:spPr>
          <a:xfrm>
            <a:off x="1828800" y="2441448"/>
            <a:ext cx="3383280" cy="2560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Groups hourly records into meaningful time buckets for shift-level and operational analysis.</a:t>
            </a:r>
            <a:endParaRPr lang="en-US" sz="1000" dirty="0"/>
          </a:p>
        </p:txBody>
      </p:sp>
      <p:sp>
        <p:nvSpPr>
          <p:cNvPr id="16" name="Shape 14"/>
          <p:cNvSpPr/>
          <p:nvPr/>
        </p:nvSpPr>
        <p:spPr>
          <a:xfrm>
            <a:off x="347472" y="2871216"/>
            <a:ext cx="1417320" cy="530352"/>
          </a:xfrm>
          <a:prstGeom prst="rect">
            <a:avLst/>
          </a:prstGeom>
          <a:solidFill>
            <a:srgbClr val="1A2744"/>
          </a:solidFill>
          <a:ln/>
        </p:spPr>
      </p:sp>
      <p:sp>
        <p:nvSpPr>
          <p:cNvPr id="17" name="Text 15"/>
          <p:cNvSpPr/>
          <p:nvPr/>
        </p:nvSpPr>
        <p:spPr>
          <a:xfrm>
            <a:off x="384048" y="2944368"/>
            <a:ext cx="1344168" cy="384048"/>
          </a:xfrm>
          <a:prstGeom prst="rect">
            <a:avLst/>
          </a:prstGeom>
          <a:noFill/>
          <a:ln/>
        </p:spPr>
        <p:txBody>
          <a:bodyPr wrap="square" rtlCol="0" anchor="ctr"/>
          <a:lstStyle/>
          <a:p>
            <a:pPr marL="0" indent="0">
              <a:buNone/>
            </a:pPr>
            <a:r>
              <a:rPr lang="en-US" sz="850" b="1" dirty="0">
                <a:solidFill>
                  <a:srgbClr val="F5C518"/>
                </a:solidFill>
                <a:latin typeface="Calibri" pitchFamily="34" charset="0"/>
                <a:ea typeface="Calibri" pitchFamily="34" charset="-122"/>
                <a:cs typeface="Calibri" pitchFamily="34" charset="-120"/>
              </a:rPr>
              <a:t>month_name</a:t>
            </a:r>
            <a:endParaRPr lang="en-US" sz="850" dirty="0"/>
          </a:p>
        </p:txBody>
      </p:sp>
      <p:sp>
        <p:nvSpPr>
          <p:cNvPr id="18" name="Text 16"/>
          <p:cNvSpPr/>
          <p:nvPr/>
        </p:nvSpPr>
        <p:spPr>
          <a:xfrm>
            <a:off x="1828800" y="2907792"/>
            <a:ext cx="3383280" cy="201168"/>
          </a:xfrm>
          <a:prstGeom prst="rect">
            <a:avLst/>
          </a:prstGeom>
          <a:noFill/>
          <a:ln/>
        </p:spPr>
        <p:txBody>
          <a:bodyPr wrap="square" rtlCol="0" anchor="ctr"/>
          <a:lstStyle/>
          <a:p>
            <a:pPr marL="0" indent="0">
              <a:buNone/>
            </a:pPr>
            <a:r>
              <a:rPr lang="en-US" sz="900" i="1" dirty="0">
                <a:solidFill>
                  <a:srgbClr val="9B9484"/>
                </a:solidFill>
                <a:latin typeface="Calibri" pitchFamily="34" charset="0"/>
                <a:ea typeface="Calibri" pitchFamily="34" charset="-122"/>
                <a:cs typeface="Calibri" pitchFamily="34" charset="-120"/>
              </a:rPr>
              <a:t>= FORMAT([month], 'MMM')</a:t>
            </a:r>
            <a:endParaRPr lang="en-US" sz="900" dirty="0"/>
          </a:p>
        </p:txBody>
      </p:sp>
      <p:sp>
        <p:nvSpPr>
          <p:cNvPr id="19" name="Text 17"/>
          <p:cNvSpPr/>
          <p:nvPr/>
        </p:nvSpPr>
        <p:spPr>
          <a:xfrm>
            <a:off x="1828800" y="3108960"/>
            <a:ext cx="3383280" cy="2560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Converts numeric month to readable labels (Jan–Dec) for improved chart readability.</a:t>
            </a:r>
            <a:endParaRPr lang="en-US" sz="1000" dirty="0"/>
          </a:p>
        </p:txBody>
      </p:sp>
      <p:sp>
        <p:nvSpPr>
          <p:cNvPr id="20" name="Shape 18"/>
          <p:cNvSpPr/>
          <p:nvPr/>
        </p:nvSpPr>
        <p:spPr>
          <a:xfrm>
            <a:off x="347472" y="3538728"/>
            <a:ext cx="1417320" cy="530352"/>
          </a:xfrm>
          <a:prstGeom prst="rect">
            <a:avLst/>
          </a:prstGeom>
          <a:solidFill>
            <a:srgbClr val="1A2744"/>
          </a:solidFill>
          <a:ln/>
        </p:spPr>
      </p:sp>
      <p:sp>
        <p:nvSpPr>
          <p:cNvPr id="21" name="Text 19"/>
          <p:cNvSpPr/>
          <p:nvPr/>
        </p:nvSpPr>
        <p:spPr>
          <a:xfrm>
            <a:off x="384048" y="3611880"/>
            <a:ext cx="1344168" cy="384048"/>
          </a:xfrm>
          <a:prstGeom prst="rect">
            <a:avLst/>
          </a:prstGeom>
          <a:noFill/>
          <a:ln/>
        </p:spPr>
        <p:txBody>
          <a:bodyPr wrap="square" rtlCol="0" anchor="ctr"/>
          <a:lstStyle/>
          <a:p>
            <a:pPr marL="0" indent="0">
              <a:buNone/>
            </a:pPr>
            <a:r>
              <a:rPr lang="en-US" sz="850" b="1" dirty="0">
                <a:solidFill>
                  <a:srgbClr val="F5C518"/>
                </a:solidFill>
                <a:latin typeface="Calibri" pitchFamily="34" charset="0"/>
                <a:ea typeface="Calibri" pitchFamily="34" charset="-122"/>
                <a:cs typeface="Calibri" pitchFamily="34" charset="-120"/>
              </a:rPr>
              <a:t>is_peak_hour</a:t>
            </a:r>
            <a:endParaRPr lang="en-US" sz="850" dirty="0"/>
          </a:p>
        </p:txBody>
      </p:sp>
      <p:sp>
        <p:nvSpPr>
          <p:cNvPr id="22" name="Text 20"/>
          <p:cNvSpPr/>
          <p:nvPr/>
        </p:nvSpPr>
        <p:spPr>
          <a:xfrm>
            <a:off x="1828800" y="3575304"/>
            <a:ext cx="3383280" cy="201168"/>
          </a:xfrm>
          <a:prstGeom prst="rect">
            <a:avLst/>
          </a:prstGeom>
          <a:noFill/>
          <a:ln/>
        </p:spPr>
        <p:txBody>
          <a:bodyPr wrap="square" rtlCol="0" anchor="ctr"/>
          <a:lstStyle/>
          <a:p>
            <a:pPr marL="0" indent="0">
              <a:buNone/>
            </a:pPr>
            <a:r>
              <a:rPr lang="en-US" sz="900" i="1" dirty="0">
                <a:solidFill>
                  <a:srgbClr val="9B9484"/>
                </a:solidFill>
                <a:latin typeface="Calibri" pitchFamily="34" charset="0"/>
                <a:ea typeface="Calibri" pitchFamily="34" charset="-122"/>
                <a:cs typeface="Calibri" pitchFamily="34" charset="-120"/>
              </a:rPr>
              <a:t>= IF([hour] &gt;= 10 &amp;&amp; [hour] &lt;= 16, 1, 0)</a:t>
            </a:r>
            <a:endParaRPr lang="en-US" sz="900" dirty="0"/>
          </a:p>
        </p:txBody>
      </p:sp>
      <p:sp>
        <p:nvSpPr>
          <p:cNvPr id="23" name="Text 21"/>
          <p:cNvSpPr/>
          <p:nvPr/>
        </p:nvSpPr>
        <p:spPr>
          <a:xfrm>
            <a:off x="1828800" y="3776472"/>
            <a:ext cx="3383280" cy="2560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Binary flag identifying peak generation hours for targeted analysis and alerts.</a:t>
            </a:r>
            <a:endParaRPr lang="en-US" sz="1000" dirty="0"/>
          </a:p>
        </p:txBody>
      </p:sp>
      <p:sp>
        <p:nvSpPr>
          <p:cNvPr id="24" name="Shape 22"/>
          <p:cNvSpPr/>
          <p:nvPr/>
        </p:nvSpPr>
        <p:spPr>
          <a:xfrm>
            <a:off x="347472" y="4206240"/>
            <a:ext cx="1417320" cy="530352"/>
          </a:xfrm>
          <a:prstGeom prst="rect">
            <a:avLst/>
          </a:prstGeom>
          <a:solidFill>
            <a:srgbClr val="1A2744"/>
          </a:solidFill>
          <a:ln/>
        </p:spPr>
      </p:sp>
      <p:sp>
        <p:nvSpPr>
          <p:cNvPr id="25" name="Text 23"/>
          <p:cNvSpPr/>
          <p:nvPr/>
        </p:nvSpPr>
        <p:spPr>
          <a:xfrm>
            <a:off x="384048" y="4279392"/>
            <a:ext cx="1344168" cy="384048"/>
          </a:xfrm>
          <a:prstGeom prst="rect">
            <a:avLst/>
          </a:prstGeom>
          <a:noFill/>
          <a:ln/>
        </p:spPr>
        <p:txBody>
          <a:bodyPr wrap="square" rtlCol="0" anchor="ctr"/>
          <a:lstStyle/>
          <a:p>
            <a:pPr marL="0" indent="0">
              <a:buNone/>
            </a:pPr>
            <a:r>
              <a:rPr lang="en-US" sz="850" b="1" dirty="0">
                <a:solidFill>
                  <a:srgbClr val="F5C518"/>
                </a:solidFill>
                <a:latin typeface="Calibri" pitchFamily="34" charset="0"/>
                <a:ea typeface="Calibri" pitchFamily="34" charset="-122"/>
                <a:cs typeface="Calibri" pitchFamily="34" charset="-120"/>
              </a:rPr>
              <a:t>power_gap_mw</a:t>
            </a:r>
            <a:endParaRPr lang="en-US" sz="850" dirty="0"/>
          </a:p>
        </p:txBody>
      </p:sp>
      <p:sp>
        <p:nvSpPr>
          <p:cNvPr id="26" name="Text 24"/>
          <p:cNvSpPr/>
          <p:nvPr/>
        </p:nvSpPr>
        <p:spPr>
          <a:xfrm>
            <a:off x="1828800" y="4242816"/>
            <a:ext cx="3383280" cy="201168"/>
          </a:xfrm>
          <a:prstGeom prst="rect">
            <a:avLst/>
          </a:prstGeom>
          <a:noFill/>
          <a:ln/>
        </p:spPr>
        <p:txBody>
          <a:bodyPr wrap="square" rtlCol="0" anchor="ctr"/>
          <a:lstStyle/>
          <a:p>
            <a:pPr marL="0" indent="0">
              <a:buNone/>
            </a:pPr>
            <a:r>
              <a:rPr lang="en-US" sz="900" i="1" dirty="0">
                <a:solidFill>
                  <a:srgbClr val="9B9484"/>
                </a:solidFill>
                <a:latin typeface="Calibri" pitchFamily="34" charset="0"/>
                <a:ea typeface="Calibri" pitchFamily="34" charset="-122"/>
                <a:cs typeface="Calibri" pitchFamily="34" charset="-120"/>
              </a:rPr>
              <a:t>= capacity_mw – power_mw</a:t>
            </a:r>
            <a:endParaRPr lang="en-US" sz="900" dirty="0"/>
          </a:p>
        </p:txBody>
      </p:sp>
      <p:sp>
        <p:nvSpPr>
          <p:cNvPr id="27" name="Text 25"/>
          <p:cNvSpPr/>
          <p:nvPr/>
        </p:nvSpPr>
        <p:spPr>
          <a:xfrm>
            <a:off x="1828800" y="4443984"/>
            <a:ext cx="3383280" cy="2560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Calculates unused capacity; highlights performance deficit in absolute MW terms.</a:t>
            </a:r>
            <a:endParaRPr lang="en-US" sz="1000" dirty="0"/>
          </a:p>
        </p:txBody>
      </p:sp>
      <p:sp>
        <p:nvSpPr>
          <p:cNvPr id="28" name="Shape 26"/>
          <p:cNvSpPr/>
          <p:nvPr/>
        </p:nvSpPr>
        <p:spPr>
          <a:xfrm>
            <a:off x="5532120" y="1051560"/>
            <a:ext cx="3337560" cy="3886200"/>
          </a:xfrm>
          <a:prstGeom prst="rect">
            <a:avLst/>
          </a:prstGeom>
          <a:solidFill>
            <a:srgbClr val="1A2744"/>
          </a:solidFill>
          <a:ln/>
          <a:effectLst>
            <a:outerShdw blurRad="101600" dist="38100" dir="8100000" algn="bl" rotWithShape="0">
              <a:srgbClr val="000000">
                <a:alpha val="12000"/>
              </a:srgbClr>
            </a:outerShdw>
          </a:effectLst>
        </p:spPr>
      </p:sp>
      <p:sp>
        <p:nvSpPr>
          <p:cNvPr id="29" name="Shape 27"/>
          <p:cNvSpPr/>
          <p:nvPr/>
        </p:nvSpPr>
        <p:spPr>
          <a:xfrm>
            <a:off x="5532120" y="1051560"/>
            <a:ext cx="3337560" cy="384048"/>
          </a:xfrm>
          <a:prstGeom prst="rect">
            <a:avLst/>
          </a:prstGeom>
          <a:solidFill>
            <a:srgbClr val="243460"/>
          </a:solidFill>
          <a:ln/>
        </p:spPr>
      </p:sp>
      <p:sp>
        <p:nvSpPr>
          <p:cNvPr id="30" name="Text 28"/>
          <p:cNvSpPr/>
          <p:nvPr/>
        </p:nvSpPr>
        <p:spPr>
          <a:xfrm>
            <a:off x="5623560" y="1078992"/>
            <a:ext cx="3154680" cy="329184"/>
          </a:xfrm>
          <a:prstGeom prst="rect">
            <a:avLst/>
          </a:prstGeom>
          <a:noFill/>
          <a:ln/>
        </p:spPr>
        <p:txBody>
          <a:bodyPr wrap="square" rtlCol="0" anchor="ctr"/>
          <a:lstStyle/>
          <a:p>
            <a:pPr marL="0" indent="0">
              <a:buNone/>
            </a:pPr>
            <a:r>
              <a:rPr lang="en-US" sz="1200" b="1" dirty="0">
                <a:solidFill>
                  <a:srgbClr val="F5C518"/>
                </a:solidFill>
                <a:latin typeface="Calibri" pitchFamily="34" charset="0"/>
                <a:ea typeface="Calibri" pitchFamily="34" charset="-122"/>
                <a:cs typeface="Calibri" pitchFamily="34" charset="-120"/>
              </a:rPr>
              <a:t>Aggregations Applied</a:t>
            </a:r>
            <a:endParaRPr lang="en-US" sz="1200" dirty="0"/>
          </a:p>
        </p:txBody>
      </p:sp>
      <p:sp>
        <p:nvSpPr>
          <p:cNvPr id="31" name="Shape 29"/>
          <p:cNvSpPr/>
          <p:nvPr/>
        </p:nvSpPr>
        <p:spPr>
          <a:xfrm>
            <a:off x="5596128" y="1536192"/>
            <a:ext cx="457200" cy="438912"/>
          </a:xfrm>
          <a:prstGeom prst="rect">
            <a:avLst/>
          </a:prstGeom>
          <a:solidFill>
            <a:srgbClr val="E87C1E"/>
          </a:solidFill>
          <a:ln/>
        </p:spPr>
      </p:sp>
      <p:sp>
        <p:nvSpPr>
          <p:cNvPr id="32" name="Text 30"/>
          <p:cNvSpPr/>
          <p:nvPr/>
        </p:nvSpPr>
        <p:spPr>
          <a:xfrm>
            <a:off x="5596128" y="1536192"/>
            <a:ext cx="45720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SUM</a:t>
            </a:r>
            <a:endParaRPr lang="en-US" sz="900" dirty="0"/>
          </a:p>
        </p:txBody>
      </p:sp>
      <p:sp>
        <p:nvSpPr>
          <p:cNvPr id="33" name="Text 31"/>
          <p:cNvSpPr/>
          <p:nvPr/>
        </p:nvSpPr>
        <p:spPr>
          <a:xfrm>
            <a:off x="6126480" y="1554480"/>
            <a:ext cx="2651760" cy="201168"/>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power_mw by Month</a:t>
            </a:r>
            <a:endParaRPr lang="en-US" sz="1000" dirty="0"/>
          </a:p>
        </p:txBody>
      </p:sp>
      <p:sp>
        <p:nvSpPr>
          <p:cNvPr id="34" name="Text 32"/>
          <p:cNvSpPr/>
          <p:nvPr/>
        </p:nvSpPr>
        <p:spPr>
          <a:xfrm>
            <a:off x="6126480" y="1755648"/>
            <a:ext cx="2651760" cy="201168"/>
          </a:xfrm>
          <a:prstGeom prst="rect">
            <a:avLst/>
          </a:prstGeom>
          <a:noFill/>
          <a:ln/>
        </p:spPr>
        <p:txBody>
          <a:bodyPr wrap="square" rtlCol="0" anchor="ctr"/>
          <a:lstStyle/>
          <a:p>
            <a:pPr marL="0" indent="0">
              <a:buNone/>
            </a:pPr>
            <a:r>
              <a:rPr lang="en-US" sz="950" dirty="0">
                <a:solidFill>
                  <a:srgbClr val="E8E4DA"/>
                </a:solidFill>
                <a:latin typeface="Calibri" pitchFamily="34" charset="0"/>
                <a:ea typeface="Calibri" pitchFamily="34" charset="-122"/>
                <a:cs typeface="Calibri" pitchFamily="34" charset="-120"/>
              </a:rPr>
              <a:t>Total monthly energy output for trend charts</a:t>
            </a:r>
            <a:endParaRPr lang="en-US" sz="950" dirty="0"/>
          </a:p>
        </p:txBody>
      </p:sp>
      <p:sp>
        <p:nvSpPr>
          <p:cNvPr id="35" name="Shape 33"/>
          <p:cNvSpPr/>
          <p:nvPr/>
        </p:nvSpPr>
        <p:spPr>
          <a:xfrm>
            <a:off x="5596128" y="2103120"/>
            <a:ext cx="457200" cy="438912"/>
          </a:xfrm>
          <a:prstGeom prst="rect">
            <a:avLst/>
          </a:prstGeom>
          <a:solidFill>
            <a:srgbClr val="E87C1E"/>
          </a:solidFill>
          <a:ln/>
        </p:spPr>
      </p:sp>
      <p:sp>
        <p:nvSpPr>
          <p:cNvPr id="36" name="Text 34"/>
          <p:cNvSpPr/>
          <p:nvPr/>
        </p:nvSpPr>
        <p:spPr>
          <a:xfrm>
            <a:off x="5596128" y="2103120"/>
            <a:ext cx="45720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SUM</a:t>
            </a:r>
            <a:endParaRPr lang="en-US" sz="900" dirty="0"/>
          </a:p>
        </p:txBody>
      </p:sp>
      <p:sp>
        <p:nvSpPr>
          <p:cNvPr id="37" name="Text 35"/>
          <p:cNvSpPr/>
          <p:nvPr/>
        </p:nvSpPr>
        <p:spPr>
          <a:xfrm>
            <a:off x="6126480" y="2121408"/>
            <a:ext cx="2651760" cy="201168"/>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power_mw by Day</a:t>
            </a:r>
            <a:endParaRPr lang="en-US" sz="1000" dirty="0"/>
          </a:p>
        </p:txBody>
      </p:sp>
      <p:sp>
        <p:nvSpPr>
          <p:cNvPr id="38" name="Text 36"/>
          <p:cNvSpPr/>
          <p:nvPr/>
        </p:nvSpPr>
        <p:spPr>
          <a:xfrm>
            <a:off x="6126480" y="2322576"/>
            <a:ext cx="2651760" cy="201168"/>
          </a:xfrm>
          <a:prstGeom prst="rect">
            <a:avLst/>
          </a:prstGeom>
          <a:noFill/>
          <a:ln/>
        </p:spPr>
        <p:txBody>
          <a:bodyPr wrap="square" rtlCol="0" anchor="ctr"/>
          <a:lstStyle/>
          <a:p>
            <a:pPr marL="0" indent="0">
              <a:buNone/>
            </a:pPr>
            <a:r>
              <a:rPr lang="en-US" sz="950" dirty="0">
                <a:solidFill>
                  <a:srgbClr val="E8E4DA"/>
                </a:solidFill>
                <a:latin typeface="Calibri" pitchFamily="34" charset="0"/>
                <a:ea typeface="Calibri" pitchFamily="34" charset="-122"/>
                <a:cs typeface="Calibri" pitchFamily="34" charset="-120"/>
              </a:rPr>
              <a:t>Daily totals to identify cyclical patterns</a:t>
            </a:r>
            <a:endParaRPr lang="en-US" sz="950" dirty="0"/>
          </a:p>
        </p:txBody>
      </p:sp>
      <p:sp>
        <p:nvSpPr>
          <p:cNvPr id="39" name="Shape 37"/>
          <p:cNvSpPr/>
          <p:nvPr/>
        </p:nvSpPr>
        <p:spPr>
          <a:xfrm>
            <a:off x="5596128" y="2670048"/>
            <a:ext cx="457200" cy="438912"/>
          </a:xfrm>
          <a:prstGeom prst="rect">
            <a:avLst/>
          </a:prstGeom>
          <a:solidFill>
            <a:srgbClr val="E87C1E"/>
          </a:solidFill>
          <a:ln/>
        </p:spPr>
      </p:sp>
      <p:sp>
        <p:nvSpPr>
          <p:cNvPr id="40" name="Text 38"/>
          <p:cNvSpPr/>
          <p:nvPr/>
        </p:nvSpPr>
        <p:spPr>
          <a:xfrm>
            <a:off x="5596128" y="2670048"/>
            <a:ext cx="45720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AVG</a:t>
            </a:r>
            <a:endParaRPr lang="en-US" sz="900" dirty="0"/>
          </a:p>
        </p:txBody>
      </p:sp>
      <p:sp>
        <p:nvSpPr>
          <p:cNvPr id="41" name="Text 39"/>
          <p:cNvSpPr/>
          <p:nvPr/>
        </p:nvSpPr>
        <p:spPr>
          <a:xfrm>
            <a:off x="6126480" y="2688336"/>
            <a:ext cx="2651760" cy="201168"/>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power_mw by Hour</a:t>
            </a:r>
            <a:endParaRPr lang="en-US" sz="1000" dirty="0"/>
          </a:p>
        </p:txBody>
      </p:sp>
      <p:sp>
        <p:nvSpPr>
          <p:cNvPr id="42" name="Text 40"/>
          <p:cNvSpPr/>
          <p:nvPr/>
        </p:nvSpPr>
        <p:spPr>
          <a:xfrm>
            <a:off x="6126480" y="2889504"/>
            <a:ext cx="2651760" cy="201168"/>
          </a:xfrm>
          <a:prstGeom prst="rect">
            <a:avLst/>
          </a:prstGeom>
          <a:noFill/>
          <a:ln/>
        </p:spPr>
        <p:txBody>
          <a:bodyPr wrap="square" rtlCol="0" anchor="ctr"/>
          <a:lstStyle/>
          <a:p>
            <a:pPr marL="0" indent="0">
              <a:buNone/>
            </a:pPr>
            <a:r>
              <a:rPr lang="en-US" sz="950" dirty="0">
                <a:solidFill>
                  <a:srgbClr val="E8E4DA"/>
                </a:solidFill>
                <a:latin typeface="Calibri" pitchFamily="34" charset="0"/>
                <a:ea typeface="Calibri" pitchFamily="34" charset="-122"/>
                <a:cs typeface="Calibri" pitchFamily="34" charset="-120"/>
              </a:rPr>
              <a:t>Hourly mean to build the solar bell curve</a:t>
            </a:r>
            <a:endParaRPr lang="en-US" sz="950" dirty="0"/>
          </a:p>
        </p:txBody>
      </p:sp>
      <p:sp>
        <p:nvSpPr>
          <p:cNvPr id="43" name="Shape 41"/>
          <p:cNvSpPr/>
          <p:nvPr/>
        </p:nvSpPr>
        <p:spPr>
          <a:xfrm>
            <a:off x="5596128" y="3236976"/>
            <a:ext cx="457200" cy="438912"/>
          </a:xfrm>
          <a:prstGeom prst="rect">
            <a:avLst/>
          </a:prstGeom>
          <a:solidFill>
            <a:srgbClr val="E87C1E"/>
          </a:solidFill>
          <a:ln/>
        </p:spPr>
      </p:sp>
      <p:sp>
        <p:nvSpPr>
          <p:cNvPr id="44" name="Text 42"/>
          <p:cNvSpPr/>
          <p:nvPr/>
        </p:nvSpPr>
        <p:spPr>
          <a:xfrm>
            <a:off x="5596128" y="3236976"/>
            <a:ext cx="45720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AVG</a:t>
            </a:r>
            <a:endParaRPr lang="en-US" sz="900" dirty="0"/>
          </a:p>
        </p:txBody>
      </p:sp>
      <p:sp>
        <p:nvSpPr>
          <p:cNvPr id="45" name="Text 43"/>
          <p:cNvSpPr/>
          <p:nvPr/>
        </p:nvSpPr>
        <p:spPr>
          <a:xfrm>
            <a:off x="6126480" y="3255264"/>
            <a:ext cx="2651760" cy="201168"/>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capacity_mw by site_type</a:t>
            </a:r>
            <a:endParaRPr lang="en-US" sz="1000" dirty="0"/>
          </a:p>
        </p:txBody>
      </p:sp>
      <p:sp>
        <p:nvSpPr>
          <p:cNvPr id="46" name="Text 44"/>
          <p:cNvSpPr/>
          <p:nvPr/>
        </p:nvSpPr>
        <p:spPr>
          <a:xfrm>
            <a:off x="6126480" y="3456432"/>
            <a:ext cx="2651760" cy="201168"/>
          </a:xfrm>
          <a:prstGeom prst="rect">
            <a:avLst/>
          </a:prstGeom>
          <a:noFill/>
          <a:ln/>
        </p:spPr>
        <p:txBody>
          <a:bodyPr wrap="square" rtlCol="0" anchor="ctr"/>
          <a:lstStyle/>
          <a:p>
            <a:pPr marL="0" indent="0">
              <a:buNone/>
            </a:pPr>
            <a:r>
              <a:rPr lang="en-US" sz="950" dirty="0">
                <a:solidFill>
                  <a:srgbClr val="E8E4DA"/>
                </a:solidFill>
                <a:latin typeface="Calibri" pitchFamily="34" charset="0"/>
                <a:ea typeface="Calibri" pitchFamily="34" charset="-122"/>
                <a:cs typeface="Calibri" pitchFamily="34" charset="-120"/>
              </a:rPr>
              <a:t>Capacity benchmarks per site category</a:t>
            </a:r>
            <a:endParaRPr lang="en-US" sz="950" dirty="0"/>
          </a:p>
        </p:txBody>
      </p:sp>
      <p:sp>
        <p:nvSpPr>
          <p:cNvPr id="47" name="Shape 45"/>
          <p:cNvSpPr/>
          <p:nvPr/>
        </p:nvSpPr>
        <p:spPr>
          <a:xfrm>
            <a:off x="5596128" y="3803904"/>
            <a:ext cx="457200" cy="438912"/>
          </a:xfrm>
          <a:prstGeom prst="rect">
            <a:avLst/>
          </a:prstGeom>
          <a:solidFill>
            <a:srgbClr val="E87C1E"/>
          </a:solidFill>
          <a:ln/>
        </p:spPr>
      </p:sp>
      <p:sp>
        <p:nvSpPr>
          <p:cNvPr id="48" name="Text 46"/>
          <p:cNvSpPr/>
          <p:nvPr/>
        </p:nvSpPr>
        <p:spPr>
          <a:xfrm>
            <a:off x="5596128" y="3803904"/>
            <a:ext cx="45720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AVG</a:t>
            </a:r>
            <a:endParaRPr lang="en-US" sz="900" dirty="0"/>
          </a:p>
        </p:txBody>
      </p:sp>
      <p:sp>
        <p:nvSpPr>
          <p:cNvPr id="49" name="Text 47"/>
          <p:cNvSpPr/>
          <p:nvPr/>
        </p:nvSpPr>
        <p:spPr>
          <a:xfrm>
            <a:off x="6126480" y="3822192"/>
            <a:ext cx="2651760" cy="201168"/>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power_mw by site_type</a:t>
            </a:r>
            <a:endParaRPr lang="en-US" sz="1000" dirty="0"/>
          </a:p>
        </p:txBody>
      </p:sp>
      <p:sp>
        <p:nvSpPr>
          <p:cNvPr id="50" name="Text 48"/>
          <p:cNvSpPr/>
          <p:nvPr/>
        </p:nvSpPr>
        <p:spPr>
          <a:xfrm>
            <a:off x="6126480" y="4023360"/>
            <a:ext cx="2651760" cy="201168"/>
          </a:xfrm>
          <a:prstGeom prst="rect">
            <a:avLst/>
          </a:prstGeom>
          <a:noFill/>
          <a:ln/>
        </p:spPr>
        <p:txBody>
          <a:bodyPr wrap="square" rtlCol="0" anchor="ctr"/>
          <a:lstStyle/>
          <a:p>
            <a:pPr marL="0" indent="0">
              <a:buNone/>
            </a:pPr>
            <a:r>
              <a:rPr lang="en-US" sz="950" dirty="0">
                <a:solidFill>
                  <a:srgbClr val="E8E4DA"/>
                </a:solidFill>
                <a:latin typeface="Calibri" pitchFamily="34" charset="0"/>
                <a:ea typeface="Calibri" pitchFamily="34" charset="-122"/>
                <a:cs typeface="Calibri" pitchFamily="34" charset="-120"/>
              </a:rPr>
              <a:t>Performance comparison across site types</a:t>
            </a:r>
            <a:endParaRPr lang="en-US" sz="950" dirty="0"/>
          </a:p>
        </p:txBody>
      </p:sp>
      <p:sp>
        <p:nvSpPr>
          <p:cNvPr id="51" name="Shape 49"/>
          <p:cNvSpPr/>
          <p:nvPr/>
        </p:nvSpPr>
        <p:spPr>
          <a:xfrm>
            <a:off x="5596128" y="4370832"/>
            <a:ext cx="457200" cy="438912"/>
          </a:xfrm>
          <a:prstGeom prst="rect">
            <a:avLst/>
          </a:prstGeom>
          <a:solidFill>
            <a:srgbClr val="E87C1E"/>
          </a:solidFill>
          <a:ln/>
        </p:spPr>
      </p:sp>
      <p:sp>
        <p:nvSpPr>
          <p:cNvPr id="52" name="Text 50"/>
          <p:cNvSpPr/>
          <p:nvPr/>
        </p:nvSpPr>
        <p:spPr>
          <a:xfrm>
            <a:off x="5596128" y="4370832"/>
            <a:ext cx="45720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MAX</a:t>
            </a:r>
            <a:endParaRPr lang="en-US" sz="900" dirty="0"/>
          </a:p>
        </p:txBody>
      </p:sp>
      <p:sp>
        <p:nvSpPr>
          <p:cNvPr id="53" name="Text 51"/>
          <p:cNvSpPr/>
          <p:nvPr/>
        </p:nvSpPr>
        <p:spPr>
          <a:xfrm>
            <a:off x="6126480" y="4389120"/>
            <a:ext cx="2651760" cy="201168"/>
          </a:xfrm>
          <a:prstGeom prst="rect">
            <a:avLst/>
          </a:prstGeom>
          <a:noFill/>
          <a:ln/>
        </p:spPr>
        <p:txBody>
          <a:bodyPr wrap="square" rtlCol="0" anchor="ctr"/>
          <a:lstStyle/>
          <a:p>
            <a:pPr marL="0" indent="0">
              <a:buNone/>
            </a:pPr>
            <a:r>
              <a:rPr lang="en-US" sz="1000" b="1" dirty="0">
                <a:solidFill>
                  <a:srgbClr val="F5C518"/>
                </a:solidFill>
                <a:latin typeface="Calibri" pitchFamily="34" charset="0"/>
                <a:ea typeface="Calibri" pitchFamily="34" charset="-122"/>
                <a:cs typeface="Calibri" pitchFamily="34" charset="-120"/>
              </a:rPr>
              <a:t>power_mw &amp; capacity_mw</a:t>
            </a:r>
            <a:endParaRPr lang="en-US" sz="1000" dirty="0"/>
          </a:p>
        </p:txBody>
      </p:sp>
      <p:sp>
        <p:nvSpPr>
          <p:cNvPr id="54" name="Text 52"/>
          <p:cNvSpPr/>
          <p:nvPr/>
        </p:nvSpPr>
        <p:spPr>
          <a:xfrm>
            <a:off x="6126480" y="4590288"/>
            <a:ext cx="2651760" cy="201168"/>
          </a:xfrm>
          <a:prstGeom prst="rect">
            <a:avLst/>
          </a:prstGeom>
          <a:noFill/>
          <a:ln/>
        </p:spPr>
        <p:txBody>
          <a:bodyPr wrap="square" rtlCol="0" anchor="ctr"/>
          <a:lstStyle/>
          <a:p>
            <a:pPr marL="0" indent="0">
              <a:buNone/>
            </a:pPr>
            <a:r>
              <a:rPr lang="en-US" sz="950" dirty="0">
                <a:solidFill>
                  <a:srgbClr val="E8E4DA"/>
                </a:solidFill>
                <a:latin typeface="Calibri" pitchFamily="34" charset="0"/>
                <a:ea typeface="Calibri" pitchFamily="34" charset="-122"/>
                <a:cs typeface="Calibri" pitchFamily="34" charset="-120"/>
              </a:rPr>
              <a:t>KPI card values for executive dashboard</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E87C1E"/>
          </a:solidFill>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TOOLS &amp; TECHNOLOGIES</a:t>
            </a:r>
            <a:endParaRPr lang="en-US" sz="30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F8F6F0"/>
                </a:solidFill>
              </a:rPr>
              <a:t>Technologies Used in This Analysis</a:t>
            </a:r>
            <a:endParaRPr lang="en-US" sz="1300" dirty="0"/>
          </a:p>
        </p:txBody>
      </p:sp>
      <p:sp>
        <p:nvSpPr>
          <p:cNvPr id="5" name="Shape 3"/>
          <p:cNvSpPr/>
          <p:nvPr/>
        </p:nvSpPr>
        <p:spPr>
          <a:xfrm>
            <a:off x="274320" y="1097280"/>
            <a:ext cx="2788920" cy="1691640"/>
          </a:xfrm>
          <a:prstGeom prst="rect">
            <a:avLst/>
          </a:prstGeom>
          <a:solidFill>
            <a:srgbClr val="243460"/>
          </a:solidFill>
          <a:ln/>
          <a:effectLst>
            <a:outerShdw blurRad="101600" dist="38100" dir="8100000" algn="bl" rotWithShape="0">
              <a:srgbClr val="000000">
                <a:alpha val="12000"/>
              </a:srgbClr>
            </a:outerShdw>
          </a:effectLst>
        </p:spPr>
      </p:sp>
      <p:sp>
        <p:nvSpPr>
          <p:cNvPr id="6" name="Shape 4"/>
          <p:cNvSpPr/>
          <p:nvPr/>
        </p:nvSpPr>
        <p:spPr>
          <a:xfrm>
            <a:off x="274320" y="1097280"/>
            <a:ext cx="2788920" cy="384048"/>
          </a:xfrm>
          <a:prstGeom prst="rect">
            <a:avLst/>
          </a:prstGeom>
          <a:solidFill>
            <a:srgbClr val="2E4080"/>
          </a:solidFill>
          <a:ln/>
        </p:spPr>
      </p:sp>
      <p:sp>
        <p:nvSpPr>
          <p:cNvPr id="7" name="Text 5"/>
          <p:cNvSpPr/>
          <p:nvPr/>
        </p:nvSpPr>
        <p:spPr>
          <a:xfrm>
            <a:off x="347472" y="1143000"/>
            <a:ext cx="2633472" cy="292608"/>
          </a:xfrm>
          <a:prstGeom prst="rect">
            <a:avLst/>
          </a:prstGeom>
          <a:noFill/>
          <a:ln/>
        </p:spPr>
        <p:txBody>
          <a:bodyPr wrap="square" rtlCol="0" anchor="ctr"/>
          <a:lstStyle/>
          <a:p>
            <a:pPr marL="0" indent="0">
              <a:buNone/>
            </a:pPr>
            <a:r>
              <a:rPr lang="en-US" sz="1100" b="1" dirty="0">
                <a:solidFill>
                  <a:srgbClr val="F5C518"/>
                </a:solidFill>
                <a:latin typeface="Calibri" pitchFamily="34" charset="0"/>
                <a:ea typeface="Calibri" pitchFamily="34" charset="-122"/>
                <a:cs typeface="Calibri" pitchFamily="34" charset="-120"/>
              </a:rPr>
              <a:t>📊  Microsoft Power BI</a:t>
            </a:r>
            <a:endParaRPr lang="en-US" sz="1100" dirty="0"/>
          </a:p>
        </p:txBody>
      </p:sp>
      <p:sp>
        <p:nvSpPr>
          <p:cNvPr id="8" name="Text 6"/>
          <p:cNvSpPr/>
          <p:nvPr/>
        </p:nvSpPr>
        <p:spPr>
          <a:xfrm>
            <a:off x="347472" y="1517904"/>
            <a:ext cx="2633472" cy="201168"/>
          </a:xfrm>
          <a:prstGeom prst="rect">
            <a:avLst/>
          </a:prstGeom>
          <a:noFill/>
          <a:ln/>
        </p:spPr>
        <p:txBody>
          <a:bodyPr wrap="square" rtlCol="0" anchor="ctr"/>
          <a:lstStyle/>
          <a:p>
            <a:pPr marL="0" indent="0">
              <a:buNone/>
            </a:pPr>
            <a:r>
              <a:rPr lang="en-US" sz="1000" b="1" dirty="0">
                <a:solidFill>
                  <a:srgbClr val="FDE68A"/>
                </a:solidFill>
                <a:latin typeface="Calibri" pitchFamily="34" charset="0"/>
                <a:ea typeface="Calibri" pitchFamily="34" charset="-122"/>
                <a:cs typeface="Calibri" pitchFamily="34" charset="-120"/>
              </a:rPr>
              <a:t>Primary BI &amp; Visualization Tool</a:t>
            </a:r>
            <a:endParaRPr lang="en-US" sz="1000" dirty="0"/>
          </a:p>
        </p:txBody>
      </p:sp>
      <p:sp>
        <p:nvSpPr>
          <p:cNvPr id="9" name="Text 7"/>
          <p:cNvSpPr/>
          <p:nvPr/>
        </p:nvSpPr>
        <p:spPr>
          <a:xfrm>
            <a:off x="347472" y="1737360"/>
            <a:ext cx="2633472" cy="987552"/>
          </a:xfrm>
          <a:prstGeom prst="rect">
            <a:avLst/>
          </a:prstGeom>
          <a:noFill/>
          <a:ln/>
        </p:spPr>
        <p:txBody>
          <a:bodyPr wrap="square" rtlCol="0" anchor="ctr"/>
          <a:lstStyle/>
          <a:p>
            <a:pPr marL="0" indent="0">
              <a:buNone/>
            </a:pPr>
            <a:r>
              <a:rPr lang="en-US" sz="950" dirty="0">
                <a:solidFill>
                  <a:srgbClr val="E8E4DA"/>
                </a:solidFill>
                <a:latin typeface="Calibri" pitchFamily="34" charset="0"/>
                <a:ea typeface="Calibri" pitchFamily="34" charset="-122"/>
                <a:cs typeface="Calibri" pitchFamily="34" charset="-120"/>
              </a:rPr>
              <a:t>Used for interactive dashboard creation, DAX calculated measures, data modeling, and real-time KPI cards. The .pbix file is the deliverable output.</a:t>
            </a:r>
            <a:endParaRPr lang="en-US" sz="950" dirty="0"/>
          </a:p>
        </p:txBody>
      </p:sp>
      <p:sp>
        <p:nvSpPr>
          <p:cNvPr id="10" name="Shape 8"/>
          <p:cNvSpPr/>
          <p:nvPr/>
        </p:nvSpPr>
        <p:spPr>
          <a:xfrm>
            <a:off x="3218688" y="1097280"/>
            <a:ext cx="2788920" cy="1691640"/>
          </a:xfrm>
          <a:prstGeom prst="rect">
            <a:avLst/>
          </a:prstGeom>
          <a:solidFill>
            <a:srgbClr val="243460"/>
          </a:solidFill>
          <a:ln/>
          <a:effectLst>
            <a:outerShdw blurRad="101600" dist="38100" dir="8100000" algn="bl" rotWithShape="0">
              <a:srgbClr val="000000">
                <a:alpha val="12000"/>
              </a:srgbClr>
            </a:outerShdw>
          </a:effectLst>
        </p:spPr>
      </p:sp>
      <p:sp>
        <p:nvSpPr>
          <p:cNvPr id="11" name="Shape 9"/>
          <p:cNvSpPr/>
          <p:nvPr/>
        </p:nvSpPr>
        <p:spPr>
          <a:xfrm>
            <a:off x="3218688" y="1097280"/>
            <a:ext cx="2788920" cy="384048"/>
          </a:xfrm>
          <a:prstGeom prst="rect">
            <a:avLst/>
          </a:prstGeom>
          <a:solidFill>
            <a:srgbClr val="2E4080"/>
          </a:solidFill>
          <a:ln/>
        </p:spPr>
      </p:sp>
      <p:sp>
        <p:nvSpPr>
          <p:cNvPr id="12" name="Text 10"/>
          <p:cNvSpPr/>
          <p:nvPr/>
        </p:nvSpPr>
        <p:spPr>
          <a:xfrm>
            <a:off x="3291840" y="1143000"/>
            <a:ext cx="2633472" cy="292608"/>
          </a:xfrm>
          <a:prstGeom prst="rect">
            <a:avLst/>
          </a:prstGeom>
          <a:noFill/>
          <a:ln/>
        </p:spPr>
        <p:txBody>
          <a:bodyPr wrap="square" rtlCol="0" anchor="ctr"/>
          <a:lstStyle/>
          <a:p>
            <a:pPr marL="0" indent="0">
              <a:buNone/>
            </a:pPr>
            <a:r>
              <a:rPr lang="en-US" sz="1100" b="1" dirty="0">
                <a:solidFill>
                  <a:srgbClr val="F5C518"/>
                </a:solidFill>
                <a:latin typeface="Calibri" pitchFamily="34" charset="0"/>
                <a:ea typeface="Calibri" pitchFamily="34" charset="-122"/>
                <a:cs typeface="Calibri" pitchFamily="34" charset="-120"/>
              </a:rPr>
              <a:t>📗  Microsoft Excel</a:t>
            </a:r>
            <a:endParaRPr lang="en-US" sz="1100" dirty="0"/>
          </a:p>
        </p:txBody>
      </p:sp>
      <p:sp>
        <p:nvSpPr>
          <p:cNvPr id="13" name="Text 11"/>
          <p:cNvSpPr/>
          <p:nvPr/>
        </p:nvSpPr>
        <p:spPr>
          <a:xfrm>
            <a:off x="3291840" y="1517904"/>
            <a:ext cx="2633472" cy="201168"/>
          </a:xfrm>
          <a:prstGeom prst="rect">
            <a:avLst/>
          </a:prstGeom>
          <a:noFill/>
          <a:ln/>
        </p:spPr>
        <p:txBody>
          <a:bodyPr wrap="square" rtlCol="0" anchor="ctr"/>
          <a:lstStyle/>
          <a:p>
            <a:pPr marL="0" indent="0">
              <a:buNone/>
            </a:pPr>
            <a:r>
              <a:rPr lang="en-US" sz="1000" b="1" dirty="0">
                <a:solidFill>
                  <a:srgbClr val="FDE68A"/>
                </a:solidFill>
                <a:latin typeface="Calibri" pitchFamily="34" charset="0"/>
                <a:ea typeface="Calibri" pitchFamily="34" charset="-122"/>
                <a:cs typeface="Calibri" pitchFamily="34" charset="-120"/>
              </a:rPr>
              <a:t>Data Preparation &amp; EDA</a:t>
            </a:r>
            <a:endParaRPr lang="en-US" sz="1000" dirty="0"/>
          </a:p>
        </p:txBody>
      </p:sp>
      <p:sp>
        <p:nvSpPr>
          <p:cNvPr id="14" name="Text 12"/>
          <p:cNvSpPr/>
          <p:nvPr/>
        </p:nvSpPr>
        <p:spPr>
          <a:xfrm>
            <a:off x="3291840" y="1737360"/>
            <a:ext cx="2633472" cy="987552"/>
          </a:xfrm>
          <a:prstGeom prst="rect">
            <a:avLst/>
          </a:prstGeom>
          <a:noFill/>
          <a:ln/>
        </p:spPr>
        <p:txBody>
          <a:bodyPr wrap="square" rtlCol="0" anchor="ctr"/>
          <a:lstStyle/>
          <a:p>
            <a:pPr marL="0" indent="0">
              <a:buNone/>
            </a:pPr>
            <a:r>
              <a:rPr lang="en-US" sz="950" dirty="0">
                <a:solidFill>
                  <a:srgbClr val="E8E4DA"/>
                </a:solidFill>
                <a:latin typeface="Calibri" pitchFamily="34" charset="0"/>
                <a:ea typeface="Calibri" pitchFamily="34" charset="-122"/>
                <a:cs typeface="Calibri" pitchFamily="34" charset="-120"/>
              </a:rPr>
              <a:t>Initial data exploration, pivot tables for summary statistics, data type validation, and preliminary chart prototyping before Power BI import.</a:t>
            </a:r>
            <a:endParaRPr lang="en-US" sz="950" dirty="0"/>
          </a:p>
        </p:txBody>
      </p:sp>
      <p:sp>
        <p:nvSpPr>
          <p:cNvPr id="15" name="Shape 13"/>
          <p:cNvSpPr/>
          <p:nvPr/>
        </p:nvSpPr>
        <p:spPr>
          <a:xfrm>
            <a:off x="6163056" y="1097280"/>
            <a:ext cx="2788920" cy="1691640"/>
          </a:xfrm>
          <a:prstGeom prst="rect">
            <a:avLst/>
          </a:prstGeom>
          <a:solidFill>
            <a:srgbClr val="243460"/>
          </a:solidFill>
          <a:ln/>
          <a:effectLst>
            <a:outerShdw blurRad="101600" dist="38100" dir="8100000" algn="bl" rotWithShape="0">
              <a:srgbClr val="000000">
                <a:alpha val="12000"/>
              </a:srgbClr>
            </a:outerShdw>
          </a:effectLst>
        </p:spPr>
      </p:sp>
      <p:sp>
        <p:nvSpPr>
          <p:cNvPr id="16" name="Shape 14"/>
          <p:cNvSpPr/>
          <p:nvPr/>
        </p:nvSpPr>
        <p:spPr>
          <a:xfrm>
            <a:off x="6163056" y="1097280"/>
            <a:ext cx="2788920" cy="384048"/>
          </a:xfrm>
          <a:prstGeom prst="rect">
            <a:avLst/>
          </a:prstGeom>
          <a:solidFill>
            <a:srgbClr val="2E4080"/>
          </a:solidFill>
          <a:ln/>
        </p:spPr>
      </p:sp>
      <p:sp>
        <p:nvSpPr>
          <p:cNvPr id="17" name="Text 15"/>
          <p:cNvSpPr/>
          <p:nvPr/>
        </p:nvSpPr>
        <p:spPr>
          <a:xfrm>
            <a:off x="6236208" y="1143000"/>
            <a:ext cx="2633472" cy="292608"/>
          </a:xfrm>
          <a:prstGeom prst="rect">
            <a:avLst/>
          </a:prstGeom>
          <a:noFill/>
          <a:ln/>
        </p:spPr>
        <p:txBody>
          <a:bodyPr wrap="square" rtlCol="0" anchor="ctr"/>
          <a:lstStyle/>
          <a:p>
            <a:pPr marL="0" indent="0">
              <a:buNone/>
            </a:pPr>
            <a:r>
              <a:rPr lang="en-US" sz="1100" b="1" dirty="0">
                <a:solidFill>
                  <a:srgbClr val="F5C518"/>
                </a:solidFill>
                <a:latin typeface="Calibri" pitchFamily="34" charset="0"/>
                <a:ea typeface="Calibri" pitchFamily="34" charset="-122"/>
                <a:cs typeface="Calibri" pitchFamily="34" charset="-120"/>
              </a:rPr>
              <a:t>🧮  DAX (Data Analysis Expressions)</a:t>
            </a:r>
            <a:endParaRPr lang="en-US" sz="1100" dirty="0"/>
          </a:p>
        </p:txBody>
      </p:sp>
      <p:sp>
        <p:nvSpPr>
          <p:cNvPr id="18" name="Text 16"/>
          <p:cNvSpPr/>
          <p:nvPr/>
        </p:nvSpPr>
        <p:spPr>
          <a:xfrm>
            <a:off x="6236208" y="1517904"/>
            <a:ext cx="2633472" cy="201168"/>
          </a:xfrm>
          <a:prstGeom prst="rect">
            <a:avLst/>
          </a:prstGeom>
          <a:noFill/>
          <a:ln/>
        </p:spPr>
        <p:txBody>
          <a:bodyPr wrap="square" rtlCol="0" anchor="ctr"/>
          <a:lstStyle/>
          <a:p>
            <a:pPr marL="0" indent="0">
              <a:buNone/>
            </a:pPr>
            <a:r>
              <a:rPr lang="en-US" sz="1000" b="1" dirty="0">
                <a:solidFill>
                  <a:srgbClr val="FDE68A"/>
                </a:solidFill>
                <a:latin typeface="Calibri" pitchFamily="34" charset="0"/>
                <a:ea typeface="Calibri" pitchFamily="34" charset="-122"/>
                <a:cs typeface="Calibri" pitchFamily="34" charset="-120"/>
              </a:rPr>
              <a:t>Calculated Measures Language</a:t>
            </a:r>
            <a:endParaRPr lang="en-US" sz="1000" dirty="0"/>
          </a:p>
        </p:txBody>
      </p:sp>
      <p:sp>
        <p:nvSpPr>
          <p:cNvPr id="19" name="Text 17"/>
          <p:cNvSpPr/>
          <p:nvPr/>
        </p:nvSpPr>
        <p:spPr>
          <a:xfrm>
            <a:off x="6236208" y="1737360"/>
            <a:ext cx="2633472" cy="987552"/>
          </a:xfrm>
          <a:prstGeom prst="rect">
            <a:avLst/>
          </a:prstGeom>
          <a:noFill/>
          <a:ln/>
        </p:spPr>
        <p:txBody>
          <a:bodyPr wrap="square" rtlCol="0" anchor="ctr"/>
          <a:lstStyle/>
          <a:p>
            <a:pPr marL="0" indent="0">
              <a:buNone/>
            </a:pPr>
            <a:r>
              <a:rPr lang="en-US" sz="950" dirty="0">
                <a:solidFill>
                  <a:srgbClr val="E8E4DA"/>
                </a:solidFill>
                <a:latin typeface="Calibri" pitchFamily="34" charset="0"/>
                <a:ea typeface="Calibri" pitchFamily="34" charset="-122"/>
                <a:cs typeface="Calibri" pitchFamily="34" charset="-120"/>
              </a:rPr>
              <a:t>Power BI's native formula language used to create measures like utilization_rate, power_gap_mw, and aggregated KPI values across time dimensions.</a:t>
            </a:r>
            <a:endParaRPr lang="en-US" sz="950" dirty="0"/>
          </a:p>
        </p:txBody>
      </p:sp>
      <p:sp>
        <p:nvSpPr>
          <p:cNvPr id="20" name="Shape 18"/>
          <p:cNvSpPr/>
          <p:nvPr/>
        </p:nvSpPr>
        <p:spPr>
          <a:xfrm>
            <a:off x="274320" y="3017520"/>
            <a:ext cx="2788920" cy="1691640"/>
          </a:xfrm>
          <a:prstGeom prst="rect">
            <a:avLst/>
          </a:prstGeom>
          <a:solidFill>
            <a:srgbClr val="243460"/>
          </a:solidFill>
          <a:ln/>
          <a:effectLst>
            <a:outerShdw blurRad="101600" dist="38100" dir="8100000" algn="bl" rotWithShape="0">
              <a:srgbClr val="000000">
                <a:alpha val="12000"/>
              </a:srgbClr>
            </a:outerShdw>
          </a:effectLst>
        </p:spPr>
      </p:sp>
      <p:sp>
        <p:nvSpPr>
          <p:cNvPr id="21" name="Shape 19"/>
          <p:cNvSpPr/>
          <p:nvPr/>
        </p:nvSpPr>
        <p:spPr>
          <a:xfrm>
            <a:off x="274320" y="3017520"/>
            <a:ext cx="2788920" cy="384048"/>
          </a:xfrm>
          <a:prstGeom prst="rect">
            <a:avLst/>
          </a:prstGeom>
          <a:solidFill>
            <a:srgbClr val="2E4080"/>
          </a:solidFill>
          <a:ln/>
        </p:spPr>
        <p:txBody>
          <a:bodyPr/>
          <a:lstStyle/>
          <a:p>
            <a:endParaRPr lang="en-IN" dirty="0"/>
          </a:p>
        </p:txBody>
      </p:sp>
      <p:sp>
        <p:nvSpPr>
          <p:cNvPr id="22" name="Text 20"/>
          <p:cNvSpPr/>
          <p:nvPr/>
        </p:nvSpPr>
        <p:spPr>
          <a:xfrm>
            <a:off x="347472" y="3063240"/>
            <a:ext cx="2633472" cy="292608"/>
          </a:xfrm>
          <a:prstGeom prst="rect">
            <a:avLst/>
          </a:prstGeom>
          <a:noFill/>
          <a:ln/>
        </p:spPr>
        <p:txBody>
          <a:bodyPr wrap="square" rtlCol="0" anchor="ctr"/>
          <a:lstStyle/>
          <a:p>
            <a:pPr marL="0" indent="0">
              <a:buNone/>
            </a:pPr>
            <a:r>
              <a:rPr lang="en-US" sz="1100" b="1" dirty="0">
                <a:solidFill>
                  <a:srgbClr val="F5C518"/>
                </a:solidFill>
                <a:latin typeface="Calibri" pitchFamily="34" charset="0"/>
                <a:ea typeface="Calibri" pitchFamily="34" charset="-122"/>
                <a:cs typeface="Calibri" pitchFamily="34" charset="-120"/>
              </a:rPr>
              <a:t>⚙  Power Query</a:t>
            </a:r>
            <a:endParaRPr lang="en-US" sz="1100" dirty="0"/>
          </a:p>
        </p:txBody>
      </p:sp>
      <p:sp>
        <p:nvSpPr>
          <p:cNvPr id="23" name="Text 21"/>
          <p:cNvSpPr/>
          <p:nvPr/>
        </p:nvSpPr>
        <p:spPr>
          <a:xfrm>
            <a:off x="347472" y="3438144"/>
            <a:ext cx="2633472" cy="201168"/>
          </a:xfrm>
          <a:prstGeom prst="rect">
            <a:avLst/>
          </a:prstGeom>
          <a:noFill/>
          <a:ln/>
        </p:spPr>
        <p:txBody>
          <a:bodyPr wrap="square" rtlCol="0" anchor="ctr"/>
          <a:lstStyle/>
          <a:p>
            <a:pPr marL="0" indent="0">
              <a:buNone/>
            </a:pPr>
            <a:r>
              <a:rPr lang="en-US" sz="1000" b="1" dirty="0">
                <a:solidFill>
                  <a:srgbClr val="FDE68A"/>
                </a:solidFill>
                <a:latin typeface="Calibri" pitchFamily="34" charset="0"/>
                <a:ea typeface="Calibri" pitchFamily="34" charset="-122"/>
                <a:cs typeface="Calibri" pitchFamily="34" charset="-120"/>
              </a:rPr>
              <a:t>ETL &amp; Data Transformation</a:t>
            </a:r>
            <a:endParaRPr lang="en-US" sz="1000" dirty="0"/>
          </a:p>
        </p:txBody>
      </p:sp>
      <p:sp>
        <p:nvSpPr>
          <p:cNvPr id="24" name="Text 22"/>
          <p:cNvSpPr/>
          <p:nvPr/>
        </p:nvSpPr>
        <p:spPr>
          <a:xfrm>
            <a:off x="347472" y="3657600"/>
            <a:ext cx="2633472" cy="987552"/>
          </a:xfrm>
          <a:prstGeom prst="rect">
            <a:avLst/>
          </a:prstGeom>
          <a:noFill/>
          <a:ln/>
        </p:spPr>
        <p:txBody>
          <a:bodyPr wrap="square" rtlCol="0" anchor="ctr"/>
          <a:lstStyle/>
          <a:p>
            <a:pPr marL="0" indent="0">
              <a:buNone/>
            </a:pPr>
            <a:r>
              <a:rPr lang="en-US" sz="950" dirty="0">
                <a:solidFill>
                  <a:srgbClr val="E8E4DA"/>
                </a:solidFill>
                <a:latin typeface="Calibri" pitchFamily="34" charset="0"/>
                <a:ea typeface="Calibri" pitchFamily="34" charset="-122"/>
                <a:cs typeface="Calibri" pitchFamily="34" charset="-120"/>
              </a:rPr>
              <a:t>Built-in Power BI tool used to load, clean, and transform the raw dataset — handling null removal, type conversion, and new column creation.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744"/>
          </a:solidFill>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3000" b="1" dirty="0">
                <a:solidFill>
                  <a:srgbClr val="F5C518"/>
                </a:solidFill>
                <a:latin typeface="Calibri" pitchFamily="34" charset="0"/>
                <a:ea typeface="Calibri" pitchFamily="34" charset="-122"/>
                <a:cs typeface="Calibri" pitchFamily="34" charset="-120"/>
              </a:rPr>
              <a:t>BUSINESS QUESTIONS</a:t>
            </a:r>
            <a:endParaRPr lang="en-US" sz="30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E8E4DA"/>
                </a:solidFill>
              </a:rPr>
              <a:t>Analytical Questions Driving This Analysis</a:t>
            </a:r>
            <a:endParaRPr lang="en-US" sz="1300" dirty="0"/>
          </a:p>
        </p:txBody>
      </p:sp>
      <p:sp>
        <p:nvSpPr>
          <p:cNvPr id="5" name="Shape 3"/>
          <p:cNvSpPr/>
          <p:nvPr/>
        </p:nvSpPr>
        <p:spPr>
          <a:xfrm>
            <a:off x="274320" y="1097280"/>
            <a:ext cx="8595360" cy="50292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274320" y="1097280"/>
            <a:ext cx="411480" cy="502920"/>
          </a:xfrm>
          <a:prstGeom prst="rect">
            <a:avLst/>
          </a:prstGeom>
          <a:solidFill>
            <a:srgbClr val="1A2744"/>
          </a:solidFill>
          <a:ln/>
        </p:spPr>
      </p:sp>
      <p:sp>
        <p:nvSpPr>
          <p:cNvPr id="7" name="Text 5"/>
          <p:cNvSpPr/>
          <p:nvPr/>
        </p:nvSpPr>
        <p:spPr>
          <a:xfrm>
            <a:off x="274320" y="1097280"/>
            <a:ext cx="411480" cy="502920"/>
          </a:xfrm>
          <a:prstGeom prst="rect">
            <a:avLst/>
          </a:prstGeom>
          <a:noFill/>
          <a:ln/>
        </p:spPr>
        <p:txBody>
          <a:bodyPr wrap="square" rtlCol="0" anchor="ctr"/>
          <a:lstStyle/>
          <a:p>
            <a:pPr marL="0" indent="0" algn="ctr">
              <a:buNone/>
            </a:pPr>
            <a:r>
              <a:rPr lang="en-US" sz="1200" b="1" dirty="0">
                <a:solidFill>
                  <a:srgbClr val="F5C518"/>
                </a:solidFill>
                <a:latin typeface="Calibri" pitchFamily="34" charset="0"/>
                <a:ea typeface="Calibri" pitchFamily="34" charset="-122"/>
                <a:cs typeface="Calibri" pitchFamily="34" charset="-120"/>
              </a:rPr>
              <a:t>Q1</a:t>
            </a:r>
            <a:endParaRPr lang="en-US" sz="1200" dirty="0"/>
          </a:p>
        </p:txBody>
      </p:sp>
      <p:sp>
        <p:nvSpPr>
          <p:cNvPr id="8" name="Text 6"/>
          <p:cNvSpPr/>
          <p:nvPr/>
        </p:nvSpPr>
        <p:spPr>
          <a:xfrm>
            <a:off x="777240" y="1170432"/>
            <a:ext cx="6903720" cy="347472"/>
          </a:xfrm>
          <a:prstGeom prst="rect">
            <a:avLst/>
          </a:prstGeom>
          <a:noFill/>
          <a:ln/>
        </p:spPr>
        <p:txBody>
          <a:bodyPr wrap="square" rtlCol="0" anchor="ctr"/>
          <a:lstStyle/>
          <a:p>
            <a:pPr marL="0" indent="0">
              <a:buNone/>
            </a:pPr>
            <a:r>
              <a:rPr lang="en-US" sz="1150" dirty="0">
                <a:solidFill>
                  <a:srgbClr val="1A2744"/>
                </a:solidFill>
                <a:latin typeface="Calibri" pitchFamily="34" charset="0"/>
                <a:ea typeface="Calibri" pitchFamily="34" charset="-122"/>
                <a:cs typeface="Calibri" pitchFamily="34" charset="-120"/>
              </a:rPr>
              <a:t>Which month generates the most solar power, and what drives the seasonal variation?</a:t>
            </a:r>
            <a:endParaRPr lang="en-US" sz="1150" dirty="0"/>
          </a:p>
        </p:txBody>
      </p:sp>
      <p:sp>
        <p:nvSpPr>
          <p:cNvPr id="9" name="Shape 7"/>
          <p:cNvSpPr/>
          <p:nvPr/>
        </p:nvSpPr>
        <p:spPr>
          <a:xfrm>
            <a:off x="7772400" y="1188720"/>
            <a:ext cx="987552" cy="310896"/>
          </a:xfrm>
          <a:prstGeom prst="rect">
            <a:avLst/>
          </a:prstGeom>
          <a:solidFill>
            <a:srgbClr val="E87C1E"/>
          </a:solidFill>
          <a:ln/>
        </p:spPr>
      </p:sp>
      <p:sp>
        <p:nvSpPr>
          <p:cNvPr id="10" name="Text 8"/>
          <p:cNvSpPr/>
          <p:nvPr/>
        </p:nvSpPr>
        <p:spPr>
          <a:xfrm>
            <a:off x="7772400" y="1188720"/>
            <a:ext cx="987552" cy="31089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Seasonal</a:t>
            </a:r>
            <a:endParaRPr lang="en-US" sz="900" dirty="0"/>
          </a:p>
        </p:txBody>
      </p:sp>
      <p:sp>
        <p:nvSpPr>
          <p:cNvPr id="11" name="Shape 9"/>
          <p:cNvSpPr/>
          <p:nvPr/>
        </p:nvSpPr>
        <p:spPr>
          <a:xfrm>
            <a:off x="274320" y="1659636"/>
            <a:ext cx="8595360" cy="502920"/>
          </a:xfrm>
          <a:prstGeom prst="rect">
            <a:avLst/>
          </a:prstGeom>
          <a:solidFill>
            <a:srgbClr val="FFFFFF"/>
          </a:solidFill>
          <a:ln/>
          <a:effectLst>
            <a:outerShdw blurRad="101600" dist="38100" dir="8100000" algn="bl" rotWithShape="0">
              <a:srgbClr val="000000">
                <a:alpha val="12000"/>
              </a:srgbClr>
            </a:outerShdw>
          </a:effectLst>
        </p:spPr>
      </p:sp>
      <p:sp>
        <p:nvSpPr>
          <p:cNvPr id="12" name="Shape 10"/>
          <p:cNvSpPr/>
          <p:nvPr/>
        </p:nvSpPr>
        <p:spPr>
          <a:xfrm>
            <a:off x="274320" y="1659636"/>
            <a:ext cx="411480" cy="502920"/>
          </a:xfrm>
          <a:prstGeom prst="rect">
            <a:avLst/>
          </a:prstGeom>
          <a:solidFill>
            <a:srgbClr val="1A2744"/>
          </a:solidFill>
          <a:ln/>
        </p:spPr>
      </p:sp>
      <p:sp>
        <p:nvSpPr>
          <p:cNvPr id="13" name="Text 11"/>
          <p:cNvSpPr/>
          <p:nvPr/>
        </p:nvSpPr>
        <p:spPr>
          <a:xfrm>
            <a:off x="274320" y="1659636"/>
            <a:ext cx="411480" cy="502920"/>
          </a:xfrm>
          <a:prstGeom prst="rect">
            <a:avLst/>
          </a:prstGeom>
          <a:noFill/>
          <a:ln/>
        </p:spPr>
        <p:txBody>
          <a:bodyPr wrap="square" rtlCol="0" anchor="ctr"/>
          <a:lstStyle/>
          <a:p>
            <a:pPr marL="0" indent="0" algn="ctr">
              <a:buNone/>
            </a:pPr>
            <a:r>
              <a:rPr lang="en-US" sz="1200" b="1" dirty="0">
                <a:solidFill>
                  <a:srgbClr val="F5C518"/>
                </a:solidFill>
                <a:latin typeface="Calibri" pitchFamily="34" charset="0"/>
                <a:ea typeface="Calibri" pitchFamily="34" charset="-122"/>
                <a:cs typeface="Calibri" pitchFamily="34" charset="-120"/>
              </a:rPr>
              <a:t>Q2</a:t>
            </a:r>
            <a:endParaRPr lang="en-US" sz="1200" dirty="0"/>
          </a:p>
        </p:txBody>
      </p:sp>
      <p:sp>
        <p:nvSpPr>
          <p:cNvPr id="14" name="Text 12"/>
          <p:cNvSpPr/>
          <p:nvPr/>
        </p:nvSpPr>
        <p:spPr>
          <a:xfrm>
            <a:off x="777240" y="1732788"/>
            <a:ext cx="6903720" cy="347472"/>
          </a:xfrm>
          <a:prstGeom prst="rect">
            <a:avLst/>
          </a:prstGeom>
          <a:noFill/>
          <a:ln/>
        </p:spPr>
        <p:txBody>
          <a:bodyPr wrap="square" rtlCol="0" anchor="ctr"/>
          <a:lstStyle/>
          <a:p>
            <a:pPr marL="0" indent="0">
              <a:buNone/>
            </a:pPr>
            <a:r>
              <a:rPr lang="en-US" sz="1150" dirty="0">
                <a:solidFill>
                  <a:srgbClr val="1A2744"/>
                </a:solidFill>
                <a:latin typeface="Calibri" pitchFamily="34" charset="0"/>
                <a:ea typeface="Calibri" pitchFamily="34" charset="-122"/>
                <a:cs typeface="Calibri" pitchFamily="34" charset="-120"/>
              </a:rPr>
              <a:t>What is the hourly generation profile, and when does peak output occur across a typical day?</a:t>
            </a:r>
            <a:endParaRPr lang="en-US" sz="1150" dirty="0"/>
          </a:p>
        </p:txBody>
      </p:sp>
      <p:sp>
        <p:nvSpPr>
          <p:cNvPr id="15" name="Shape 13"/>
          <p:cNvSpPr/>
          <p:nvPr/>
        </p:nvSpPr>
        <p:spPr>
          <a:xfrm>
            <a:off x="7772400" y="1751076"/>
            <a:ext cx="987552" cy="310896"/>
          </a:xfrm>
          <a:prstGeom prst="rect">
            <a:avLst/>
          </a:prstGeom>
          <a:solidFill>
            <a:srgbClr val="1A2744"/>
          </a:solidFill>
          <a:ln/>
        </p:spPr>
      </p:sp>
      <p:sp>
        <p:nvSpPr>
          <p:cNvPr id="16" name="Text 14"/>
          <p:cNvSpPr/>
          <p:nvPr/>
        </p:nvSpPr>
        <p:spPr>
          <a:xfrm>
            <a:off x="7772400" y="1751076"/>
            <a:ext cx="987552" cy="31089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Intraday</a:t>
            </a:r>
            <a:endParaRPr lang="en-US" sz="900" dirty="0"/>
          </a:p>
        </p:txBody>
      </p:sp>
      <p:sp>
        <p:nvSpPr>
          <p:cNvPr id="17" name="Shape 15"/>
          <p:cNvSpPr/>
          <p:nvPr/>
        </p:nvSpPr>
        <p:spPr>
          <a:xfrm>
            <a:off x="274320" y="2221992"/>
            <a:ext cx="8595360" cy="502920"/>
          </a:xfrm>
          <a:prstGeom prst="rect">
            <a:avLst/>
          </a:prstGeom>
          <a:solidFill>
            <a:srgbClr val="FFFFFF"/>
          </a:solidFill>
          <a:ln/>
          <a:effectLst>
            <a:outerShdw blurRad="101600" dist="38100" dir="8100000" algn="bl" rotWithShape="0">
              <a:srgbClr val="000000">
                <a:alpha val="12000"/>
              </a:srgbClr>
            </a:outerShdw>
          </a:effectLst>
        </p:spPr>
      </p:sp>
      <p:sp>
        <p:nvSpPr>
          <p:cNvPr id="18" name="Shape 16"/>
          <p:cNvSpPr/>
          <p:nvPr/>
        </p:nvSpPr>
        <p:spPr>
          <a:xfrm>
            <a:off x="274320" y="2221992"/>
            <a:ext cx="411480" cy="502920"/>
          </a:xfrm>
          <a:prstGeom prst="rect">
            <a:avLst/>
          </a:prstGeom>
          <a:solidFill>
            <a:srgbClr val="1A2744"/>
          </a:solidFill>
          <a:ln/>
        </p:spPr>
      </p:sp>
      <p:sp>
        <p:nvSpPr>
          <p:cNvPr id="19" name="Text 17"/>
          <p:cNvSpPr/>
          <p:nvPr/>
        </p:nvSpPr>
        <p:spPr>
          <a:xfrm>
            <a:off x="274320" y="2221992"/>
            <a:ext cx="411480" cy="502920"/>
          </a:xfrm>
          <a:prstGeom prst="rect">
            <a:avLst/>
          </a:prstGeom>
          <a:noFill/>
          <a:ln/>
        </p:spPr>
        <p:txBody>
          <a:bodyPr wrap="square" rtlCol="0" anchor="ctr"/>
          <a:lstStyle/>
          <a:p>
            <a:pPr marL="0" indent="0" algn="ctr">
              <a:buNone/>
            </a:pPr>
            <a:r>
              <a:rPr lang="en-US" sz="1200" b="1" dirty="0">
                <a:solidFill>
                  <a:srgbClr val="F5C518"/>
                </a:solidFill>
                <a:latin typeface="Calibri" pitchFamily="34" charset="0"/>
                <a:ea typeface="Calibri" pitchFamily="34" charset="-122"/>
                <a:cs typeface="Calibri" pitchFamily="34" charset="-120"/>
              </a:rPr>
              <a:t>Q3</a:t>
            </a:r>
            <a:endParaRPr lang="en-US" sz="1200" dirty="0"/>
          </a:p>
        </p:txBody>
      </p:sp>
      <p:sp>
        <p:nvSpPr>
          <p:cNvPr id="20" name="Text 18"/>
          <p:cNvSpPr/>
          <p:nvPr/>
        </p:nvSpPr>
        <p:spPr>
          <a:xfrm>
            <a:off x="777240" y="2295144"/>
            <a:ext cx="6903720" cy="347472"/>
          </a:xfrm>
          <a:prstGeom prst="rect">
            <a:avLst/>
          </a:prstGeom>
          <a:noFill/>
          <a:ln/>
        </p:spPr>
        <p:txBody>
          <a:bodyPr wrap="square" rtlCol="0" anchor="ctr"/>
          <a:lstStyle/>
          <a:p>
            <a:pPr marL="0" indent="0">
              <a:buNone/>
            </a:pPr>
            <a:r>
              <a:rPr lang="en-US" sz="1150" dirty="0">
                <a:solidFill>
                  <a:srgbClr val="1A2744"/>
                </a:solidFill>
                <a:latin typeface="Calibri" pitchFamily="34" charset="0"/>
                <a:ea typeface="Calibri" pitchFamily="34" charset="-122"/>
                <a:cs typeface="Calibri" pitchFamily="34" charset="-120"/>
              </a:rPr>
              <a:t>How does power generation vary day-to-day, and what explains the drop near Day 30?</a:t>
            </a:r>
            <a:endParaRPr lang="en-US" sz="1150" dirty="0"/>
          </a:p>
        </p:txBody>
      </p:sp>
      <p:sp>
        <p:nvSpPr>
          <p:cNvPr id="21" name="Shape 19"/>
          <p:cNvSpPr/>
          <p:nvPr/>
        </p:nvSpPr>
        <p:spPr>
          <a:xfrm>
            <a:off x="7772400" y="2313432"/>
            <a:ext cx="987552" cy="310896"/>
          </a:xfrm>
          <a:prstGeom prst="rect">
            <a:avLst/>
          </a:prstGeom>
          <a:solidFill>
            <a:srgbClr val="990033"/>
          </a:solidFill>
          <a:ln/>
        </p:spPr>
      </p:sp>
      <p:sp>
        <p:nvSpPr>
          <p:cNvPr id="22" name="Text 20"/>
          <p:cNvSpPr/>
          <p:nvPr/>
        </p:nvSpPr>
        <p:spPr>
          <a:xfrm>
            <a:off x="7772400" y="2313432"/>
            <a:ext cx="987552" cy="31089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Anomaly</a:t>
            </a:r>
            <a:endParaRPr lang="en-US" sz="900" dirty="0"/>
          </a:p>
        </p:txBody>
      </p:sp>
      <p:sp>
        <p:nvSpPr>
          <p:cNvPr id="23" name="Shape 21"/>
          <p:cNvSpPr/>
          <p:nvPr/>
        </p:nvSpPr>
        <p:spPr>
          <a:xfrm>
            <a:off x="274320" y="2784348"/>
            <a:ext cx="8595360" cy="502920"/>
          </a:xfrm>
          <a:prstGeom prst="rect">
            <a:avLst/>
          </a:prstGeom>
          <a:solidFill>
            <a:srgbClr val="FFFFFF"/>
          </a:solidFill>
          <a:ln/>
          <a:effectLst>
            <a:outerShdw blurRad="101600" dist="38100" dir="8100000" algn="bl" rotWithShape="0">
              <a:srgbClr val="000000">
                <a:alpha val="12000"/>
              </a:srgbClr>
            </a:outerShdw>
          </a:effectLst>
        </p:spPr>
      </p:sp>
      <p:sp>
        <p:nvSpPr>
          <p:cNvPr id="24" name="Shape 22"/>
          <p:cNvSpPr/>
          <p:nvPr/>
        </p:nvSpPr>
        <p:spPr>
          <a:xfrm>
            <a:off x="274320" y="2784348"/>
            <a:ext cx="411480" cy="502920"/>
          </a:xfrm>
          <a:prstGeom prst="rect">
            <a:avLst/>
          </a:prstGeom>
          <a:solidFill>
            <a:srgbClr val="1A2744"/>
          </a:solidFill>
          <a:ln/>
        </p:spPr>
      </p:sp>
      <p:sp>
        <p:nvSpPr>
          <p:cNvPr id="25" name="Text 23"/>
          <p:cNvSpPr/>
          <p:nvPr/>
        </p:nvSpPr>
        <p:spPr>
          <a:xfrm>
            <a:off x="274320" y="2784348"/>
            <a:ext cx="411480" cy="502920"/>
          </a:xfrm>
          <a:prstGeom prst="rect">
            <a:avLst/>
          </a:prstGeom>
          <a:noFill/>
          <a:ln/>
        </p:spPr>
        <p:txBody>
          <a:bodyPr wrap="square" rtlCol="0" anchor="ctr"/>
          <a:lstStyle/>
          <a:p>
            <a:pPr marL="0" indent="0" algn="ctr">
              <a:buNone/>
            </a:pPr>
            <a:r>
              <a:rPr lang="en-US" sz="1200" b="1" dirty="0">
                <a:solidFill>
                  <a:srgbClr val="F5C518"/>
                </a:solidFill>
                <a:latin typeface="Calibri" pitchFamily="34" charset="0"/>
                <a:ea typeface="Calibri" pitchFamily="34" charset="-122"/>
                <a:cs typeface="Calibri" pitchFamily="34" charset="-120"/>
              </a:rPr>
              <a:t>Q4</a:t>
            </a:r>
            <a:endParaRPr lang="en-US" sz="1200" dirty="0"/>
          </a:p>
        </p:txBody>
      </p:sp>
      <p:sp>
        <p:nvSpPr>
          <p:cNvPr id="26" name="Text 24"/>
          <p:cNvSpPr/>
          <p:nvPr/>
        </p:nvSpPr>
        <p:spPr>
          <a:xfrm>
            <a:off x="777240" y="2857500"/>
            <a:ext cx="6903720" cy="347472"/>
          </a:xfrm>
          <a:prstGeom prst="rect">
            <a:avLst/>
          </a:prstGeom>
          <a:noFill/>
          <a:ln/>
        </p:spPr>
        <p:txBody>
          <a:bodyPr wrap="square" rtlCol="0" anchor="ctr"/>
          <a:lstStyle/>
          <a:p>
            <a:pPr marL="0" indent="0">
              <a:buNone/>
            </a:pPr>
            <a:r>
              <a:rPr lang="en-US" sz="1150" dirty="0">
                <a:solidFill>
                  <a:srgbClr val="1A2744"/>
                </a:solidFill>
                <a:latin typeface="Calibri" pitchFamily="34" charset="0"/>
                <a:ea typeface="Calibri" pitchFamily="34" charset="-122"/>
                <a:cs typeface="Calibri" pitchFamily="34" charset="-120"/>
              </a:rPr>
              <a:t>How do UPV and DPV sites compare in capacity and actual power output performance?</a:t>
            </a:r>
            <a:endParaRPr lang="en-US" sz="1150" dirty="0"/>
          </a:p>
        </p:txBody>
      </p:sp>
      <p:sp>
        <p:nvSpPr>
          <p:cNvPr id="27" name="Shape 25"/>
          <p:cNvSpPr/>
          <p:nvPr/>
        </p:nvSpPr>
        <p:spPr>
          <a:xfrm>
            <a:off x="7772400" y="2875788"/>
            <a:ext cx="987552" cy="310896"/>
          </a:xfrm>
          <a:prstGeom prst="rect">
            <a:avLst/>
          </a:prstGeom>
          <a:solidFill>
            <a:srgbClr val="243460"/>
          </a:solidFill>
          <a:ln/>
        </p:spPr>
      </p:sp>
      <p:sp>
        <p:nvSpPr>
          <p:cNvPr id="28" name="Text 26"/>
          <p:cNvSpPr/>
          <p:nvPr/>
        </p:nvSpPr>
        <p:spPr>
          <a:xfrm>
            <a:off x="7772400" y="2875788"/>
            <a:ext cx="987552" cy="31089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Comparative</a:t>
            </a:r>
            <a:endParaRPr lang="en-US" sz="900" dirty="0"/>
          </a:p>
        </p:txBody>
      </p:sp>
      <p:sp>
        <p:nvSpPr>
          <p:cNvPr id="29" name="Shape 27"/>
          <p:cNvSpPr/>
          <p:nvPr/>
        </p:nvSpPr>
        <p:spPr>
          <a:xfrm>
            <a:off x="274320" y="3346704"/>
            <a:ext cx="8595360" cy="502920"/>
          </a:xfrm>
          <a:prstGeom prst="rect">
            <a:avLst/>
          </a:prstGeom>
          <a:solidFill>
            <a:srgbClr val="FFFFFF"/>
          </a:solidFill>
          <a:ln/>
          <a:effectLst>
            <a:outerShdw blurRad="101600" dist="38100" dir="8100000" algn="bl" rotWithShape="0">
              <a:srgbClr val="000000">
                <a:alpha val="12000"/>
              </a:srgbClr>
            </a:outerShdw>
          </a:effectLst>
        </p:spPr>
      </p:sp>
      <p:sp>
        <p:nvSpPr>
          <p:cNvPr id="30" name="Shape 28"/>
          <p:cNvSpPr/>
          <p:nvPr/>
        </p:nvSpPr>
        <p:spPr>
          <a:xfrm>
            <a:off x="274320" y="3346704"/>
            <a:ext cx="411480" cy="502920"/>
          </a:xfrm>
          <a:prstGeom prst="rect">
            <a:avLst/>
          </a:prstGeom>
          <a:solidFill>
            <a:srgbClr val="1A2744"/>
          </a:solidFill>
          <a:ln/>
        </p:spPr>
      </p:sp>
      <p:sp>
        <p:nvSpPr>
          <p:cNvPr id="31" name="Text 29"/>
          <p:cNvSpPr/>
          <p:nvPr/>
        </p:nvSpPr>
        <p:spPr>
          <a:xfrm>
            <a:off x="274320" y="3346704"/>
            <a:ext cx="411480" cy="502920"/>
          </a:xfrm>
          <a:prstGeom prst="rect">
            <a:avLst/>
          </a:prstGeom>
          <a:noFill/>
          <a:ln/>
        </p:spPr>
        <p:txBody>
          <a:bodyPr wrap="square" rtlCol="0" anchor="ctr"/>
          <a:lstStyle/>
          <a:p>
            <a:pPr marL="0" indent="0" algn="ctr">
              <a:buNone/>
            </a:pPr>
            <a:r>
              <a:rPr lang="en-US" sz="1200" b="1" dirty="0">
                <a:solidFill>
                  <a:srgbClr val="F5C518"/>
                </a:solidFill>
                <a:latin typeface="Calibri" pitchFamily="34" charset="0"/>
                <a:ea typeface="Calibri" pitchFamily="34" charset="-122"/>
                <a:cs typeface="Calibri" pitchFamily="34" charset="-120"/>
              </a:rPr>
              <a:t>Q5</a:t>
            </a:r>
            <a:endParaRPr lang="en-US" sz="1200" dirty="0"/>
          </a:p>
        </p:txBody>
      </p:sp>
      <p:sp>
        <p:nvSpPr>
          <p:cNvPr id="32" name="Text 30"/>
          <p:cNvSpPr/>
          <p:nvPr/>
        </p:nvSpPr>
        <p:spPr>
          <a:xfrm>
            <a:off x="777240" y="3419856"/>
            <a:ext cx="6903720" cy="347472"/>
          </a:xfrm>
          <a:prstGeom prst="rect">
            <a:avLst/>
          </a:prstGeom>
          <a:noFill/>
          <a:ln/>
        </p:spPr>
        <p:txBody>
          <a:bodyPr wrap="square" rtlCol="0" anchor="ctr"/>
          <a:lstStyle/>
          <a:p>
            <a:pPr marL="0" indent="0">
              <a:buNone/>
            </a:pPr>
            <a:r>
              <a:rPr lang="en-US" sz="1150" dirty="0">
                <a:solidFill>
                  <a:srgbClr val="1A2744"/>
                </a:solidFill>
                <a:latin typeface="Calibri" pitchFamily="34" charset="0"/>
                <a:ea typeface="Calibri" pitchFamily="34" charset="-122"/>
                <a:cs typeface="Calibri" pitchFamily="34" charset="-120"/>
              </a:rPr>
              <a:t>What is the current capacity utilization rate, and where is the largest performance gap?</a:t>
            </a:r>
            <a:endParaRPr lang="en-US" sz="1150" dirty="0"/>
          </a:p>
        </p:txBody>
      </p:sp>
      <p:sp>
        <p:nvSpPr>
          <p:cNvPr id="33" name="Shape 31"/>
          <p:cNvSpPr/>
          <p:nvPr/>
        </p:nvSpPr>
        <p:spPr>
          <a:xfrm>
            <a:off x="7772400" y="3438144"/>
            <a:ext cx="987552" cy="310896"/>
          </a:xfrm>
          <a:prstGeom prst="rect">
            <a:avLst/>
          </a:prstGeom>
          <a:solidFill>
            <a:srgbClr val="2E4080"/>
          </a:solidFill>
          <a:ln/>
        </p:spPr>
      </p:sp>
      <p:sp>
        <p:nvSpPr>
          <p:cNvPr id="34" name="Text 32"/>
          <p:cNvSpPr/>
          <p:nvPr/>
        </p:nvSpPr>
        <p:spPr>
          <a:xfrm>
            <a:off x="7772400" y="3438144"/>
            <a:ext cx="987552" cy="31089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Efficiency</a:t>
            </a:r>
            <a:endParaRPr lang="en-US" sz="900" dirty="0"/>
          </a:p>
        </p:txBody>
      </p:sp>
      <p:sp>
        <p:nvSpPr>
          <p:cNvPr id="35" name="Shape 33"/>
          <p:cNvSpPr/>
          <p:nvPr/>
        </p:nvSpPr>
        <p:spPr>
          <a:xfrm>
            <a:off x="274320" y="3909060"/>
            <a:ext cx="8595360" cy="502920"/>
          </a:xfrm>
          <a:prstGeom prst="rect">
            <a:avLst/>
          </a:prstGeom>
          <a:solidFill>
            <a:srgbClr val="FFFFFF"/>
          </a:solidFill>
          <a:ln/>
          <a:effectLst>
            <a:outerShdw blurRad="101600" dist="38100" dir="8100000" algn="bl" rotWithShape="0">
              <a:srgbClr val="000000">
                <a:alpha val="12000"/>
              </a:srgbClr>
            </a:outerShdw>
          </a:effectLst>
        </p:spPr>
      </p:sp>
      <p:sp>
        <p:nvSpPr>
          <p:cNvPr id="36" name="Shape 34"/>
          <p:cNvSpPr/>
          <p:nvPr/>
        </p:nvSpPr>
        <p:spPr>
          <a:xfrm>
            <a:off x="274320" y="3909060"/>
            <a:ext cx="411480" cy="502920"/>
          </a:xfrm>
          <a:prstGeom prst="rect">
            <a:avLst/>
          </a:prstGeom>
          <a:solidFill>
            <a:srgbClr val="1A2744"/>
          </a:solidFill>
          <a:ln/>
        </p:spPr>
      </p:sp>
      <p:sp>
        <p:nvSpPr>
          <p:cNvPr id="37" name="Text 35"/>
          <p:cNvSpPr/>
          <p:nvPr/>
        </p:nvSpPr>
        <p:spPr>
          <a:xfrm>
            <a:off x="274320" y="3909060"/>
            <a:ext cx="411480" cy="502920"/>
          </a:xfrm>
          <a:prstGeom prst="rect">
            <a:avLst/>
          </a:prstGeom>
          <a:noFill/>
          <a:ln/>
        </p:spPr>
        <p:txBody>
          <a:bodyPr wrap="square" rtlCol="0" anchor="ctr"/>
          <a:lstStyle/>
          <a:p>
            <a:pPr marL="0" indent="0" algn="ctr">
              <a:buNone/>
            </a:pPr>
            <a:r>
              <a:rPr lang="en-US" sz="1200" b="1" dirty="0">
                <a:solidFill>
                  <a:srgbClr val="F5C518"/>
                </a:solidFill>
                <a:latin typeface="Calibri" pitchFamily="34" charset="0"/>
                <a:ea typeface="Calibri" pitchFamily="34" charset="-122"/>
                <a:cs typeface="Calibri" pitchFamily="34" charset="-120"/>
              </a:rPr>
              <a:t>Q6</a:t>
            </a:r>
            <a:endParaRPr lang="en-US" sz="1200" dirty="0"/>
          </a:p>
        </p:txBody>
      </p:sp>
      <p:sp>
        <p:nvSpPr>
          <p:cNvPr id="38" name="Text 36"/>
          <p:cNvSpPr/>
          <p:nvPr/>
        </p:nvSpPr>
        <p:spPr>
          <a:xfrm>
            <a:off x="777240" y="3982212"/>
            <a:ext cx="6903720" cy="347472"/>
          </a:xfrm>
          <a:prstGeom prst="rect">
            <a:avLst/>
          </a:prstGeom>
          <a:noFill/>
          <a:ln/>
        </p:spPr>
        <p:txBody>
          <a:bodyPr wrap="square" rtlCol="0" anchor="ctr"/>
          <a:lstStyle/>
          <a:p>
            <a:pPr marL="0" indent="0">
              <a:buNone/>
            </a:pPr>
            <a:r>
              <a:rPr lang="en-US" sz="1150" dirty="0">
                <a:solidFill>
                  <a:srgbClr val="1A2744"/>
                </a:solidFill>
                <a:latin typeface="Calibri" pitchFamily="34" charset="0"/>
                <a:ea typeface="Calibri" pitchFamily="34" charset="-122"/>
                <a:cs typeface="Calibri" pitchFamily="34" charset="-120"/>
              </a:rPr>
              <a:t>Which combination of site type and time period yields the highest generation efficiency?</a:t>
            </a:r>
            <a:endParaRPr lang="en-US" sz="1150" dirty="0"/>
          </a:p>
        </p:txBody>
      </p:sp>
      <p:sp>
        <p:nvSpPr>
          <p:cNvPr id="39" name="Shape 37"/>
          <p:cNvSpPr/>
          <p:nvPr/>
        </p:nvSpPr>
        <p:spPr>
          <a:xfrm>
            <a:off x="7772400" y="4000500"/>
            <a:ext cx="987552" cy="310896"/>
          </a:xfrm>
          <a:prstGeom prst="rect">
            <a:avLst/>
          </a:prstGeom>
          <a:solidFill>
            <a:srgbClr val="E87C1E"/>
          </a:solidFill>
          <a:ln/>
        </p:spPr>
      </p:sp>
      <p:sp>
        <p:nvSpPr>
          <p:cNvPr id="40" name="Text 38"/>
          <p:cNvSpPr/>
          <p:nvPr/>
        </p:nvSpPr>
        <p:spPr>
          <a:xfrm>
            <a:off x="7772400" y="4000500"/>
            <a:ext cx="987552" cy="31089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Optimization</a:t>
            </a:r>
            <a:endParaRPr lang="en-US" sz="900" dirty="0"/>
          </a:p>
        </p:txBody>
      </p:sp>
      <p:sp>
        <p:nvSpPr>
          <p:cNvPr id="41" name="Shape 39"/>
          <p:cNvSpPr/>
          <p:nvPr/>
        </p:nvSpPr>
        <p:spPr>
          <a:xfrm>
            <a:off x="274320" y="4471416"/>
            <a:ext cx="8595360" cy="502920"/>
          </a:xfrm>
          <a:prstGeom prst="rect">
            <a:avLst/>
          </a:prstGeom>
          <a:solidFill>
            <a:srgbClr val="FFFFFF"/>
          </a:solidFill>
          <a:ln/>
          <a:effectLst>
            <a:outerShdw blurRad="101600" dist="38100" dir="8100000" algn="bl" rotWithShape="0">
              <a:srgbClr val="000000">
                <a:alpha val="12000"/>
              </a:srgbClr>
            </a:outerShdw>
          </a:effectLst>
        </p:spPr>
      </p:sp>
      <p:sp>
        <p:nvSpPr>
          <p:cNvPr id="42" name="Shape 40"/>
          <p:cNvSpPr/>
          <p:nvPr/>
        </p:nvSpPr>
        <p:spPr>
          <a:xfrm>
            <a:off x="274320" y="4471416"/>
            <a:ext cx="411480" cy="502920"/>
          </a:xfrm>
          <a:prstGeom prst="rect">
            <a:avLst/>
          </a:prstGeom>
          <a:solidFill>
            <a:srgbClr val="1A2744"/>
          </a:solidFill>
          <a:ln/>
        </p:spPr>
      </p:sp>
      <p:sp>
        <p:nvSpPr>
          <p:cNvPr id="43" name="Text 41"/>
          <p:cNvSpPr/>
          <p:nvPr/>
        </p:nvSpPr>
        <p:spPr>
          <a:xfrm>
            <a:off x="274320" y="4471416"/>
            <a:ext cx="411480" cy="502920"/>
          </a:xfrm>
          <a:prstGeom prst="rect">
            <a:avLst/>
          </a:prstGeom>
          <a:noFill/>
          <a:ln/>
        </p:spPr>
        <p:txBody>
          <a:bodyPr wrap="square" rtlCol="0" anchor="ctr"/>
          <a:lstStyle/>
          <a:p>
            <a:pPr marL="0" indent="0" algn="ctr">
              <a:buNone/>
            </a:pPr>
            <a:r>
              <a:rPr lang="en-US" sz="1200" b="1" dirty="0">
                <a:solidFill>
                  <a:srgbClr val="F5C518"/>
                </a:solidFill>
                <a:latin typeface="Calibri" pitchFamily="34" charset="0"/>
                <a:ea typeface="Calibri" pitchFamily="34" charset="-122"/>
                <a:cs typeface="Calibri" pitchFamily="34" charset="-120"/>
              </a:rPr>
              <a:t>Q7</a:t>
            </a:r>
            <a:endParaRPr lang="en-US" sz="1200" dirty="0"/>
          </a:p>
        </p:txBody>
      </p:sp>
      <p:sp>
        <p:nvSpPr>
          <p:cNvPr id="44" name="Text 42"/>
          <p:cNvSpPr/>
          <p:nvPr/>
        </p:nvSpPr>
        <p:spPr>
          <a:xfrm>
            <a:off x="777240" y="4544568"/>
            <a:ext cx="6903720" cy="347472"/>
          </a:xfrm>
          <a:prstGeom prst="rect">
            <a:avLst/>
          </a:prstGeom>
          <a:noFill/>
          <a:ln/>
        </p:spPr>
        <p:txBody>
          <a:bodyPr wrap="square" rtlCol="0" anchor="ctr"/>
          <a:lstStyle/>
          <a:p>
            <a:pPr marL="0" indent="0">
              <a:buNone/>
            </a:pPr>
            <a:r>
              <a:rPr lang="en-US" sz="1150" dirty="0">
                <a:solidFill>
                  <a:srgbClr val="1A2744"/>
                </a:solidFill>
                <a:latin typeface="Calibri" pitchFamily="34" charset="0"/>
                <a:ea typeface="Calibri" pitchFamily="34" charset="-122"/>
                <a:cs typeface="Calibri" pitchFamily="34" charset="-120"/>
              </a:rPr>
              <a:t>What percentage of total generation comes from peak hours (10:00–16:00)?</a:t>
            </a:r>
            <a:endParaRPr lang="en-US" sz="1150" dirty="0"/>
          </a:p>
        </p:txBody>
      </p:sp>
      <p:sp>
        <p:nvSpPr>
          <p:cNvPr id="45" name="Shape 43"/>
          <p:cNvSpPr/>
          <p:nvPr/>
        </p:nvSpPr>
        <p:spPr>
          <a:xfrm>
            <a:off x="7772400" y="4562856"/>
            <a:ext cx="987552" cy="310896"/>
          </a:xfrm>
          <a:prstGeom prst="rect">
            <a:avLst/>
          </a:prstGeom>
          <a:solidFill>
            <a:srgbClr val="1A2744"/>
          </a:solidFill>
          <a:ln/>
        </p:spPr>
      </p:sp>
      <p:sp>
        <p:nvSpPr>
          <p:cNvPr id="46" name="Text 44"/>
          <p:cNvSpPr/>
          <p:nvPr/>
        </p:nvSpPr>
        <p:spPr>
          <a:xfrm>
            <a:off x="7772400" y="4562856"/>
            <a:ext cx="987552" cy="31089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Peak Hours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744"/>
          </a:solidFill>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2800" b="1" dirty="0">
                <a:solidFill>
                  <a:srgbClr val="F5C518"/>
                </a:solidFill>
                <a:latin typeface="Calibri" pitchFamily="34" charset="0"/>
                <a:ea typeface="Calibri" pitchFamily="34" charset="-122"/>
                <a:cs typeface="Calibri" pitchFamily="34" charset="-120"/>
              </a:rPr>
              <a:t>EXPLORATORY DATA ANALYSIS</a:t>
            </a:r>
            <a:endParaRPr lang="en-US" sz="28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E8E4DA"/>
                </a:solidFill>
              </a:rPr>
              <a:t>Initial Trends, Distributions &amp; Key Observations</a:t>
            </a:r>
            <a:endParaRPr lang="en-US" sz="1300" dirty="0"/>
          </a:p>
        </p:txBody>
      </p:sp>
      <p:sp>
        <p:nvSpPr>
          <p:cNvPr id="5" name="Shape 3"/>
          <p:cNvSpPr/>
          <p:nvPr/>
        </p:nvSpPr>
        <p:spPr>
          <a:xfrm>
            <a:off x="274320" y="1051560"/>
            <a:ext cx="4206240" cy="178308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274320" y="1051560"/>
            <a:ext cx="4206240" cy="73152"/>
          </a:xfrm>
          <a:prstGeom prst="rect">
            <a:avLst/>
          </a:prstGeom>
          <a:solidFill>
            <a:srgbClr val="E87C1E"/>
          </a:solidFill>
          <a:ln/>
        </p:spPr>
      </p:sp>
      <p:sp>
        <p:nvSpPr>
          <p:cNvPr id="7" name="Shape 5"/>
          <p:cNvSpPr/>
          <p:nvPr/>
        </p:nvSpPr>
        <p:spPr>
          <a:xfrm>
            <a:off x="274320" y="1124712"/>
            <a:ext cx="4206240" cy="347472"/>
          </a:xfrm>
          <a:prstGeom prst="rect">
            <a:avLst/>
          </a:prstGeom>
          <a:solidFill>
            <a:srgbClr val="E87C1E">
              <a:alpha val="15000"/>
            </a:srgbClr>
          </a:solidFill>
          <a:ln/>
        </p:spPr>
      </p:sp>
      <p:sp>
        <p:nvSpPr>
          <p:cNvPr id="8" name="Text 6"/>
          <p:cNvSpPr/>
          <p:nvPr/>
        </p:nvSpPr>
        <p:spPr>
          <a:xfrm>
            <a:off x="411480" y="1143000"/>
            <a:ext cx="3931920" cy="310896"/>
          </a:xfrm>
          <a:prstGeom prst="rect">
            <a:avLst/>
          </a:prstGeom>
          <a:noFill/>
          <a:ln/>
        </p:spPr>
        <p:txBody>
          <a:bodyPr wrap="square" rtlCol="0" anchor="ctr"/>
          <a:lstStyle/>
          <a:p>
            <a:pPr marL="0" indent="0">
              <a:buNone/>
            </a:pPr>
            <a:r>
              <a:rPr lang="en-US" sz="1300" b="1" dirty="0">
                <a:solidFill>
                  <a:srgbClr val="E87C1E"/>
                </a:solidFill>
                <a:latin typeface="Calibri" pitchFamily="34" charset="0"/>
                <a:ea typeface="Calibri" pitchFamily="34" charset="-122"/>
                <a:cs typeface="Calibri" pitchFamily="34" charset="-120"/>
              </a:rPr>
              <a:t>Seasonal Trend</a:t>
            </a:r>
            <a:endParaRPr lang="en-US" sz="1300" dirty="0"/>
          </a:p>
        </p:txBody>
      </p:sp>
      <p:sp>
        <p:nvSpPr>
          <p:cNvPr id="9" name="Text 7"/>
          <p:cNvSpPr/>
          <p:nvPr/>
        </p:nvSpPr>
        <p:spPr>
          <a:xfrm>
            <a:off x="411480" y="1563624"/>
            <a:ext cx="3931920" cy="1207008"/>
          </a:xfrm>
          <a:prstGeom prst="rect">
            <a:avLst/>
          </a:prstGeom>
          <a:noFill/>
          <a:ln/>
        </p:spPr>
        <p:txBody>
          <a:bodyPr wrap="square" rtlCol="0" anchor="ctr"/>
          <a:lstStyle/>
          <a:p>
            <a:pPr marL="0" indent="0">
              <a:buNone/>
            </a:pPr>
            <a:r>
              <a:rPr lang="en-US" sz="1050" dirty="0">
                <a:solidFill>
                  <a:srgbClr val="1A2744"/>
                </a:solidFill>
                <a:latin typeface="Calibri" pitchFamily="34" charset="0"/>
                <a:ea typeface="Calibri" pitchFamily="34" charset="-122"/>
                <a:cs typeface="Calibri" pitchFamily="34" charset="-120"/>
              </a:rPr>
              <a:t>Monotonically increasing output from December (0.50M MW) to May (0.80M MW) — a 60% uplift. Data suggests a mid-year seasonality peak. Longer daylight hours in April–May in the Northern Hemisphere drive this pattern.</a:t>
            </a:r>
            <a:endParaRPr lang="en-US" sz="1050" dirty="0"/>
          </a:p>
        </p:txBody>
      </p:sp>
      <p:sp>
        <p:nvSpPr>
          <p:cNvPr id="10" name="Shape 8"/>
          <p:cNvSpPr/>
          <p:nvPr/>
        </p:nvSpPr>
        <p:spPr>
          <a:xfrm>
            <a:off x="4709160" y="1051560"/>
            <a:ext cx="4206240" cy="1783080"/>
          </a:xfrm>
          <a:prstGeom prst="rect">
            <a:avLst/>
          </a:prstGeom>
          <a:solidFill>
            <a:srgbClr val="FFFFFF"/>
          </a:solidFill>
          <a:ln/>
          <a:effectLst>
            <a:outerShdw blurRad="101600" dist="38100" dir="8100000" algn="bl" rotWithShape="0">
              <a:srgbClr val="000000">
                <a:alpha val="12000"/>
              </a:srgbClr>
            </a:outerShdw>
          </a:effectLst>
        </p:spPr>
      </p:sp>
      <p:sp>
        <p:nvSpPr>
          <p:cNvPr id="11" name="Shape 9"/>
          <p:cNvSpPr/>
          <p:nvPr/>
        </p:nvSpPr>
        <p:spPr>
          <a:xfrm>
            <a:off x="4709160" y="1051560"/>
            <a:ext cx="4206240" cy="73152"/>
          </a:xfrm>
          <a:prstGeom prst="rect">
            <a:avLst/>
          </a:prstGeom>
          <a:solidFill>
            <a:srgbClr val="243460"/>
          </a:solidFill>
          <a:ln/>
        </p:spPr>
      </p:sp>
      <p:sp>
        <p:nvSpPr>
          <p:cNvPr id="12" name="Shape 10"/>
          <p:cNvSpPr/>
          <p:nvPr/>
        </p:nvSpPr>
        <p:spPr>
          <a:xfrm>
            <a:off x="4709160" y="1124712"/>
            <a:ext cx="4206240" cy="347472"/>
          </a:xfrm>
          <a:prstGeom prst="rect">
            <a:avLst/>
          </a:prstGeom>
          <a:solidFill>
            <a:srgbClr val="243460">
              <a:alpha val="15000"/>
            </a:srgbClr>
          </a:solidFill>
          <a:ln/>
        </p:spPr>
      </p:sp>
      <p:sp>
        <p:nvSpPr>
          <p:cNvPr id="13" name="Text 11"/>
          <p:cNvSpPr/>
          <p:nvPr/>
        </p:nvSpPr>
        <p:spPr>
          <a:xfrm>
            <a:off x="4846320" y="1143000"/>
            <a:ext cx="3931920" cy="310896"/>
          </a:xfrm>
          <a:prstGeom prst="rect">
            <a:avLst/>
          </a:prstGeom>
          <a:noFill/>
          <a:ln/>
        </p:spPr>
        <p:txBody>
          <a:bodyPr wrap="square" rtlCol="0" anchor="ctr"/>
          <a:lstStyle/>
          <a:p>
            <a:pPr marL="0" indent="0">
              <a:buNone/>
            </a:pPr>
            <a:r>
              <a:rPr lang="en-US" sz="1300" b="1" dirty="0">
                <a:solidFill>
                  <a:srgbClr val="243460"/>
                </a:solidFill>
                <a:latin typeface="Calibri" pitchFamily="34" charset="0"/>
                <a:ea typeface="Calibri" pitchFamily="34" charset="-122"/>
                <a:cs typeface="Calibri" pitchFamily="34" charset="-120"/>
              </a:rPr>
              <a:t>Hourly Bell Curve</a:t>
            </a:r>
            <a:endParaRPr lang="en-US" sz="1300" dirty="0"/>
          </a:p>
        </p:txBody>
      </p:sp>
      <p:sp>
        <p:nvSpPr>
          <p:cNvPr id="14" name="Text 12"/>
          <p:cNvSpPr/>
          <p:nvPr/>
        </p:nvSpPr>
        <p:spPr>
          <a:xfrm>
            <a:off x="4846320" y="1563624"/>
            <a:ext cx="3931920" cy="1207008"/>
          </a:xfrm>
          <a:prstGeom prst="rect">
            <a:avLst/>
          </a:prstGeom>
          <a:noFill/>
          <a:ln/>
        </p:spPr>
        <p:txBody>
          <a:bodyPr wrap="square" rtlCol="0" anchor="ctr"/>
          <a:lstStyle/>
          <a:p>
            <a:pPr marL="0" indent="0">
              <a:buNone/>
            </a:pPr>
            <a:r>
              <a:rPr lang="en-US" sz="1050" dirty="0">
                <a:solidFill>
                  <a:srgbClr val="1A2744"/>
                </a:solidFill>
                <a:latin typeface="Calibri" pitchFamily="34" charset="0"/>
                <a:ea typeface="Calibri" pitchFamily="34" charset="-122"/>
                <a:cs typeface="Calibri" pitchFamily="34" charset="-120"/>
              </a:rPr>
              <a:t>Output follows a near-perfect bell distribution: starts at Hour 5–6, peaks at Hour 13 (~25 MW), and drops to zero by Hour 20. This 14-hour generation window is consistent with summer solar exposure patterns.</a:t>
            </a:r>
            <a:endParaRPr lang="en-US" sz="1050" dirty="0"/>
          </a:p>
        </p:txBody>
      </p:sp>
      <p:sp>
        <p:nvSpPr>
          <p:cNvPr id="15" name="Shape 13"/>
          <p:cNvSpPr/>
          <p:nvPr/>
        </p:nvSpPr>
        <p:spPr>
          <a:xfrm>
            <a:off x="274320" y="3063240"/>
            <a:ext cx="4206240" cy="1783080"/>
          </a:xfrm>
          <a:prstGeom prst="rect">
            <a:avLst/>
          </a:prstGeom>
          <a:solidFill>
            <a:srgbClr val="FFFFFF"/>
          </a:solidFill>
          <a:ln/>
          <a:effectLst>
            <a:outerShdw blurRad="101600" dist="38100" dir="8100000" algn="bl" rotWithShape="0">
              <a:srgbClr val="000000">
                <a:alpha val="12000"/>
              </a:srgbClr>
            </a:outerShdw>
          </a:effectLst>
        </p:spPr>
      </p:sp>
      <p:sp>
        <p:nvSpPr>
          <p:cNvPr id="16" name="Shape 14"/>
          <p:cNvSpPr/>
          <p:nvPr/>
        </p:nvSpPr>
        <p:spPr>
          <a:xfrm>
            <a:off x="274320" y="3063240"/>
            <a:ext cx="4206240" cy="73152"/>
          </a:xfrm>
          <a:prstGeom prst="rect">
            <a:avLst/>
          </a:prstGeom>
          <a:solidFill>
            <a:srgbClr val="2E4080"/>
          </a:solidFill>
          <a:ln/>
        </p:spPr>
      </p:sp>
      <p:sp>
        <p:nvSpPr>
          <p:cNvPr id="17" name="Shape 15"/>
          <p:cNvSpPr/>
          <p:nvPr/>
        </p:nvSpPr>
        <p:spPr>
          <a:xfrm>
            <a:off x="274320" y="3136392"/>
            <a:ext cx="4206240" cy="347472"/>
          </a:xfrm>
          <a:prstGeom prst="rect">
            <a:avLst/>
          </a:prstGeom>
          <a:solidFill>
            <a:srgbClr val="2E4080">
              <a:alpha val="15000"/>
            </a:srgbClr>
          </a:solidFill>
          <a:ln/>
        </p:spPr>
      </p:sp>
      <p:sp>
        <p:nvSpPr>
          <p:cNvPr id="18" name="Text 16"/>
          <p:cNvSpPr/>
          <p:nvPr/>
        </p:nvSpPr>
        <p:spPr>
          <a:xfrm>
            <a:off x="411480" y="3154680"/>
            <a:ext cx="3931920" cy="310896"/>
          </a:xfrm>
          <a:prstGeom prst="rect">
            <a:avLst/>
          </a:prstGeom>
          <a:noFill/>
          <a:ln/>
        </p:spPr>
        <p:txBody>
          <a:bodyPr wrap="square" rtlCol="0" anchor="ctr"/>
          <a:lstStyle/>
          <a:p>
            <a:pPr marL="0" indent="0">
              <a:buNone/>
            </a:pPr>
            <a:r>
              <a:rPr lang="en-US" sz="1300" b="1" dirty="0">
                <a:solidFill>
                  <a:srgbClr val="2E4080"/>
                </a:solidFill>
                <a:latin typeface="Calibri" pitchFamily="34" charset="0"/>
                <a:ea typeface="Calibri" pitchFamily="34" charset="-122"/>
                <a:cs typeface="Calibri" pitchFamily="34" charset="-120"/>
              </a:rPr>
              <a:t>Daily Volatility</a:t>
            </a:r>
            <a:endParaRPr lang="en-US" sz="1300" dirty="0"/>
          </a:p>
        </p:txBody>
      </p:sp>
      <p:sp>
        <p:nvSpPr>
          <p:cNvPr id="19" name="Text 17"/>
          <p:cNvSpPr/>
          <p:nvPr/>
        </p:nvSpPr>
        <p:spPr>
          <a:xfrm>
            <a:off x="411480" y="3575304"/>
            <a:ext cx="3931920" cy="1207008"/>
          </a:xfrm>
          <a:prstGeom prst="rect">
            <a:avLst/>
          </a:prstGeom>
          <a:noFill/>
          <a:ln/>
        </p:spPr>
        <p:txBody>
          <a:bodyPr wrap="square" rtlCol="0" anchor="ctr"/>
          <a:lstStyle/>
          <a:p>
            <a:pPr marL="0" indent="0">
              <a:buNone/>
            </a:pPr>
            <a:r>
              <a:rPr lang="en-US" sz="1050" dirty="0">
                <a:solidFill>
                  <a:srgbClr val="1A2744"/>
                </a:solidFill>
                <a:latin typeface="Calibri" pitchFamily="34" charset="0"/>
                <a:ea typeface="Calibri" pitchFamily="34" charset="-122"/>
                <a:cs typeface="Calibri" pitchFamily="34" charset="-120"/>
              </a:rPr>
              <a:t>Day-to-day output fluctuates between 0.14M–0.32M MW. Peaks occur around Days 5–6 and Day 25. A sharp unexplained decline to 0.14M MW near Day 30 represents a significant anomaly.</a:t>
            </a:r>
            <a:endParaRPr lang="en-US" sz="1050" dirty="0"/>
          </a:p>
        </p:txBody>
      </p:sp>
      <p:sp>
        <p:nvSpPr>
          <p:cNvPr id="20" name="Shape 18"/>
          <p:cNvSpPr/>
          <p:nvPr/>
        </p:nvSpPr>
        <p:spPr>
          <a:xfrm>
            <a:off x="4709160" y="3063240"/>
            <a:ext cx="4206240" cy="1783080"/>
          </a:xfrm>
          <a:prstGeom prst="rect">
            <a:avLst/>
          </a:prstGeom>
          <a:solidFill>
            <a:srgbClr val="FFFFFF"/>
          </a:solidFill>
          <a:ln/>
          <a:effectLst>
            <a:outerShdw blurRad="101600" dist="38100" dir="8100000" algn="bl" rotWithShape="0">
              <a:srgbClr val="000000">
                <a:alpha val="12000"/>
              </a:srgbClr>
            </a:outerShdw>
          </a:effectLst>
        </p:spPr>
      </p:sp>
      <p:sp>
        <p:nvSpPr>
          <p:cNvPr id="21" name="Shape 19"/>
          <p:cNvSpPr/>
          <p:nvPr/>
        </p:nvSpPr>
        <p:spPr>
          <a:xfrm>
            <a:off x="4709160" y="3063240"/>
            <a:ext cx="4206240" cy="73152"/>
          </a:xfrm>
          <a:prstGeom prst="rect">
            <a:avLst/>
          </a:prstGeom>
          <a:solidFill>
            <a:srgbClr val="E87C1E"/>
          </a:solidFill>
          <a:ln/>
        </p:spPr>
      </p:sp>
      <p:sp>
        <p:nvSpPr>
          <p:cNvPr id="22" name="Shape 20"/>
          <p:cNvSpPr/>
          <p:nvPr/>
        </p:nvSpPr>
        <p:spPr>
          <a:xfrm>
            <a:off x="4709160" y="3136392"/>
            <a:ext cx="4206240" cy="347472"/>
          </a:xfrm>
          <a:prstGeom prst="rect">
            <a:avLst/>
          </a:prstGeom>
          <a:solidFill>
            <a:srgbClr val="E87C1E">
              <a:alpha val="15000"/>
            </a:srgbClr>
          </a:solidFill>
          <a:ln/>
        </p:spPr>
      </p:sp>
      <p:sp>
        <p:nvSpPr>
          <p:cNvPr id="23" name="Text 21"/>
          <p:cNvSpPr/>
          <p:nvPr/>
        </p:nvSpPr>
        <p:spPr>
          <a:xfrm>
            <a:off x="4846320" y="3154680"/>
            <a:ext cx="3931920" cy="310896"/>
          </a:xfrm>
          <a:prstGeom prst="rect">
            <a:avLst/>
          </a:prstGeom>
          <a:noFill/>
          <a:ln/>
        </p:spPr>
        <p:txBody>
          <a:bodyPr wrap="square" rtlCol="0" anchor="ctr"/>
          <a:lstStyle/>
          <a:p>
            <a:pPr marL="0" indent="0">
              <a:buNone/>
            </a:pPr>
            <a:r>
              <a:rPr lang="en-US" sz="1300" b="1" dirty="0">
                <a:solidFill>
                  <a:srgbClr val="E87C1E"/>
                </a:solidFill>
                <a:latin typeface="Calibri" pitchFamily="34" charset="0"/>
                <a:ea typeface="Calibri" pitchFamily="34" charset="-122"/>
                <a:cs typeface="Calibri" pitchFamily="34" charset="-120"/>
              </a:rPr>
              <a:t>Site Type Disparity</a:t>
            </a:r>
            <a:endParaRPr lang="en-US" sz="1300" dirty="0"/>
          </a:p>
        </p:txBody>
      </p:sp>
      <p:sp>
        <p:nvSpPr>
          <p:cNvPr id="24" name="Text 22"/>
          <p:cNvSpPr/>
          <p:nvPr/>
        </p:nvSpPr>
        <p:spPr>
          <a:xfrm>
            <a:off x="4846320" y="3575304"/>
            <a:ext cx="3931920" cy="1207008"/>
          </a:xfrm>
          <a:prstGeom prst="rect">
            <a:avLst/>
          </a:prstGeom>
          <a:noFill/>
          <a:ln/>
        </p:spPr>
        <p:txBody>
          <a:bodyPr wrap="square" rtlCol="0" anchor="ctr"/>
          <a:lstStyle/>
          <a:p>
            <a:pPr marL="0" indent="0">
              <a:buNone/>
            </a:pPr>
            <a:r>
              <a:rPr lang="en-US" sz="1050" dirty="0">
                <a:solidFill>
                  <a:srgbClr val="1A2744"/>
                </a:solidFill>
                <a:latin typeface="Calibri" pitchFamily="34" charset="0"/>
                <a:ea typeface="Calibri" pitchFamily="34" charset="-122"/>
                <a:cs typeface="Calibri" pitchFamily="34" charset="-120"/>
              </a:rPr>
              <a:t>UPV sites dominate with 66.67 MW average capacity and 11 MW average output. DPV sites average 36.85 MW capacity and 6 MW output. UPV delivers ~83% more power per site despite generating at similar efficiency ratios.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400" b="1" dirty="0">
                <a:solidFill>
                  <a:srgbClr val="F5C518"/>
                </a:solidFill>
                <a:latin typeface="Calibri" pitchFamily="34" charset="0"/>
                <a:ea typeface="Calibri" pitchFamily="34" charset="-122"/>
                <a:cs typeface="Calibri" pitchFamily="34" charset="-120"/>
              </a:rPr>
              <a:t>BAR CHART — Monthly Power Generation</a:t>
            </a:r>
            <a:endParaRPr lang="en-US" sz="2400" dirty="0"/>
          </a:p>
        </p:txBody>
      </p:sp>
      <p:sp>
        <p:nvSpPr>
          <p:cNvPr id="4" name="Text 2"/>
          <p:cNvSpPr/>
          <p:nvPr/>
        </p:nvSpPr>
        <p:spPr>
          <a:xfrm>
            <a:off x="457200" y="576072"/>
            <a:ext cx="8229600" cy="219456"/>
          </a:xfrm>
          <a:prstGeom prst="rect">
            <a:avLst/>
          </a:prstGeom>
          <a:noFill/>
          <a:ln/>
        </p:spPr>
        <p:txBody>
          <a:bodyPr wrap="square" rtlCol="0" anchor="ctr"/>
          <a:lstStyle/>
          <a:p>
            <a:pPr marL="0" indent="0">
              <a:buNone/>
            </a:pPr>
            <a:r>
              <a:rPr lang="en-US" sz="1100" dirty="0">
                <a:solidFill>
                  <a:srgbClr val="E8E4DA"/>
                </a:solidFill>
              </a:rPr>
              <a:t>Sum of Power Generated (MW) by Month</a:t>
            </a:r>
            <a:endParaRPr lang="en-US" sz="1100" dirty="0"/>
          </a:p>
        </p:txBody>
      </p:sp>
      <p:graphicFrame>
        <p:nvGraphicFramePr>
          <p:cNvPr id="5" name="Chart 0"/>
          <p:cNvGraphicFramePr/>
          <p:nvPr/>
        </p:nvGraphicFramePr>
        <p:xfrm>
          <a:off x="274320" y="868680"/>
          <a:ext cx="62179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675120" y="868680"/>
            <a:ext cx="2286000" cy="4023360"/>
          </a:xfrm>
          <a:prstGeom prst="rect">
            <a:avLst/>
          </a:prstGeom>
          <a:solidFill>
            <a:srgbClr val="1A2744"/>
          </a:solidFill>
          <a:ln/>
          <a:effectLst>
            <a:outerShdw blurRad="101600" dist="38100" dir="8100000" algn="bl" rotWithShape="0">
              <a:srgbClr val="000000">
                <a:alpha val="12000"/>
              </a:srgbClr>
            </a:outerShdw>
          </a:effectLst>
        </p:spPr>
      </p:sp>
      <p:sp>
        <p:nvSpPr>
          <p:cNvPr id="7" name="Text 4"/>
          <p:cNvSpPr/>
          <p:nvPr/>
        </p:nvSpPr>
        <p:spPr>
          <a:xfrm>
            <a:off x="6748272" y="960120"/>
            <a:ext cx="2148840" cy="347472"/>
          </a:xfrm>
          <a:prstGeom prst="rect">
            <a:avLst/>
          </a:prstGeom>
          <a:noFill/>
          <a:ln/>
        </p:spPr>
        <p:txBody>
          <a:bodyPr wrap="square" rtlCol="0" anchor="ctr"/>
          <a:lstStyle/>
          <a:p>
            <a:pPr marL="0" indent="0">
              <a:buNone/>
            </a:pPr>
            <a:r>
              <a:rPr lang="en-US" sz="1300" b="1" dirty="0">
                <a:solidFill>
                  <a:srgbClr val="F5C518"/>
                </a:solidFill>
                <a:latin typeface="Calibri" pitchFamily="34" charset="0"/>
                <a:ea typeface="Calibri" pitchFamily="34" charset="-122"/>
                <a:cs typeface="Calibri" pitchFamily="34" charset="-120"/>
              </a:rPr>
              <a:t>📌 Key Insights</a:t>
            </a:r>
            <a:endParaRPr lang="en-US" sz="1300" dirty="0"/>
          </a:p>
        </p:txBody>
      </p:sp>
      <p:sp>
        <p:nvSpPr>
          <p:cNvPr id="8" name="Text 5"/>
          <p:cNvSpPr/>
          <p:nvPr/>
        </p:nvSpPr>
        <p:spPr>
          <a:xfrm>
            <a:off x="6748272" y="1389888"/>
            <a:ext cx="2148840" cy="3429000"/>
          </a:xfrm>
          <a:prstGeom prst="rect">
            <a:avLst/>
          </a:prstGeom>
          <a:noFill/>
          <a:ln/>
        </p:spPr>
        <p:txBody>
          <a:bodyPr wrap="square" rtlCol="0" anchor="ctr"/>
          <a:lstStyle/>
          <a:p>
            <a:pPr marL="342900" indent="-342900">
              <a:buSzPct val="100000"/>
              <a:buChar char="•"/>
            </a:pPr>
            <a:r>
              <a:rPr lang="en-US" sz="1000" dirty="0">
                <a:solidFill>
                  <a:srgbClr val="FFFFFF"/>
                </a:solidFill>
              </a:rPr>
              <a:t>May is the peak month with 0.80M MW generated</a:t>
            </a:r>
            <a:endParaRPr lang="en-US" sz="1000" dirty="0"/>
          </a:p>
          <a:p>
            <a:pPr marL="342900" indent="-342900">
              <a:buSzPct val="100000"/>
              <a:buChar char="•"/>
            </a:pPr>
            <a:r>
              <a:rPr lang="en-US" sz="1000" dirty="0">
                <a:solidFill>
                  <a:srgbClr val="FFFFFF"/>
                </a:solidFill>
              </a:rPr>
              <a:t>December is the lowest at 0.50M MW — 38% below May</a:t>
            </a:r>
            <a:endParaRPr lang="en-US" sz="1000" dirty="0"/>
          </a:p>
          <a:p>
            <a:pPr marL="342900" indent="-342900">
              <a:buSzPct val="100000"/>
              <a:buChar char="•"/>
            </a:pPr>
            <a:r>
              <a:rPr lang="en-US" sz="1000" dirty="0">
                <a:solidFill>
                  <a:srgbClr val="FFFFFF"/>
                </a:solidFill>
              </a:rPr>
              <a:t>Steady upward trend from Dec → May confirms seasonal pattern</a:t>
            </a:r>
            <a:endParaRPr lang="en-US" sz="1000" dirty="0"/>
          </a:p>
          <a:p>
            <a:pPr marL="342900" indent="-342900">
              <a:buSzPct val="100000"/>
              <a:buChar char="•"/>
            </a:pPr>
            <a:r>
              <a:rPr lang="en-US" sz="1000" dirty="0">
                <a:solidFill>
                  <a:srgbClr val="FFFFFF"/>
                </a:solidFill>
              </a:rPr>
              <a:t>The 6-month growth from 0.50M to 0.80M = +60% uplift</a:t>
            </a:r>
            <a:endParaRPr lang="en-US" sz="1000" dirty="0"/>
          </a:p>
          <a:p>
            <a:pPr marL="342900" indent="-342900">
              <a:buSzPct val="100000"/>
              <a:buChar char="•"/>
            </a:pPr>
            <a:r>
              <a:rPr lang="en-US" sz="1000" dirty="0">
                <a:solidFill>
                  <a:srgbClr val="FFFFFF"/>
                </a:solidFill>
              </a:rPr>
              <a:t>July–Aug plateau (0.62–0.66M) may indicate summer heat reducing efficiency</a:t>
            </a:r>
            <a:endParaRPr lang="en-US" sz="1000" dirty="0"/>
          </a:p>
          <a:p>
            <a:pPr marL="342900" indent="-342900">
              <a:buSzPct val="100000"/>
              <a:buChar char="•"/>
            </a:pPr>
            <a:r>
              <a:rPr lang="en-US" sz="1000" dirty="0">
                <a:solidFill>
                  <a:srgbClr val="FFFFFF"/>
                </a:solidFill>
              </a:rPr>
              <a:t>Q2 months (Mar–May) consistently outperform all others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400" b="1" dirty="0">
                <a:solidFill>
                  <a:srgbClr val="F5C518"/>
                </a:solidFill>
                <a:latin typeface="Calibri" pitchFamily="34" charset="0"/>
                <a:ea typeface="Calibri" pitchFamily="34" charset="-122"/>
                <a:cs typeface="Calibri" pitchFamily="34" charset="-120"/>
              </a:rPr>
              <a:t>LINE CHART — Hourly Power Generation Curve</a:t>
            </a:r>
            <a:endParaRPr lang="en-US" sz="2400" dirty="0"/>
          </a:p>
        </p:txBody>
      </p:sp>
      <p:sp>
        <p:nvSpPr>
          <p:cNvPr id="4" name="Text 2"/>
          <p:cNvSpPr/>
          <p:nvPr/>
        </p:nvSpPr>
        <p:spPr>
          <a:xfrm>
            <a:off x="457200" y="576072"/>
            <a:ext cx="8229600" cy="219456"/>
          </a:xfrm>
          <a:prstGeom prst="rect">
            <a:avLst/>
          </a:prstGeom>
          <a:noFill/>
          <a:ln/>
        </p:spPr>
        <p:txBody>
          <a:bodyPr wrap="square" rtlCol="0" anchor="ctr"/>
          <a:lstStyle/>
          <a:p>
            <a:pPr marL="0" indent="0">
              <a:buNone/>
            </a:pPr>
            <a:r>
              <a:rPr lang="en-US" sz="1100" dirty="0">
                <a:solidFill>
                  <a:srgbClr val="E8E4DA"/>
                </a:solidFill>
              </a:rPr>
              <a:t>Average Power Output (MW) by Hour of Day — The Solar Bell Curve</a:t>
            </a:r>
            <a:endParaRPr lang="en-US" sz="1100" dirty="0"/>
          </a:p>
        </p:txBody>
      </p:sp>
      <p:graphicFrame>
        <p:nvGraphicFramePr>
          <p:cNvPr id="5" name="Chart 0"/>
          <p:cNvGraphicFramePr/>
          <p:nvPr/>
        </p:nvGraphicFramePr>
        <p:xfrm>
          <a:off x="274320" y="868680"/>
          <a:ext cx="62179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675120" y="868680"/>
            <a:ext cx="2286000" cy="4023360"/>
          </a:xfrm>
          <a:prstGeom prst="rect">
            <a:avLst/>
          </a:prstGeom>
          <a:solidFill>
            <a:srgbClr val="1A2744"/>
          </a:solidFill>
          <a:ln/>
          <a:effectLst>
            <a:outerShdw blurRad="101600" dist="38100" dir="8100000" algn="bl" rotWithShape="0">
              <a:srgbClr val="000000">
                <a:alpha val="12000"/>
              </a:srgbClr>
            </a:outerShdw>
          </a:effectLst>
        </p:spPr>
      </p:sp>
      <p:sp>
        <p:nvSpPr>
          <p:cNvPr id="7" name="Text 4"/>
          <p:cNvSpPr/>
          <p:nvPr/>
        </p:nvSpPr>
        <p:spPr>
          <a:xfrm>
            <a:off x="6748272" y="960120"/>
            <a:ext cx="2148840" cy="347472"/>
          </a:xfrm>
          <a:prstGeom prst="rect">
            <a:avLst/>
          </a:prstGeom>
          <a:noFill/>
          <a:ln/>
        </p:spPr>
        <p:txBody>
          <a:bodyPr wrap="square" rtlCol="0" anchor="ctr"/>
          <a:lstStyle/>
          <a:p>
            <a:pPr marL="0" indent="0">
              <a:buNone/>
            </a:pPr>
            <a:r>
              <a:rPr lang="en-US" sz="1300" b="1" dirty="0">
                <a:solidFill>
                  <a:srgbClr val="F5C518"/>
                </a:solidFill>
                <a:latin typeface="Calibri" pitchFamily="34" charset="0"/>
                <a:ea typeface="Calibri" pitchFamily="34" charset="-122"/>
                <a:cs typeface="Calibri" pitchFamily="34" charset="-120"/>
              </a:rPr>
              <a:t>📌 Key Insights</a:t>
            </a:r>
            <a:endParaRPr lang="en-US" sz="1300" dirty="0"/>
          </a:p>
        </p:txBody>
      </p:sp>
      <p:sp>
        <p:nvSpPr>
          <p:cNvPr id="8" name="Text 5"/>
          <p:cNvSpPr/>
          <p:nvPr/>
        </p:nvSpPr>
        <p:spPr>
          <a:xfrm>
            <a:off x="6748272" y="1389888"/>
            <a:ext cx="2148840" cy="3429000"/>
          </a:xfrm>
          <a:prstGeom prst="rect">
            <a:avLst/>
          </a:prstGeom>
          <a:noFill/>
          <a:ln/>
        </p:spPr>
        <p:txBody>
          <a:bodyPr wrap="square" rtlCol="0" anchor="ctr"/>
          <a:lstStyle/>
          <a:p>
            <a:pPr marL="342900" indent="-342900">
              <a:buSzPct val="100000"/>
              <a:buChar char="•"/>
            </a:pPr>
            <a:r>
              <a:rPr lang="en-US" sz="1000" dirty="0">
                <a:solidFill>
                  <a:srgbClr val="FFFFFF"/>
                </a:solidFill>
              </a:rPr>
              <a:t>Generation begins rising at Hour 5–6 (dawn ramp-up)</a:t>
            </a:r>
            <a:endParaRPr lang="en-US" sz="1000" dirty="0"/>
          </a:p>
          <a:p>
            <a:pPr marL="342900" indent="-342900">
              <a:buSzPct val="100000"/>
              <a:buChar char="•"/>
            </a:pPr>
            <a:r>
              <a:rPr lang="en-US" sz="1000" dirty="0">
                <a:solidFill>
                  <a:srgbClr val="FFFFFF"/>
                </a:solidFill>
              </a:rPr>
              <a:t>Peak of 25 MW achieved at Hour 13 (1:00 PM)</a:t>
            </a:r>
            <a:endParaRPr lang="en-US" sz="1000" dirty="0"/>
          </a:p>
          <a:p>
            <a:pPr marL="342900" indent="-342900">
              <a:buSzPct val="100000"/>
              <a:buChar char="•"/>
            </a:pPr>
            <a:r>
              <a:rPr lang="en-US" sz="1000" dirty="0">
                <a:solidFill>
                  <a:srgbClr val="FFFFFF"/>
                </a:solidFill>
              </a:rPr>
              <a:t>18 MW recorded at Hour 18 (6 PM) — extended summer daylight</a:t>
            </a:r>
            <a:endParaRPr lang="en-US" sz="1000" dirty="0"/>
          </a:p>
          <a:p>
            <a:pPr marL="342900" indent="-342900">
              <a:buSzPct val="100000"/>
              <a:buChar char="•"/>
            </a:pPr>
            <a:r>
              <a:rPr lang="en-US" sz="1000" dirty="0">
                <a:solidFill>
                  <a:srgbClr val="FFFFFF"/>
                </a:solidFill>
              </a:rPr>
              <a:t>Complete darkness cutoff after Hour 20</a:t>
            </a:r>
            <a:endParaRPr lang="en-US" sz="1000" dirty="0"/>
          </a:p>
          <a:p>
            <a:pPr marL="342900" indent="-342900">
              <a:buSzPct val="100000"/>
              <a:buChar char="•"/>
            </a:pPr>
            <a:r>
              <a:rPr lang="en-US" sz="1000" dirty="0">
                <a:solidFill>
                  <a:srgbClr val="FFFFFF"/>
                </a:solidFill>
              </a:rPr>
              <a:t>A 14-hour active generation window per day</a:t>
            </a:r>
            <a:endParaRPr lang="en-US" sz="1000" dirty="0"/>
          </a:p>
          <a:p>
            <a:pPr marL="342900" indent="-342900">
              <a:buSzPct val="100000"/>
              <a:buChar char="•"/>
            </a:pPr>
            <a:r>
              <a:rPr lang="en-US" sz="1000" dirty="0">
                <a:solidFill>
                  <a:srgbClr val="FFFFFF"/>
                </a:solidFill>
              </a:rPr>
              <a:t>Bell curve confirms no significant cloud/obstruction anomalies in average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400" b="1" dirty="0">
                <a:solidFill>
                  <a:srgbClr val="F5C518"/>
                </a:solidFill>
                <a:latin typeface="Calibri" pitchFamily="34" charset="0"/>
                <a:ea typeface="Calibri" pitchFamily="34" charset="-122"/>
                <a:cs typeface="Calibri" pitchFamily="34" charset="-120"/>
              </a:rPr>
              <a:t>PIE CHART — Power Contribution by Site Type</a:t>
            </a:r>
            <a:endParaRPr lang="en-US" sz="2400" dirty="0"/>
          </a:p>
        </p:txBody>
      </p:sp>
      <p:sp>
        <p:nvSpPr>
          <p:cNvPr id="4" name="Text 2"/>
          <p:cNvSpPr/>
          <p:nvPr/>
        </p:nvSpPr>
        <p:spPr>
          <a:xfrm>
            <a:off x="457200" y="576072"/>
            <a:ext cx="8229600" cy="219456"/>
          </a:xfrm>
          <a:prstGeom prst="rect">
            <a:avLst/>
          </a:prstGeom>
          <a:noFill/>
          <a:ln/>
        </p:spPr>
        <p:txBody>
          <a:bodyPr wrap="square" rtlCol="0" anchor="ctr"/>
          <a:lstStyle/>
          <a:p>
            <a:pPr marL="0" indent="0">
              <a:buNone/>
            </a:pPr>
            <a:r>
              <a:rPr lang="en-US" sz="1100" dirty="0">
                <a:solidFill>
                  <a:srgbClr val="E8E4DA"/>
                </a:solidFill>
              </a:rPr>
              <a:t>Share of Total Power Generation — UPV vs DPV Sites</a:t>
            </a:r>
            <a:endParaRPr lang="en-US" sz="1100" dirty="0"/>
          </a:p>
        </p:txBody>
      </p:sp>
      <p:graphicFrame>
        <p:nvGraphicFramePr>
          <p:cNvPr id="5" name="Chart 0"/>
          <p:cNvGraphicFramePr/>
          <p:nvPr/>
        </p:nvGraphicFramePr>
        <p:xfrm>
          <a:off x="274320" y="868680"/>
          <a:ext cx="54864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943600" y="868680"/>
            <a:ext cx="2926080" cy="4023360"/>
          </a:xfrm>
          <a:prstGeom prst="rect">
            <a:avLst/>
          </a:prstGeom>
          <a:solidFill>
            <a:srgbClr val="1A2744"/>
          </a:solidFill>
          <a:ln/>
          <a:effectLst>
            <a:outerShdw blurRad="101600" dist="38100" dir="8100000" algn="bl" rotWithShape="0">
              <a:srgbClr val="000000">
                <a:alpha val="12000"/>
              </a:srgbClr>
            </a:outerShdw>
          </a:effectLst>
        </p:spPr>
      </p:sp>
      <p:sp>
        <p:nvSpPr>
          <p:cNvPr id="7" name="Text 4"/>
          <p:cNvSpPr/>
          <p:nvPr/>
        </p:nvSpPr>
        <p:spPr>
          <a:xfrm>
            <a:off x="6016752" y="960120"/>
            <a:ext cx="2743200" cy="347472"/>
          </a:xfrm>
          <a:prstGeom prst="rect">
            <a:avLst/>
          </a:prstGeom>
          <a:noFill/>
          <a:ln/>
        </p:spPr>
        <p:txBody>
          <a:bodyPr wrap="square" rtlCol="0" anchor="ctr"/>
          <a:lstStyle/>
          <a:p>
            <a:pPr marL="0" indent="0">
              <a:buNone/>
            </a:pPr>
            <a:r>
              <a:rPr lang="en-US" sz="1300" b="1" dirty="0">
                <a:solidFill>
                  <a:srgbClr val="F5C518"/>
                </a:solidFill>
                <a:latin typeface="Calibri" pitchFamily="34" charset="0"/>
                <a:ea typeface="Calibri" pitchFamily="34" charset="-122"/>
                <a:cs typeface="Calibri" pitchFamily="34" charset="-120"/>
              </a:rPr>
              <a:t>📌 Key Insights</a:t>
            </a:r>
            <a:endParaRPr lang="en-US" sz="1300" dirty="0"/>
          </a:p>
        </p:txBody>
      </p:sp>
      <p:sp>
        <p:nvSpPr>
          <p:cNvPr id="8" name="Text 5"/>
          <p:cNvSpPr/>
          <p:nvPr/>
        </p:nvSpPr>
        <p:spPr>
          <a:xfrm>
            <a:off x="6016752" y="1389888"/>
            <a:ext cx="2697480" cy="3429000"/>
          </a:xfrm>
          <a:prstGeom prst="rect">
            <a:avLst/>
          </a:prstGeom>
          <a:noFill/>
          <a:ln/>
        </p:spPr>
        <p:txBody>
          <a:bodyPr wrap="square" rtlCol="0" anchor="ctr"/>
          <a:lstStyle/>
          <a:p>
            <a:pPr marL="342900" indent="-342900">
              <a:buSzPct val="100000"/>
              <a:buChar char="•"/>
            </a:pPr>
            <a:r>
              <a:rPr lang="en-US" sz="1000" dirty="0">
                <a:solidFill>
                  <a:srgbClr val="FFFFFF"/>
                </a:solidFill>
              </a:rPr>
              <a:t>UPV sites contribute ~65% of total generation despite lower count</a:t>
            </a:r>
            <a:endParaRPr lang="en-US" sz="1000" dirty="0"/>
          </a:p>
          <a:p>
            <a:pPr marL="342900" indent="-342900">
              <a:buSzPct val="100000"/>
              <a:buChar char="•"/>
            </a:pPr>
            <a:r>
              <a:rPr lang="en-US" sz="1000" dirty="0">
                <a:solidFill>
                  <a:srgbClr val="FFFFFF"/>
                </a:solidFill>
              </a:rPr>
              <a:t>DPV sites contribute ~35% — significant at portfolio scale</a:t>
            </a:r>
            <a:endParaRPr lang="en-US" sz="1000" dirty="0"/>
          </a:p>
          <a:p>
            <a:pPr marL="342900" indent="-342900">
              <a:buSzPct val="100000"/>
              <a:buChar char="•"/>
            </a:pPr>
            <a:r>
              <a:rPr lang="en-US" sz="1000" dirty="0">
                <a:solidFill>
                  <a:srgbClr val="FFFFFF"/>
                </a:solidFill>
              </a:rPr>
              <a:t>UPV's higher per-site output (11 MW avg) drives its share dominance</a:t>
            </a:r>
            <a:endParaRPr lang="en-US" sz="1000" dirty="0"/>
          </a:p>
          <a:p>
            <a:pPr marL="342900" indent="-342900">
              <a:buSzPct val="100000"/>
              <a:buChar char="•"/>
            </a:pPr>
            <a:r>
              <a:rPr lang="en-US" sz="1000" dirty="0">
                <a:solidFill>
                  <a:srgbClr val="FFFFFF"/>
                </a:solidFill>
              </a:rPr>
              <a:t>Increasing UPV capacity is the fastest path to output gains</a:t>
            </a:r>
            <a:endParaRPr lang="en-US" sz="1000" dirty="0"/>
          </a:p>
          <a:p>
            <a:pPr marL="342900" indent="-342900">
              <a:buSzPct val="100000"/>
              <a:buChar char="•"/>
            </a:pPr>
            <a:r>
              <a:rPr lang="en-US" sz="1000" dirty="0">
                <a:solidFill>
                  <a:srgbClr val="FFFFFF"/>
                </a:solidFill>
              </a:rPr>
              <a:t>DPV's distributed nature offers resilience against single-site failures</a:t>
            </a:r>
            <a:endParaRPr lang="en-US" sz="1000" dirty="0"/>
          </a:p>
          <a:p>
            <a:pPr marL="342900" indent="-342900">
              <a:buSzPct val="100000"/>
              <a:buChar char="•"/>
            </a:pPr>
            <a:r>
              <a:rPr lang="en-US" sz="1000" dirty="0">
                <a:solidFill>
                  <a:srgbClr val="FFFFFF"/>
                </a:solidFill>
              </a:rPr>
              <a:t>Balanced portfolio strategy should maintain both site types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400" b="1" dirty="0">
                <a:solidFill>
                  <a:srgbClr val="F5C518"/>
                </a:solidFill>
                <a:latin typeface="Calibri" pitchFamily="34" charset="0"/>
                <a:ea typeface="Calibri" pitchFamily="34" charset="-122"/>
                <a:cs typeface="Calibri" pitchFamily="34" charset="-120"/>
              </a:rPr>
              <a:t>TREND ANALYSIS — Daily Generation Pattern</a:t>
            </a:r>
            <a:endParaRPr lang="en-US" sz="2400" dirty="0"/>
          </a:p>
        </p:txBody>
      </p:sp>
      <p:sp>
        <p:nvSpPr>
          <p:cNvPr id="4" name="Text 2"/>
          <p:cNvSpPr/>
          <p:nvPr/>
        </p:nvSpPr>
        <p:spPr>
          <a:xfrm>
            <a:off x="457200" y="576072"/>
            <a:ext cx="8229600" cy="219456"/>
          </a:xfrm>
          <a:prstGeom prst="rect">
            <a:avLst/>
          </a:prstGeom>
          <a:noFill/>
          <a:ln/>
        </p:spPr>
        <p:txBody>
          <a:bodyPr wrap="square" rtlCol="0" anchor="ctr"/>
          <a:lstStyle/>
          <a:p>
            <a:pPr marL="0" indent="0">
              <a:buNone/>
            </a:pPr>
            <a:r>
              <a:rPr lang="en-US" sz="1100" dirty="0">
                <a:solidFill>
                  <a:srgbClr val="E8E4DA"/>
                </a:solidFill>
              </a:rPr>
              <a:t>Sum of Power Generated (MW) by Day of Month — Fluctuation &amp; Anomaly Detection</a:t>
            </a:r>
            <a:endParaRPr lang="en-US" sz="1100" dirty="0"/>
          </a:p>
        </p:txBody>
      </p:sp>
      <p:graphicFrame>
        <p:nvGraphicFramePr>
          <p:cNvPr id="5" name="Chart 0"/>
          <p:cNvGraphicFramePr/>
          <p:nvPr/>
        </p:nvGraphicFramePr>
        <p:xfrm>
          <a:off x="274320" y="868680"/>
          <a:ext cx="62179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675120" y="868680"/>
            <a:ext cx="2286000" cy="4023360"/>
          </a:xfrm>
          <a:prstGeom prst="rect">
            <a:avLst/>
          </a:prstGeom>
          <a:solidFill>
            <a:srgbClr val="1A2744"/>
          </a:solidFill>
          <a:ln/>
          <a:effectLst>
            <a:outerShdw blurRad="101600" dist="38100" dir="8100000" algn="bl" rotWithShape="0">
              <a:srgbClr val="000000">
                <a:alpha val="12000"/>
              </a:srgbClr>
            </a:outerShdw>
          </a:effectLst>
        </p:spPr>
      </p:sp>
      <p:sp>
        <p:nvSpPr>
          <p:cNvPr id="7" name="Text 4"/>
          <p:cNvSpPr/>
          <p:nvPr/>
        </p:nvSpPr>
        <p:spPr>
          <a:xfrm>
            <a:off x="6748272" y="960120"/>
            <a:ext cx="2148840" cy="347472"/>
          </a:xfrm>
          <a:prstGeom prst="rect">
            <a:avLst/>
          </a:prstGeom>
          <a:noFill/>
          <a:ln/>
        </p:spPr>
        <p:txBody>
          <a:bodyPr wrap="square" rtlCol="0" anchor="ctr"/>
          <a:lstStyle/>
          <a:p>
            <a:pPr marL="0" indent="0">
              <a:buNone/>
            </a:pPr>
            <a:r>
              <a:rPr lang="en-US" sz="1300" b="1" dirty="0">
                <a:solidFill>
                  <a:srgbClr val="F5C518"/>
                </a:solidFill>
                <a:latin typeface="Calibri" pitchFamily="34" charset="0"/>
                <a:ea typeface="Calibri" pitchFamily="34" charset="-122"/>
                <a:cs typeface="Calibri" pitchFamily="34" charset="-120"/>
              </a:rPr>
              <a:t>📌 Key Insights</a:t>
            </a:r>
            <a:endParaRPr lang="en-US" sz="1300" dirty="0"/>
          </a:p>
        </p:txBody>
      </p:sp>
      <p:sp>
        <p:nvSpPr>
          <p:cNvPr id="8" name="Text 5"/>
          <p:cNvSpPr/>
          <p:nvPr/>
        </p:nvSpPr>
        <p:spPr>
          <a:xfrm>
            <a:off x="6748272" y="1389888"/>
            <a:ext cx="2148840" cy="3429000"/>
          </a:xfrm>
          <a:prstGeom prst="rect">
            <a:avLst/>
          </a:prstGeom>
          <a:noFill/>
          <a:ln/>
        </p:spPr>
        <p:txBody>
          <a:bodyPr wrap="square" rtlCol="0" anchor="ctr"/>
          <a:lstStyle/>
          <a:p>
            <a:pPr marL="342900" indent="-342900">
              <a:buSzPct val="100000"/>
              <a:buChar char="•"/>
            </a:pPr>
            <a:r>
              <a:rPr lang="en-US" sz="1000" dirty="0">
                <a:solidFill>
                  <a:srgbClr val="FFFFFF"/>
                </a:solidFill>
              </a:rPr>
              <a:t>Days 5–6 register the highest daily output at 0.32M MW</a:t>
            </a:r>
            <a:endParaRPr lang="en-US" sz="1000" dirty="0"/>
          </a:p>
          <a:p>
            <a:pPr marL="342900" indent="-342900">
              <a:buSzPct val="100000"/>
              <a:buChar char="•"/>
            </a:pPr>
            <a:r>
              <a:rPr lang="en-US" sz="1000" dirty="0">
                <a:solidFill>
                  <a:srgbClr val="FFFFFF"/>
                </a:solidFill>
              </a:rPr>
              <a:t>A second peak around Day 25 (0.28M MW) is also notable</a:t>
            </a:r>
            <a:endParaRPr lang="en-US" sz="1000" dirty="0"/>
          </a:p>
          <a:p>
            <a:pPr marL="342900" indent="-342900">
              <a:buSzPct val="100000"/>
              <a:buChar char="•"/>
            </a:pPr>
            <a:r>
              <a:rPr lang="en-US" sz="1000" dirty="0">
                <a:solidFill>
                  <a:srgbClr val="FFFFFF"/>
                </a:solidFill>
              </a:rPr>
              <a:t>Day 30 registers a severe drop to 0.14M MW — a 57% decline vs. Day 5</a:t>
            </a:r>
            <a:endParaRPr lang="en-US" sz="1000" dirty="0"/>
          </a:p>
          <a:p>
            <a:pPr marL="342900" indent="-342900">
              <a:buSzPct val="100000"/>
              <a:buChar char="•"/>
            </a:pPr>
            <a:r>
              <a:rPr lang="en-US" sz="1000" dirty="0">
                <a:solidFill>
                  <a:srgbClr val="FFFFFF"/>
                </a:solidFill>
              </a:rPr>
              <a:t>Oscillating pattern may reflect alternating weather cycles</a:t>
            </a:r>
            <a:endParaRPr lang="en-US" sz="1000" dirty="0"/>
          </a:p>
          <a:p>
            <a:pPr marL="342900" indent="-342900">
              <a:buSzPct val="100000"/>
              <a:buChar char="•"/>
            </a:pPr>
            <a:r>
              <a:rPr lang="en-US" sz="1000" dirty="0">
                <a:solidFill>
                  <a:srgbClr val="FFFFFF"/>
                </a:solidFill>
              </a:rPr>
              <a:t>Gradual decline from Day 22 onward warrants investigation</a:t>
            </a:r>
            <a:endParaRPr lang="en-US" sz="1000" dirty="0"/>
          </a:p>
          <a:p>
            <a:pPr marL="342900" indent="-342900">
              <a:buSzPct val="100000"/>
              <a:buChar char="•"/>
            </a:pPr>
            <a:r>
              <a:rPr lang="en-US" sz="1000" dirty="0">
                <a:solidFill>
                  <a:srgbClr val="FFFFFF"/>
                </a:solidFill>
              </a:rPr>
              <a:t>Day 30 anomaly likely tied to maintenance, cloud cover, or outage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400" b="1" dirty="0">
                <a:solidFill>
                  <a:srgbClr val="F5C518"/>
                </a:solidFill>
                <a:latin typeface="Calibri" pitchFamily="34" charset="0"/>
                <a:ea typeface="Calibri" pitchFamily="34" charset="-122"/>
                <a:cs typeface="Calibri" pitchFamily="34" charset="-120"/>
              </a:rPr>
              <a:t>COMPARATIVE CHART — UPV vs. DPV Performance</a:t>
            </a:r>
            <a:endParaRPr lang="en-US" sz="2400" dirty="0"/>
          </a:p>
        </p:txBody>
      </p:sp>
      <p:sp>
        <p:nvSpPr>
          <p:cNvPr id="4" name="Text 2"/>
          <p:cNvSpPr/>
          <p:nvPr/>
        </p:nvSpPr>
        <p:spPr>
          <a:xfrm>
            <a:off x="457200" y="576072"/>
            <a:ext cx="8229600" cy="219456"/>
          </a:xfrm>
          <a:prstGeom prst="rect">
            <a:avLst/>
          </a:prstGeom>
          <a:noFill/>
          <a:ln/>
        </p:spPr>
        <p:txBody>
          <a:bodyPr wrap="square" rtlCol="0" anchor="ctr"/>
          <a:lstStyle/>
          <a:p>
            <a:pPr marL="0" indent="0">
              <a:buNone/>
            </a:pPr>
            <a:r>
              <a:rPr lang="en-US" sz="1100" dirty="0">
                <a:solidFill>
                  <a:srgbClr val="E8E4DA"/>
                </a:solidFill>
              </a:rPr>
              <a:t>Average Capacity and Average Power Output by Site Type</a:t>
            </a:r>
            <a:endParaRPr lang="en-US" sz="1100" dirty="0"/>
          </a:p>
        </p:txBody>
      </p:sp>
      <p:graphicFrame>
        <p:nvGraphicFramePr>
          <p:cNvPr id="5" name="Chart 0"/>
          <p:cNvGraphicFramePr/>
          <p:nvPr/>
        </p:nvGraphicFramePr>
        <p:xfrm>
          <a:off x="274320" y="868680"/>
          <a:ext cx="62179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675120" y="868680"/>
            <a:ext cx="2286000" cy="4023360"/>
          </a:xfrm>
          <a:prstGeom prst="rect">
            <a:avLst/>
          </a:prstGeom>
          <a:solidFill>
            <a:srgbClr val="1A2744"/>
          </a:solidFill>
          <a:ln/>
          <a:effectLst>
            <a:outerShdw blurRad="101600" dist="38100" dir="8100000" algn="bl" rotWithShape="0">
              <a:srgbClr val="000000">
                <a:alpha val="12000"/>
              </a:srgbClr>
            </a:outerShdw>
          </a:effectLst>
        </p:spPr>
      </p:sp>
      <p:sp>
        <p:nvSpPr>
          <p:cNvPr id="7" name="Text 4"/>
          <p:cNvSpPr/>
          <p:nvPr/>
        </p:nvSpPr>
        <p:spPr>
          <a:xfrm>
            <a:off x="6748272" y="960120"/>
            <a:ext cx="2148840" cy="347472"/>
          </a:xfrm>
          <a:prstGeom prst="rect">
            <a:avLst/>
          </a:prstGeom>
          <a:noFill/>
          <a:ln/>
        </p:spPr>
        <p:txBody>
          <a:bodyPr wrap="square" rtlCol="0" anchor="ctr"/>
          <a:lstStyle/>
          <a:p>
            <a:pPr marL="0" indent="0">
              <a:buNone/>
            </a:pPr>
            <a:r>
              <a:rPr lang="en-US" sz="1300" b="1" dirty="0">
                <a:solidFill>
                  <a:srgbClr val="F5C518"/>
                </a:solidFill>
                <a:latin typeface="Calibri" pitchFamily="34" charset="0"/>
                <a:ea typeface="Calibri" pitchFamily="34" charset="-122"/>
                <a:cs typeface="Calibri" pitchFamily="34" charset="-120"/>
              </a:rPr>
              <a:t>📌 Key Insights</a:t>
            </a:r>
            <a:endParaRPr lang="en-US" sz="1300" dirty="0"/>
          </a:p>
        </p:txBody>
      </p:sp>
      <p:sp>
        <p:nvSpPr>
          <p:cNvPr id="8" name="Text 5"/>
          <p:cNvSpPr/>
          <p:nvPr/>
        </p:nvSpPr>
        <p:spPr>
          <a:xfrm>
            <a:off x="6748272" y="1389888"/>
            <a:ext cx="2148840" cy="3429000"/>
          </a:xfrm>
          <a:prstGeom prst="rect">
            <a:avLst/>
          </a:prstGeom>
          <a:noFill/>
          <a:ln/>
        </p:spPr>
        <p:txBody>
          <a:bodyPr wrap="square" rtlCol="0" anchor="ctr"/>
          <a:lstStyle/>
          <a:p>
            <a:pPr marL="342900" indent="-342900">
              <a:buSzPct val="100000"/>
              <a:buChar char="•"/>
            </a:pPr>
            <a:r>
              <a:rPr lang="en-US" sz="1000" dirty="0">
                <a:solidFill>
                  <a:srgbClr val="FFFFFF"/>
                </a:solidFill>
              </a:rPr>
              <a:t>UPV capacity (66.67 MW) is 81% higher than DPV (36.85 MW)</a:t>
            </a:r>
            <a:endParaRPr lang="en-US" sz="1000" dirty="0"/>
          </a:p>
          <a:p>
            <a:pPr marL="342900" indent="-342900">
              <a:buSzPct val="100000"/>
              <a:buChar char="•"/>
            </a:pPr>
            <a:r>
              <a:rPr lang="en-US" sz="1000" dirty="0">
                <a:solidFill>
                  <a:srgbClr val="FFFFFF"/>
                </a:solidFill>
              </a:rPr>
              <a:t>UPV power output (11 MW) is 83% greater than DPV (6 MW)</a:t>
            </a:r>
            <a:endParaRPr lang="en-US" sz="1000" dirty="0"/>
          </a:p>
          <a:p>
            <a:pPr marL="342900" indent="-342900">
              <a:buSzPct val="100000"/>
              <a:buChar char="•"/>
            </a:pPr>
            <a:r>
              <a:rPr lang="en-US" sz="1000" dirty="0">
                <a:solidFill>
                  <a:srgbClr val="FFFFFF"/>
                </a:solidFill>
              </a:rPr>
              <a:t>Both site types share similar efficiency ratios (~16.5%)</a:t>
            </a:r>
            <a:endParaRPr lang="en-US" sz="1000" dirty="0"/>
          </a:p>
          <a:p>
            <a:pPr marL="342900" indent="-342900">
              <a:buSzPct val="100000"/>
              <a:buChar char="•"/>
            </a:pPr>
            <a:r>
              <a:rPr lang="en-US" sz="1000" dirty="0">
                <a:solidFill>
                  <a:srgbClr val="FFFFFF"/>
                </a:solidFill>
              </a:rPr>
              <a:t>UPV sites are primary contributors to the total 7.69M MW portfolio</a:t>
            </a:r>
            <a:endParaRPr lang="en-US" sz="1000" dirty="0"/>
          </a:p>
          <a:p>
            <a:pPr marL="342900" indent="-342900">
              <a:buSzPct val="100000"/>
              <a:buChar char="•"/>
            </a:pPr>
            <a:r>
              <a:rPr lang="en-US" sz="1000" dirty="0">
                <a:solidFill>
                  <a:srgbClr val="FFFFFF"/>
                </a:solidFill>
              </a:rPr>
              <a:t>DPV expansion could be cost-effective for distributed grid support</a:t>
            </a:r>
            <a:endParaRPr lang="en-US" sz="1000" dirty="0"/>
          </a:p>
          <a:p>
            <a:pPr marL="342900" indent="-342900">
              <a:buSzPct val="100000"/>
              <a:buChar char="•"/>
            </a:pPr>
            <a:r>
              <a:rPr lang="en-US" sz="1000" dirty="0">
                <a:solidFill>
                  <a:srgbClr val="FFFFFF"/>
                </a:solidFill>
              </a:rPr>
              <a:t>UPV should remain the primary investment priority for scaling</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400" b="1" dirty="0">
                <a:solidFill>
                  <a:srgbClr val="F5C518"/>
                </a:solidFill>
                <a:latin typeface="Calibri" pitchFamily="34" charset="0"/>
                <a:ea typeface="Calibri" pitchFamily="34" charset="-122"/>
                <a:cs typeface="Calibri" pitchFamily="34" charset="-120"/>
              </a:rPr>
              <a:t>EFFICIENCY CHART — Capacity Utilization Rate</a:t>
            </a:r>
            <a:endParaRPr lang="en-US" sz="2400" dirty="0"/>
          </a:p>
        </p:txBody>
      </p:sp>
      <p:sp>
        <p:nvSpPr>
          <p:cNvPr id="4" name="Text 2"/>
          <p:cNvSpPr/>
          <p:nvPr/>
        </p:nvSpPr>
        <p:spPr>
          <a:xfrm>
            <a:off x="457200" y="576072"/>
            <a:ext cx="8229600" cy="219456"/>
          </a:xfrm>
          <a:prstGeom prst="rect">
            <a:avLst/>
          </a:prstGeom>
          <a:noFill/>
          <a:ln/>
        </p:spPr>
        <p:txBody>
          <a:bodyPr wrap="square" rtlCol="0" anchor="ctr"/>
          <a:lstStyle/>
          <a:p>
            <a:pPr marL="0" indent="0">
              <a:buNone/>
            </a:pPr>
            <a:r>
              <a:rPr lang="en-US" sz="1100" dirty="0">
                <a:solidFill>
                  <a:srgbClr val="E8E4DA"/>
                </a:solidFill>
              </a:rPr>
              <a:t>Estimated Capacity Utilization Rate by Site Type (%) — Performance Gap Analysis</a:t>
            </a:r>
            <a:endParaRPr lang="en-US" sz="1100" dirty="0"/>
          </a:p>
        </p:txBody>
      </p:sp>
      <p:graphicFrame>
        <p:nvGraphicFramePr>
          <p:cNvPr id="5" name="Chart 0"/>
          <p:cNvGraphicFramePr/>
          <p:nvPr/>
        </p:nvGraphicFramePr>
        <p:xfrm>
          <a:off x="274320" y="868680"/>
          <a:ext cx="62179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675120" y="868680"/>
            <a:ext cx="2286000" cy="4023360"/>
          </a:xfrm>
          <a:prstGeom prst="rect">
            <a:avLst/>
          </a:prstGeom>
          <a:solidFill>
            <a:srgbClr val="1A2744"/>
          </a:solidFill>
          <a:ln/>
          <a:effectLst>
            <a:outerShdw blurRad="101600" dist="38100" dir="8100000" algn="bl" rotWithShape="0">
              <a:srgbClr val="000000">
                <a:alpha val="12000"/>
              </a:srgbClr>
            </a:outerShdw>
          </a:effectLst>
        </p:spPr>
      </p:sp>
      <p:sp>
        <p:nvSpPr>
          <p:cNvPr id="7" name="Text 4"/>
          <p:cNvSpPr/>
          <p:nvPr/>
        </p:nvSpPr>
        <p:spPr>
          <a:xfrm>
            <a:off x="6748272" y="960120"/>
            <a:ext cx="2148840" cy="347472"/>
          </a:xfrm>
          <a:prstGeom prst="rect">
            <a:avLst/>
          </a:prstGeom>
          <a:noFill/>
          <a:ln/>
        </p:spPr>
        <p:txBody>
          <a:bodyPr wrap="square" rtlCol="0" anchor="ctr"/>
          <a:lstStyle/>
          <a:p>
            <a:pPr marL="0" indent="0">
              <a:buNone/>
            </a:pPr>
            <a:r>
              <a:rPr lang="en-US" sz="1300" b="1" dirty="0">
                <a:solidFill>
                  <a:srgbClr val="F5C518"/>
                </a:solidFill>
                <a:latin typeface="Calibri" pitchFamily="34" charset="0"/>
                <a:ea typeface="Calibri" pitchFamily="34" charset="-122"/>
                <a:cs typeface="Calibri" pitchFamily="34" charset="-120"/>
              </a:rPr>
              <a:t>📌 Key Insights</a:t>
            </a:r>
            <a:endParaRPr lang="en-US" sz="1300" dirty="0"/>
          </a:p>
        </p:txBody>
      </p:sp>
      <p:sp>
        <p:nvSpPr>
          <p:cNvPr id="8" name="Text 5"/>
          <p:cNvSpPr/>
          <p:nvPr/>
        </p:nvSpPr>
        <p:spPr>
          <a:xfrm>
            <a:off x="6748272" y="1389888"/>
            <a:ext cx="2148840" cy="3429000"/>
          </a:xfrm>
          <a:prstGeom prst="rect">
            <a:avLst/>
          </a:prstGeom>
          <a:noFill/>
          <a:ln/>
        </p:spPr>
        <p:txBody>
          <a:bodyPr wrap="square" rtlCol="0" anchor="ctr"/>
          <a:lstStyle/>
          <a:p>
            <a:pPr marL="342900" indent="-342900">
              <a:buSzPct val="100000"/>
              <a:buChar char="•"/>
            </a:pPr>
            <a:r>
              <a:rPr lang="en-US" sz="1000" dirty="0">
                <a:solidFill>
                  <a:srgbClr val="FFFFFF"/>
                </a:solidFill>
              </a:rPr>
              <a:t>Both UPV and DPV sites operate at ~16.5% average capacity factor — typical for solar</a:t>
            </a:r>
            <a:endParaRPr lang="en-US" sz="1000" dirty="0"/>
          </a:p>
          <a:p>
            <a:pPr marL="342900" indent="-342900">
              <a:buSzPct val="100000"/>
              <a:buChar char="•"/>
            </a:pPr>
            <a:r>
              <a:rPr lang="en-US" sz="1000" dirty="0">
                <a:solidFill>
                  <a:srgbClr val="FFFFFF"/>
                </a:solidFill>
              </a:rPr>
              <a:t>Maximum peak utilization hits 93.3% (74.6 of 80 MW) — impressive peak efficiency</a:t>
            </a:r>
            <a:endParaRPr lang="en-US" sz="1000" dirty="0"/>
          </a:p>
          <a:p>
            <a:pPr marL="342900" indent="-342900">
              <a:buSzPct val="100000"/>
              <a:buChar char="•"/>
            </a:pPr>
            <a:r>
              <a:rPr lang="en-US" sz="1000" dirty="0">
                <a:solidFill>
                  <a:srgbClr val="FFFFFF"/>
                </a:solidFill>
              </a:rPr>
              <a:t>6.7% gap from peak maximum to theoretical max represents opportunity</a:t>
            </a:r>
            <a:endParaRPr lang="en-US" sz="1000" dirty="0"/>
          </a:p>
          <a:p>
            <a:pPr marL="342900" indent="-342900">
              <a:buSzPct val="100000"/>
              <a:buChar char="•"/>
            </a:pPr>
            <a:r>
              <a:rPr lang="en-US" sz="1000" dirty="0">
                <a:solidFill>
                  <a:srgbClr val="FFFFFF"/>
                </a:solidFill>
              </a:rPr>
              <a:t>Increasing off-peak generation through storage could boost overall factor</a:t>
            </a:r>
            <a:endParaRPr lang="en-US" sz="1000" dirty="0"/>
          </a:p>
          <a:p>
            <a:pPr marL="342900" indent="-342900">
              <a:buSzPct val="100000"/>
              <a:buChar char="•"/>
            </a:pPr>
            <a:r>
              <a:rPr lang="en-US" sz="1000" dirty="0">
                <a:solidFill>
                  <a:srgbClr val="FFFFFF"/>
                </a:solidFill>
              </a:rPr>
              <a:t>Industry benchmark of 18–22% capacity factor is the next goal to target</a:t>
            </a:r>
            <a:endParaRPr lang="en-US" sz="1000" dirty="0"/>
          </a:p>
          <a:p>
            <a:pPr marL="342900" indent="-342900">
              <a:buSzPct val="100000"/>
              <a:buChar char="•"/>
            </a:pPr>
            <a:r>
              <a:rPr lang="en-US" sz="1000" dirty="0">
                <a:solidFill>
                  <a:srgbClr val="FFFFFF"/>
                </a:solidFill>
              </a:rPr>
              <a:t>Battery storage integration could lift effective utilization by 3–5%</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400" b="1" dirty="0">
                <a:solidFill>
                  <a:srgbClr val="F5C518"/>
                </a:solidFill>
                <a:latin typeface="Calibri" pitchFamily="34" charset="0"/>
                <a:ea typeface="Calibri" pitchFamily="34" charset="-122"/>
                <a:cs typeface="Calibri" pitchFamily="34" charset="-120"/>
              </a:rPr>
              <a:t>DASHBOARD OVERVIEW — Power BI Report</a:t>
            </a:r>
            <a:endParaRPr lang="en-US" sz="2400" dirty="0"/>
          </a:p>
        </p:txBody>
      </p:sp>
      <p:sp>
        <p:nvSpPr>
          <p:cNvPr id="4" name="Text 2"/>
          <p:cNvSpPr/>
          <p:nvPr/>
        </p:nvSpPr>
        <p:spPr>
          <a:xfrm>
            <a:off x="457200" y="576072"/>
            <a:ext cx="8229600" cy="219456"/>
          </a:xfrm>
          <a:prstGeom prst="rect">
            <a:avLst/>
          </a:prstGeom>
          <a:noFill/>
          <a:ln/>
        </p:spPr>
        <p:txBody>
          <a:bodyPr wrap="square" rtlCol="0" anchor="ctr"/>
          <a:lstStyle/>
          <a:p>
            <a:pPr marL="0" indent="0">
              <a:buNone/>
            </a:pPr>
            <a:r>
              <a:rPr lang="en-US" sz="1100" dirty="0">
                <a:solidFill>
                  <a:srgbClr val="E8E4DA"/>
                </a:solidFill>
              </a:rPr>
              <a:t>Layout, Structure &amp; Visual Components of the Solar Power Generation Dashboard</a:t>
            </a:r>
            <a:endParaRPr lang="en-US" sz="1100" dirty="0"/>
          </a:p>
        </p:txBody>
      </p:sp>
      <p:pic>
        <p:nvPicPr>
          <p:cNvPr id="5" name="Image 0" descr="/home/claude/dashboard.png"/>
          <p:cNvPicPr>
            <a:picLocks noChangeAspect="1"/>
          </p:cNvPicPr>
          <p:nvPr/>
        </p:nvPicPr>
        <p:blipFill>
          <a:blip r:embed="rId3"/>
          <a:stretch>
            <a:fillRect/>
          </a:stretch>
        </p:blipFill>
        <p:spPr>
          <a:xfrm>
            <a:off x="274320" y="868680"/>
            <a:ext cx="5943600" cy="4041648"/>
          </a:xfrm>
          <a:prstGeom prst="rect">
            <a:avLst/>
          </a:prstGeom>
        </p:spPr>
      </p:pic>
      <p:sp>
        <p:nvSpPr>
          <p:cNvPr id="8" name="Shape 5"/>
          <p:cNvSpPr/>
          <p:nvPr/>
        </p:nvSpPr>
        <p:spPr>
          <a:xfrm>
            <a:off x="6400800" y="868680"/>
            <a:ext cx="2514600" cy="4041648"/>
          </a:xfrm>
          <a:prstGeom prst="rect">
            <a:avLst/>
          </a:prstGeom>
          <a:solidFill>
            <a:srgbClr val="FFFFFF"/>
          </a:solidFill>
          <a:ln/>
          <a:effectLst>
            <a:outerShdw blurRad="101600" dist="38100" dir="8100000" algn="bl" rotWithShape="0">
              <a:srgbClr val="000000">
                <a:alpha val="12000"/>
              </a:srgbClr>
            </a:outerShdw>
          </a:effectLst>
        </p:spPr>
      </p:sp>
      <p:sp>
        <p:nvSpPr>
          <p:cNvPr id="9" name="Shape 6"/>
          <p:cNvSpPr/>
          <p:nvPr/>
        </p:nvSpPr>
        <p:spPr>
          <a:xfrm>
            <a:off x="6400800" y="868680"/>
            <a:ext cx="2514600" cy="384048"/>
          </a:xfrm>
          <a:prstGeom prst="rect">
            <a:avLst/>
          </a:prstGeom>
          <a:solidFill>
            <a:srgbClr val="E87C1E"/>
          </a:solidFill>
          <a:ln/>
        </p:spPr>
      </p:sp>
      <p:sp>
        <p:nvSpPr>
          <p:cNvPr id="10" name="Text 7"/>
          <p:cNvSpPr/>
          <p:nvPr/>
        </p:nvSpPr>
        <p:spPr>
          <a:xfrm>
            <a:off x="6492240" y="896112"/>
            <a:ext cx="2340864" cy="32918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Dashboard Sections</a:t>
            </a:r>
            <a:endParaRPr lang="en-US" sz="1200" dirty="0"/>
          </a:p>
        </p:txBody>
      </p:sp>
      <p:sp>
        <p:nvSpPr>
          <p:cNvPr id="11" name="Text 8"/>
          <p:cNvSpPr/>
          <p:nvPr/>
        </p:nvSpPr>
        <p:spPr>
          <a:xfrm>
            <a:off x="6492240" y="1380744"/>
            <a:ext cx="292608" cy="384048"/>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2" name="Text 9"/>
          <p:cNvSpPr/>
          <p:nvPr/>
        </p:nvSpPr>
        <p:spPr>
          <a:xfrm>
            <a:off x="6821424" y="1380744"/>
            <a:ext cx="2011680" cy="201168"/>
          </a:xfrm>
          <a:prstGeom prst="rect">
            <a:avLst/>
          </a:prstGeom>
          <a:noFill/>
          <a:ln/>
        </p:spPr>
        <p:txBody>
          <a:bodyPr wrap="square" rtlCol="0" anchor="ctr"/>
          <a:lstStyle/>
          <a:p>
            <a:pPr marL="0" indent="0">
              <a:buNone/>
            </a:pPr>
            <a:r>
              <a:rPr lang="en-US" sz="1000" b="1" dirty="0">
                <a:solidFill>
                  <a:srgbClr val="1A2744"/>
                </a:solidFill>
                <a:latin typeface="Calibri" pitchFamily="34" charset="0"/>
                <a:ea typeface="Calibri" pitchFamily="34" charset="-122"/>
                <a:cs typeface="Calibri" pitchFamily="34" charset="-120"/>
              </a:rPr>
              <a:t>KPI Cards (Top Row)</a:t>
            </a:r>
            <a:endParaRPr lang="en-US" sz="1000" dirty="0"/>
          </a:p>
        </p:txBody>
      </p:sp>
      <p:sp>
        <p:nvSpPr>
          <p:cNvPr id="13" name="Text 10"/>
          <p:cNvSpPr/>
          <p:nvPr/>
        </p:nvSpPr>
        <p:spPr>
          <a:xfrm>
            <a:off x="6821424" y="1572768"/>
            <a:ext cx="2011680" cy="320040"/>
          </a:xfrm>
          <a:prstGeom prst="rect">
            <a:avLst/>
          </a:prstGeom>
          <a:noFill/>
          <a:ln/>
        </p:spPr>
        <p:txBody>
          <a:bodyPr wrap="square" rtlCol="0" anchor="ctr"/>
          <a:lstStyle/>
          <a:p>
            <a:pPr marL="0" indent="0">
              <a:buNone/>
            </a:pPr>
            <a:r>
              <a:rPr lang="en-US" sz="900" dirty="0">
                <a:solidFill>
                  <a:srgbClr val="9B9484"/>
                </a:solidFill>
                <a:latin typeface="Calibri" pitchFamily="34" charset="0"/>
                <a:ea typeface="Calibri" pitchFamily="34" charset="-122"/>
                <a:cs typeface="Calibri" pitchFamily="34" charset="-120"/>
              </a:rPr>
              <a:t>4 metric cards showing Max Capacity, Max Power, Total Sum, Average Power</a:t>
            </a:r>
            <a:endParaRPr lang="en-US" sz="900" dirty="0"/>
          </a:p>
        </p:txBody>
      </p:sp>
      <p:sp>
        <p:nvSpPr>
          <p:cNvPr id="14" name="Text 11"/>
          <p:cNvSpPr/>
          <p:nvPr/>
        </p:nvSpPr>
        <p:spPr>
          <a:xfrm>
            <a:off x="6492240" y="1965960"/>
            <a:ext cx="292608" cy="384048"/>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2"/>
          <p:cNvSpPr/>
          <p:nvPr/>
        </p:nvSpPr>
        <p:spPr>
          <a:xfrm>
            <a:off x="6821424" y="1965960"/>
            <a:ext cx="2011680" cy="201168"/>
          </a:xfrm>
          <a:prstGeom prst="rect">
            <a:avLst/>
          </a:prstGeom>
          <a:noFill/>
          <a:ln/>
        </p:spPr>
        <p:txBody>
          <a:bodyPr wrap="square" rtlCol="0" anchor="ctr"/>
          <a:lstStyle/>
          <a:p>
            <a:pPr marL="0" indent="0">
              <a:buNone/>
            </a:pPr>
            <a:r>
              <a:rPr lang="en-US" sz="1000" b="1" dirty="0">
                <a:solidFill>
                  <a:srgbClr val="1A2744"/>
                </a:solidFill>
                <a:latin typeface="Calibri" pitchFamily="34" charset="0"/>
                <a:ea typeface="Calibri" pitchFamily="34" charset="-122"/>
                <a:cs typeface="Calibri" pitchFamily="34" charset="-120"/>
              </a:rPr>
              <a:t>Monthly Bar Chart</a:t>
            </a:r>
            <a:endParaRPr lang="en-US" sz="1000" dirty="0"/>
          </a:p>
        </p:txBody>
      </p:sp>
      <p:sp>
        <p:nvSpPr>
          <p:cNvPr id="16" name="Text 13"/>
          <p:cNvSpPr/>
          <p:nvPr/>
        </p:nvSpPr>
        <p:spPr>
          <a:xfrm>
            <a:off x="6821424" y="2157984"/>
            <a:ext cx="2011680" cy="320040"/>
          </a:xfrm>
          <a:prstGeom prst="rect">
            <a:avLst/>
          </a:prstGeom>
          <a:noFill/>
          <a:ln/>
        </p:spPr>
        <p:txBody>
          <a:bodyPr wrap="square" rtlCol="0" anchor="ctr"/>
          <a:lstStyle/>
          <a:p>
            <a:pPr marL="0" indent="0">
              <a:buNone/>
            </a:pPr>
            <a:r>
              <a:rPr lang="en-US" sz="900" dirty="0">
                <a:solidFill>
                  <a:srgbClr val="9B9484"/>
                </a:solidFill>
                <a:latin typeface="Calibri" pitchFamily="34" charset="0"/>
                <a:ea typeface="Calibri" pitchFamily="34" charset="-122"/>
                <a:cs typeface="Calibri" pitchFamily="34" charset="-120"/>
              </a:rPr>
              <a:t>Sum of power_mw by month — 12 bars showing seasonal trend</a:t>
            </a:r>
            <a:endParaRPr lang="en-US" sz="900" dirty="0"/>
          </a:p>
        </p:txBody>
      </p:sp>
      <p:sp>
        <p:nvSpPr>
          <p:cNvPr id="17" name="Text 14"/>
          <p:cNvSpPr/>
          <p:nvPr/>
        </p:nvSpPr>
        <p:spPr>
          <a:xfrm>
            <a:off x="6492240" y="2551176"/>
            <a:ext cx="292608" cy="384048"/>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8" name="Text 15"/>
          <p:cNvSpPr/>
          <p:nvPr/>
        </p:nvSpPr>
        <p:spPr>
          <a:xfrm>
            <a:off x="6821424" y="2551176"/>
            <a:ext cx="2011680" cy="201168"/>
          </a:xfrm>
          <a:prstGeom prst="rect">
            <a:avLst/>
          </a:prstGeom>
          <a:noFill/>
          <a:ln/>
        </p:spPr>
        <p:txBody>
          <a:bodyPr wrap="square" rtlCol="0" anchor="ctr"/>
          <a:lstStyle/>
          <a:p>
            <a:pPr marL="0" indent="0">
              <a:buNone/>
            </a:pPr>
            <a:r>
              <a:rPr lang="en-US" sz="1000" b="1" dirty="0">
                <a:solidFill>
                  <a:srgbClr val="1A2744"/>
                </a:solidFill>
                <a:latin typeface="Calibri" pitchFamily="34" charset="0"/>
                <a:ea typeface="Calibri" pitchFamily="34" charset="-122"/>
                <a:cs typeface="Calibri" pitchFamily="34" charset="-120"/>
              </a:rPr>
              <a:t>Hourly Line Chart</a:t>
            </a:r>
            <a:endParaRPr lang="en-US" sz="1000" dirty="0"/>
          </a:p>
        </p:txBody>
      </p:sp>
      <p:sp>
        <p:nvSpPr>
          <p:cNvPr id="19" name="Text 16"/>
          <p:cNvSpPr/>
          <p:nvPr/>
        </p:nvSpPr>
        <p:spPr>
          <a:xfrm>
            <a:off x="6821424" y="2743200"/>
            <a:ext cx="2011680" cy="320040"/>
          </a:xfrm>
          <a:prstGeom prst="rect">
            <a:avLst/>
          </a:prstGeom>
          <a:noFill/>
          <a:ln/>
        </p:spPr>
        <p:txBody>
          <a:bodyPr wrap="square" rtlCol="0" anchor="ctr"/>
          <a:lstStyle/>
          <a:p>
            <a:pPr marL="0" indent="0">
              <a:buNone/>
            </a:pPr>
            <a:r>
              <a:rPr lang="en-US" sz="900" dirty="0">
                <a:solidFill>
                  <a:srgbClr val="9B9484"/>
                </a:solidFill>
                <a:latin typeface="Calibri" pitchFamily="34" charset="0"/>
                <a:ea typeface="Calibri" pitchFamily="34" charset="-122"/>
                <a:cs typeface="Calibri" pitchFamily="34" charset="-120"/>
              </a:rPr>
              <a:t>Average power_mw by hour — bell curve from Hour 5 to Hour 20</a:t>
            </a:r>
            <a:endParaRPr lang="en-US" sz="900" dirty="0"/>
          </a:p>
        </p:txBody>
      </p:sp>
      <p:sp>
        <p:nvSpPr>
          <p:cNvPr id="20" name="Text 17"/>
          <p:cNvSpPr/>
          <p:nvPr/>
        </p:nvSpPr>
        <p:spPr>
          <a:xfrm>
            <a:off x="6492240" y="3136392"/>
            <a:ext cx="292608" cy="384048"/>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21" name="Text 18"/>
          <p:cNvSpPr/>
          <p:nvPr/>
        </p:nvSpPr>
        <p:spPr>
          <a:xfrm>
            <a:off x="6821424" y="3136392"/>
            <a:ext cx="2011680" cy="201168"/>
          </a:xfrm>
          <a:prstGeom prst="rect">
            <a:avLst/>
          </a:prstGeom>
          <a:noFill/>
          <a:ln/>
        </p:spPr>
        <p:txBody>
          <a:bodyPr wrap="square" rtlCol="0" anchor="ctr"/>
          <a:lstStyle/>
          <a:p>
            <a:pPr marL="0" indent="0">
              <a:buNone/>
            </a:pPr>
            <a:r>
              <a:rPr lang="en-US" sz="1000" b="1" dirty="0">
                <a:solidFill>
                  <a:srgbClr val="1A2744"/>
                </a:solidFill>
                <a:latin typeface="Calibri" pitchFamily="34" charset="0"/>
                <a:ea typeface="Calibri" pitchFamily="34" charset="-122"/>
                <a:cs typeface="Calibri" pitchFamily="34" charset="-120"/>
              </a:rPr>
              <a:t>Daily Trend Chart</a:t>
            </a:r>
            <a:endParaRPr lang="en-US" sz="1000" dirty="0"/>
          </a:p>
        </p:txBody>
      </p:sp>
      <p:sp>
        <p:nvSpPr>
          <p:cNvPr id="22" name="Text 19"/>
          <p:cNvSpPr/>
          <p:nvPr/>
        </p:nvSpPr>
        <p:spPr>
          <a:xfrm>
            <a:off x="6821424" y="3328416"/>
            <a:ext cx="2011680" cy="320040"/>
          </a:xfrm>
          <a:prstGeom prst="rect">
            <a:avLst/>
          </a:prstGeom>
          <a:noFill/>
          <a:ln/>
        </p:spPr>
        <p:txBody>
          <a:bodyPr wrap="square" rtlCol="0" anchor="ctr"/>
          <a:lstStyle/>
          <a:p>
            <a:pPr marL="0" indent="0">
              <a:buNone/>
            </a:pPr>
            <a:r>
              <a:rPr lang="en-US" sz="900" dirty="0">
                <a:solidFill>
                  <a:srgbClr val="9B9484"/>
                </a:solidFill>
                <a:latin typeface="Calibri" pitchFamily="34" charset="0"/>
                <a:ea typeface="Calibri" pitchFamily="34" charset="-122"/>
                <a:cs typeface="Calibri" pitchFamily="34" charset="-120"/>
              </a:rPr>
              <a:t>Sum of power_mw by day — fluctuation and Day 30 anomaly visible</a:t>
            </a:r>
            <a:endParaRPr lang="en-US" sz="900" dirty="0"/>
          </a:p>
        </p:txBody>
      </p:sp>
      <p:sp>
        <p:nvSpPr>
          <p:cNvPr id="23" name="Text 20"/>
          <p:cNvSpPr/>
          <p:nvPr/>
        </p:nvSpPr>
        <p:spPr>
          <a:xfrm>
            <a:off x="6492240" y="3721608"/>
            <a:ext cx="292608" cy="384048"/>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24" name="Text 21"/>
          <p:cNvSpPr/>
          <p:nvPr/>
        </p:nvSpPr>
        <p:spPr>
          <a:xfrm>
            <a:off x="6821424" y="3721608"/>
            <a:ext cx="2011680" cy="201168"/>
          </a:xfrm>
          <a:prstGeom prst="rect">
            <a:avLst/>
          </a:prstGeom>
          <a:noFill/>
          <a:ln/>
        </p:spPr>
        <p:txBody>
          <a:bodyPr wrap="square" rtlCol="0" anchor="ctr"/>
          <a:lstStyle/>
          <a:p>
            <a:pPr marL="0" indent="0">
              <a:buNone/>
            </a:pPr>
            <a:r>
              <a:rPr lang="en-US" sz="1000" b="1" dirty="0">
                <a:solidFill>
                  <a:srgbClr val="1A2744"/>
                </a:solidFill>
                <a:latin typeface="Calibri" pitchFamily="34" charset="0"/>
                <a:ea typeface="Calibri" pitchFamily="34" charset="-122"/>
                <a:cs typeface="Calibri" pitchFamily="34" charset="-120"/>
              </a:rPr>
              <a:t>Site Type Chart</a:t>
            </a:r>
            <a:endParaRPr lang="en-US" sz="1000" dirty="0"/>
          </a:p>
        </p:txBody>
      </p:sp>
      <p:sp>
        <p:nvSpPr>
          <p:cNvPr id="25" name="Text 22"/>
          <p:cNvSpPr/>
          <p:nvPr/>
        </p:nvSpPr>
        <p:spPr>
          <a:xfrm>
            <a:off x="6821424" y="3913632"/>
            <a:ext cx="2011680" cy="320040"/>
          </a:xfrm>
          <a:prstGeom prst="rect">
            <a:avLst/>
          </a:prstGeom>
          <a:noFill/>
          <a:ln/>
        </p:spPr>
        <p:txBody>
          <a:bodyPr wrap="square" rtlCol="0" anchor="ctr"/>
          <a:lstStyle/>
          <a:p>
            <a:pPr marL="0" indent="0">
              <a:buNone/>
            </a:pPr>
            <a:r>
              <a:rPr lang="en-US" sz="900" dirty="0">
                <a:solidFill>
                  <a:srgbClr val="9B9484"/>
                </a:solidFill>
                <a:latin typeface="Calibri" pitchFamily="34" charset="0"/>
                <a:ea typeface="Calibri" pitchFamily="34" charset="-122"/>
                <a:cs typeface="Calibri" pitchFamily="34" charset="-120"/>
              </a:rPr>
              <a:t>Comparative bar: UPV vs DPV capacity and output side-by-side</a:t>
            </a:r>
            <a:endParaRPr lang="en-US" sz="900" dirty="0"/>
          </a:p>
        </p:txBody>
      </p:sp>
      <p:sp>
        <p:nvSpPr>
          <p:cNvPr id="26" name="Text 23"/>
          <p:cNvSpPr/>
          <p:nvPr/>
        </p:nvSpPr>
        <p:spPr>
          <a:xfrm>
            <a:off x="6492240" y="4306824"/>
            <a:ext cx="292608" cy="384048"/>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27" name="Text 24"/>
          <p:cNvSpPr/>
          <p:nvPr/>
        </p:nvSpPr>
        <p:spPr>
          <a:xfrm>
            <a:off x="6821424" y="4306824"/>
            <a:ext cx="2011680" cy="201168"/>
          </a:xfrm>
          <a:prstGeom prst="rect">
            <a:avLst/>
          </a:prstGeom>
          <a:noFill/>
          <a:ln/>
        </p:spPr>
        <p:txBody>
          <a:bodyPr wrap="square" rtlCol="0" anchor="ctr"/>
          <a:lstStyle/>
          <a:p>
            <a:pPr marL="0" indent="0">
              <a:buNone/>
            </a:pPr>
            <a:r>
              <a:rPr lang="en-US" sz="1000" b="1" dirty="0">
                <a:solidFill>
                  <a:srgbClr val="1A2744"/>
                </a:solidFill>
                <a:latin typeface="Calibri" pitchFamily="34" charset="0"/>
                <a:ea typeface="Calibri" pitchFamily="34" charset="-122"/>
                <a:cs typeface="Calibri" pitchFamily="34" charset="-120"/>
              </a:rPr>
              <a:t>Filter Slicers</a:t>
            </a:r>
            <a:endParaRPr lang="en-US" sz="1000" dirty="0"/>
          </a:p>
        </p:txBody>
      </p:sp>
      <p:sp>
        <p:nvSpPr>
          <p:cNvPr id="28" name="Text 25"/>
          <p:cNvSpPr/>
          <p:nvPr/>
        </p:nvSpPr>
        <p:spPr>
          <a:xfrm>
            <a:off x="6821424" y="4498848"/>
            <a:ext cx="2011680" cy="320040"/>
          </a:xfrm>
          <a:prstGeom prst="rect">
            <a:avLst/>
          </a:prstGeom>
          <a:noFill/>
          <a:ln/>
        </p:spPr>
        <p:txBody>
          <a:bodyPr wrap="square" rtlCol="0" anchor="ctr"/>
          <a:lstStyle/>
          <a:p>
            <a:pPr marL="0" indent="0">
              <a:buNone/>
            </a:pPr>
            <a:r>
              <a:rPr lang="en-US" sz="900" dirty="0">
                <a:solidFill>
                  <a:srgbClr val="9B9484"/>
                </a:solidFill>
                <a:latin typeface="Calibri" pitchFamily="34" charset="0"/>
                <a:ea typeface="Calibri" pitchFamily="34" charset="-122"/>
                <a:cs typeface="Calibri" pitchFamily="34" charset="-120"/>
              </a:rPr>
              <a:t>Hour, Month, and Site Type slicers for interactive filtering</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744"/>
          </a:solidFill>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400" b="1" dirty="0">
                <a:solidFill>
                  <a:srgbClr val="F5C518"/>
                </a:solidFill>
                <a:latin typeface="Calibri" pitchFamily="34" charset="0"/>
                <a:ea typeface="Calibri" pitchFamily="34" charset="-122"/>
                <a:cs typeface="Calibri" pitchFamily="34" charset="-120"/>
              </a:rPr>
              <a:t>DASHBOARD — KPI Cards &amp; Metrics</a:t>
            </a:r>
            <a:endParaRPr lang="en-US" sz="2400" dirty="0"/>
          </a:p>
        </p:txBody>
      </p:sp>
      <p:sp>
        <p:nvSpPr>
          <p:cNvPr id="4" name="Text 2"/>
          <p:cNvSpPr/>
          <p:nvPr/>
        </p:nvSpPr>
        <p:spPr>
          <a:xfrm>
            <a:off x="457200" y="576072"/>
            <a:ext cx="8229600" cy="219456"/>
          </a:xfrm>
          <a:prstGeom prst="rect">
            <a:avLst/>
          </a:prstGeom>
          <a:noFill/>
          <a:ln/>
        </p:spPr>
        <p:txBody>
          <a:bodyPr wrap="square" rtlCol="0" anchor="ctr"/>
          <a:lstStyle/>
          <a:p>
            <a:pPr marL="0" indent="0">
              <a:buNone/>
            </a:pPr>
            <a:r>
              <a:rPr lang="en-US" sz="1100" dirty="0">
                <a:solidFill>
                  <a:srgbClr val="E8E4DA"/>
                </a:solidFill>
              </a:rPr>
              <a:t>Explanation of Executive Summary KPI Cards in the Dashboard</a:t>
            </a:r>
            <a:endParaRPr lang="en-US" sz="1100" dirty="0"/>
          </a:p>
        </p:txBody>
      </p:sp>
      <p:sp>
        <p:nvSpPr>
          <p:cNvPr id="5" name="Shape 3"/>
          <p:cNvSpPr/>
          <p:nvPr/>
        </p:nvSpPr>
        <p:spPr>
          <a:xfrm>
            <a:off x="274320" y="868680"/>
            <a:ext cx="1993392" cy="822960"/>
          </a:xfrm>
          <a:prstGeom prst="rect">
            <a:avLst/>
          </a:prstGeom>
          <a:solidFill>
            <a:srgbClr val="E87C1E"/>
          </a:solidFill>
          <a:ln/>
          <a:effectLst>
            <a:outerShdw blurRad="101600" dist="38100" dir="8100000" algn="bl" rotWithShape="0">
              <a:srgbClr val="000000">
                <a:alpha val="12000"/>
              </a:srgbClr>
            </a:outerShdw>
          </a:effectLst>
        </p:spPr>
      </p:sp>
      <p:sp>
        <p:nvSpPr>
          <p:cNvPr id="6" name="Text 4"/>
          <p:cNvSpPr/>
          <p:nvPr/>
        </p:nvSpPr>
        <p:spPr>
          <a:xfrm>
            <a:off x="274320" y="896112"/>
            <a:ext cx="1993392" cy="512064"/>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80 MW</a:t>
            </a:r>
            <a:endParaRPr lang="en-US" sz="2200" dirty="0"/>
          </a:p>
        </p:txBody>
      </p:sp>
      <p:sp>
        <p:nvSpPr>
          <p:cNvPr id="7" name="Text 5"/>
          <p:cNvSpPr/>
          <p:nvPr/>
        </p:nvSpPr>
        <p:spPr>
          <a:xfrm>
            <a:off x="274320" y="1408176"/>
            <a:ext cx="1993392" cy="25603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Max of capacity_mw</a:t>
            </a:r>
            <a:endParaRPr lang="en-US" sz="900" dirty="0"/>
          </a:p>
        </p:txBody>
      </p:sp>
      <p:sp>
        <p:nvSpPr>
          <p:cNvPr id="8" name="Shape 6"/>
          <p:cNvSpPr/>
          <p:nvPr/>
        </p:nvSpPr>
        <p:spPr>
          <a:xfrm>
            <a:off x="274320" y="1737360"/>
            <a:ext cx="1993392" cy="3154680"/>
          </a:xfrm>
          <a:prstGeom prst="rect">
            <a:avLst/>
          </a:prstGeom>
          <a:solidFill>
            <a:srgbClr val="FFFFFF"/>
          </a:solidFill>
          <a:ln/>
          <a:effectLst>
            <a:outerShdw blurRad="101600" dist="38100" dir="8100000" algn="bl" rotWithShape="0">
              <a:srgbClr val="000000">
                <a:alpha val="12000"/>
              </a:srgbClr>
            </a:outerShdw>
          </a:effectLst>
        </p:spPr>
      </p:sp>
      <p:sp>
        <p:nvSpPr>
          <p:cNvPr id="9" name="Shape 7"/>
          <p:cNvSpPr/>
          <p:nvPr/>
        </p:nvSpPr>
        <p:spPr>
          <a:xfrm>
            <a:off x="274320" y="1737360"/>
            <a:ext cx="1993392" cy="292608"/>
          </a:xfrm>
          <a:prstGeom prst="rect">
            <a:avLst/>
          </a:prstGeom>
          <a:solidFill>
            <a:srgbClr val="1A2744"/>
          </a:solidFill>
          <a:ln/>
        </p:spPr>
      </p:sp>
      <p:sp>
        <p:nvSpPr>
          <p:cNvPr id="10" name="Text 8"/>
          <p:cNvSpPr/>
          <p:nvPr/>
        </p:nvSpPr>
        <p:spPr>
          <a:xfrm>
            <a:off x="347472" y="1764792"/>
            <a:ext cx="1828800" cy="237744"/>
          </a:xfrm>
          <a:prstGeom prst="rect">
            <a:avLst/>
          </a:prstGeom>
          <a:noFill/>
          <a:ln/>
        </p:spPr>
        <p:txBody>
          <a:bodyPr wrap="square" rtlCol="0" anchor="ctr"/>
          <a:lstStyle/>
          <a:p>
            <a:pPr marL="0" indent="0">
              <a:buNone/>
            </a:pPr>
            <a:r>
              <a:rPr lang="en-US" sz="950" b="1" dirty="0">
                <a:solidFill>
                  <a:srgbClr val="F5C518"/>
                </a:solidFill>
                <a:latin typeface="Calibri" pitchFamily="34" charset="0"/>
                <a:ea typeface="Calibri" pitchFamily="34" charset="-122"/>
                <a:cs typeface="Calibri" pitchFamily="34" charset="-120"/>
              </a:rPr>
              <a:t>What it Shows</a:t>
            </a:r>
            <a:endParaRPr lang="en-US" sz="950" dirty="0"/>
          </a:p>
        </p:txBody>
      </p:sp>
      <p:sp>
        <p:nvSpPr>
          <p:cNvPr id="11" name="Text 9"/>
          <p:cNvSpPr/>
          <p:nvPr/>
        </p:nvSpPr>
        <p:spPr>
          <a:xfrm>
            <a:off x="347472" y="2066544"/>
            <a:ext cx="1828800" cy="1280160"/>
          </a:xfrm>
          <a:prstGeom prst="rect">
            <a:avLst/>
          </a:prstGeom>
          <a:noFill/>
          <a:ln/>
        </p:spPr>
        <p:txBody>
          <a:bodyPr wrap="square" rtlCol="0" anchor="ctr"/>
          <a:lstStyle/>
          <a:p>
            <a:pPr marL="0" indent="0">
              <a:buNone/>
            </a:pPr>
            <a:r>
              <a:rPr lang="en-US" sz="950" dirty="0">
                <a:solidFill>
                  <a:srgbClr val="1A2744"/>
                </a:solidFill>
                <a:latin typeface="Calibri" pitchFamily="34" charset="0"/>
                <a:ea typeface="Calibri" pitchFamily="34" charset="-122"/>
                <a:cs typeface="Calibri" pitchFamily="34" charset="-120"/>
              </a:rPr>
              <a:t>The highest rated installed capacity in the entire dataset. Represents the portfolio's maximum theoretical output ceiling.</a:t>
            </a:r>
            <a:endParaRPr lang="en-US" sz="950" dirty="0"/>
          </a:p>
        </p:txBody>
      </p:sp>
      <p:sp>
        <p:nvSpPr>
          <p:cNvPr id="12" name="Shape 10"/>
          <p:cNvSpPr/>
          <p:nvPr/>
        </p:nvSpPr>
        <p:spPr>
          <a:xfrm>
            <a:off x="274320" y="3364992"/>
            <a:ext cx="1993392" cy="256032"/>
          </a:xfrm>
          <a:prstGeom prst="rect">
            <a:avLst/>
          </a:prstGeom>
          <a:solidFill>
            <a:srgbClr val="243460"/>
          </a:solidFill>
          <a:ln/>
        </p:spPr>
      </p:sp>
      <p:sp>
        <p:nvSpPr>
          <p:cNvPr id="13" name="Text 11"/>
          <p:cNvSpPr/>
          <p:nvPr/>
        </p:nvSpPr>
        <p:spPr>
          <a:xfrm>
            <a:off x="347472" y="3392424"/>
            <a:ext cx="1828800" cy="201168"/>
          </a:xfrm>
          <a:prstGeom prst="rect">
            <a:avLst/>
          </a:prstGeom>
          <a:noFill/>
          <a:ln/>
        </p:spPr>
        <p:txBody>
          <a:bodyPr wrap="square" rtlCol="0" anchor="ctr"/>
          <a:lstStyle/>
          <a:p>
            <a:pPr marL="0" indent="0">
              <a:buNone/>
            </a:pPr>
            <a:r>
              <a:rPr lang="en-US" sz="900" b="1" dirty="0">
                <a:solidFill>
                  <a:srgbClr val="F5C518"/>
                </a:solidFill>
                <a:latin typeface="Calibri" pitchFamily="34" charset="0"/>
                <a:ea typeface="Calibri" pitchFamily="34" charset="-122"/>
                <a:cs typeface="Calibri" pitchFamily="34" charset="-120"/>
              </a:rPr>
              <a:t>How Calculated</a:t>
            </a:r>
            <a:endParaRPr lang="en-US" sz="900" dirty="0"/>
          </a:p>
        </p:txBody>
      </p:sp>
      <p:sp>
        <p:nvSpPr>
          <p:cNvPr id="14" name="Text 12"/>
          <p:cNvSpPr/>
          <p:nvPr/>
        </p:nvSpPr>
        <p:spPr>
          <a:xfrm>
            <a:off x="347472" y="3657600"/>
            <a:ext cx="1828800" cy="822960"/>
          </a:xfrm>
          <a:prstGeom prst="rect">
            <a:avLst/>
          </a:prstGeom>
          <a:noFill/>
          <a:ln/>
        </p:spPr>
        <p:txBody>
          <a:bodyPr wrap="square" rtlCol="0" anchor="ctr"/>
          <a:lstStyle/>
          <a:p>
            <a:pPr marL="0" indent="0">
              <a:buNone/>
            </a:pPr>
            <a:r>
              <a:rPr lang="en-US" sz="900" dirty="0">
                <a:solidFill>
                  <a:srgbClr val="1A2744"/>
                </a:solidFill>
                <a:latin typeface="Calibri" pitchFamily="34" charset="0"/>
                <a:ea typeface="Calibri" pitchFamily="34" charset="-122"/>
                <a:cs typeface="Calibri" pitchFamily="34" charset="-120"/>
              </a:rPr>
              <a:t>MAX(capacity_mw) DAX measure across all sites and records.</a:t>
            </a:r>
            <a:endParaRPr lang="en-US" sz="900" dirty="0"/>
          </a:p>
        </p:txBody>
      </p:sp>
      <p:sp>
        <p:nvSpPr>
          <p:cNvPr id="15" name="Shape 13"/>
          <p:cNvSpPr/>
          <p:nvPr/>
        </p:nvSpPr>
        <p:spPr>
          <a:xfrm>
            <a:off x="2450592" y="868680"/>
            <a:ext cx="1993392" cy="822960"/>
          </a:xfrm>
          <a:prstGeom prst="rect">
            <a:avLst/>
          </a:prstGeom>
          <a:solidFill>
            <a:srgbClr val="E87C1E"/>
          </a:solidFill>
          <a:ln/>
          <a:effectLst>
            <a:outerShdw blurRad="101600" dist="38100" dir="8100000" algn="bl" rotWithShape="0">
              <a:srgbClr val="000000">
                <a:alpha val="12000"/>
              </a:srgbClr>
            </a:outerShdw>
          </a:effectLst>
        </p:spPr>
      </p:sp>
      <p:sp>
        <p:nvSpPr>
          <p:cNvPr id="16" name="Text 14"/>
          <p:cNvSpPr/>
          <p:nvPr/>
        </p:nvSpPr>
        <p:spPr>
          <a:xfrm>
            <a:off x="2450592" y="896112"/>
            <a:ext cx="1993392" cy="512064"/>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74.60 MW</a:t>
            </a:r>
            <a:endParaRPr lang="en-US" sz="2200" dirty="0"/>
          </a:p>
        </p:txBody>
      </p:sp>
      <p:sp>
        <p:nvSpPr>
          <p:cNvPr id="17" name="Text 15"/>
          <p:cNvSpPr/>
          <p:nvPr/>
        </p:nvSpPr>
        <p:spPr>
          <a:xfrm>
            <a:off x="2450592" y="1408176"/>
            <a:ext cx="1993392" cy="25603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Max of power_mw</a:t>
            </a:r>
            <a:endParaRPr lang="en-US" sz="900" dirty="0"/>
          </a:p>
        </p:txBody>
      </p:sp>
      <p:sp>
        <p:nvSpPr>
          <p:cNvPr id="18" name="Shape 16"/>
          <p:cNvSpPr/>
          <p:nvPr/>
        </p:nvSpPr>
        <p:spPr>
          <a:xfrm>
            <a:off x="2450592" y="1737360"/>
            <a:ext cx="1993392" cy="3154680"/>
          </a:xfrm>
          <a:prstGeom prst="rect">
            <a:avLst/>
          </a:prstGeom>
          <a:solidFill>
            <a:srgbClr val="FFFFFF"/>
          </a:solidFill>
          <a:ln/>
          <a:effectLst>
            <a:outerShdw blurRad="101600" dist="38100" dir="8100000" algn="bl" rotWithShape="0">
              <a:srgbClr val="000000">
                <a:alpha val="12000"/>
              </a:srgbClr>
            </a:outerShdw>
          </a:effectLst>
        </p:spPr>
      </p:sp>
      <p:sp>
        <p:nvSpPr>
          <p:cNvPr id="19" name="Shape 17"/>
          <p:cNvSpPr/>
          <p:nvPr/>
        </p:nvSpPr>
        <p:spPr>
          <a:xfrm>
            <a:off x="2450592" y="1737360"/>
            <a:ext cx="1993392" cy="292608"/>
          </a:xfrm>
          <a:prstGeom prst="rect">
            <a:avLst/>
          </a:prstGeom>
          <a:solidFill>
            <a:srgbClr val="1A2744"/>
          </a:solidFill>
          <a:ln/>
        </p:spPr>
      </p:sp>
      <p:sp>
        <p:nvSpPr>
          <p:cNvPr id="20" name="Text 18"/>
          <p:cNvSpPr/>
          <p:nvPr/>
        </p:nvSpPr>
        <p:spPr>
          <a:xfrm>
            <a:off x="2523744" y="1764792"/>
            <a:ext cx="1828800" cy="237744"/>
          </a:xfrm>
          <a:prstGeom prst="rect">
            <a:avLst/>
          </a:prstGeom>
          <a:noFill/>
          <a:ln/>
        </p:spPr>
        <p:txBody>
          <a:bodyPr wrap="square" rtlCol="0" anchor="ctr"/>
          <a:lstStyle/>
          <a:p>
            <a:pPr marL="0" indent="0">
              <a:buNone/>
            </a:pPr>
            <a:r>
              <a:rPr lang="en-US" sz="950" b="1" dirty="0">
                <a:solidFill>
                  <a:srgbClr val="F5C518"/>
                </a:solidFill>
                <a:latin typeface="Calibri" pitchFamily="34" charset="0"/>
                <a:ea typeface="Calibri" pitchFamily="34" charset="-122"/>
                <a:cs typeface="Calibri" pitchFamily="34" charset="-120"/>
              </a:rPr>
              <a:t>What it Shows</a:t>
            </a:r>
            <a:endParaRPr lang="en-US" sz="950" dirty="0"/>
          </a:p>
        </p:txBody>
      </p:sp>
      <p:sp>
        <p:nvSpPr>
          <p:cNvPr id="21" name="Text 19"/>
          <p:cNvSpPr/>
          <p:nvPr/>
        </p:nvSpPr>
        <p:spPr>
          <a:xfrm>
            <a:off x="2523744" y="2066544"/>
            <a:ext cx="1828800" cy="1280160"/>
          </a:xfrm>
          <a:prstGeom prst="rect">
            <a:avLst/>
          </a:prstGeom>
          <a:noFill/>
          <a:ln/>
        </p:spPr>
        <p:txBody>
          <a:bodyPr wrap="square" rtlCol="0" anchor="ctr"/>
          <a:lstStyle/>
          <a:p>
            <a:pPr marL="0" indent="0">
              <a:buNone/>
            </a:pPr>
            <a:r>
              <a:rPr lang="en-US" sz="950" dirty="0">
                <a:solidFill>
                  <a:srgbClr val="1A2744"/>
                </a:solidFill>
                <a:latin typeface="Calibri" pitchFamily="34" charset="0"/>
                <a:ea typeface="Calibri" pitchFamily="34" charset="-122"/>
                <a:cs typeface="Calibri" pitchFamily="34" charset="-120"/>
              </a:rPr>
              <a:t>The single highest power generation reading recorded. Shows how close the system came to its full installed capacity.</a:t>
            </a:r>
            <a:endParaRPr lang="en-US" sz="950" dirty="0"/>
          </a:p>
        </p:txBody>
      </p:sp>
      <p:sp>
        <p:nvSpPr>
          <p:cNvPr id="22" name="Shape 20"/>
          <p:cNvSpPr/>
          <p:nvPr/>
        </p:nvSpPr>
        <p:spPr>
          <a:xfrm>
            <a:off x="2450592" y="3364992"/>
            <a:ext cx="1993392" cy="256032"/>
          </a:xfrm>
          <a:prstGeom prst="rect">
            <a:avLst/>
          </a:prstGeom>
          <a:solidFill>
            <a:srgbClr val="243460"/>
          </a:solidFill>
          <a:ln/>
        </p:spPr>
      </p:sp>
      <p:sp>
        <p:nvSpPr>
          <p:cNvPr id="23" name="Text 21"/>
          <p:cNvSpPr/>
          <p:nvPr/>
        </p:nvSpPr>
        <p:spPr>
          <a:xfrm>
            <a:off x="2523744" y="3392424"/>
            <a:ext cx="1828800" cy="201168"/>
          </a:xfrm>
          <a:prstGeom prst="rect">
            <a:avLst/>
          </a:prstGeom>
          <a:noFill/>
          <a:ln/>
        </p:spPr>
        <p:txBody>
          <a:bodyPr wrap="square" rtlCol="0" anchor="ctr"/>
          <a:lstStyle/>
          <a:p>
            <a:pPr marL="0" indent="0">
              <a:buNone/>
            </a:pPr>
            <a:r>
              <a:rPr lang="en-US" sz="900" b="1" dirty="0">
                <a:solidFill>
                  <a:srgbClr val="F5C518"/>
                </a:solidFill>
                <a:latin typeface="Calibri" pitchFamily="34" charset="0"/>
                <a:ea typeface="Calibri" pitchFamily="34" charset="-122"/>
                <a:cs typeface="Calibri" pitchFamily="34" charset="-120"/>
              </a:rPr>
              <a:t>How Calculated</a:t>
            </a:r>
            <a:endParaRPr lang="en-US" sz="900" dirty="0"/>
          </a:p>
        </p:txBody>
      </p:sp>
      <p:sp>
        <p:nvSpPr>
          <p:cNvPr id="24" name="Text 22"/>
          <p:cNvSpPr/>
          <p:nvPr/>
        </p:nvSpPr>
        <p:spPr>
          <a:xfrm>
            <a:off x="2523744" y="3657600"/>
            <a:ext cx="1828800" cy="822960"/>
          </a:xfrm>
          <a:prstGeom prst="rect">
            <a:avLst/>
          </a:prstGeom>
          <a:noFill/>
          <a:ln/>
        </p:spPr>
        <p:txBody>
          <a:bodyPr wrap="square" rtlCol="0" anchor="ctr"/>
          <a:lstStyle/>
          <a:p>
            <a:pPr marL="0" indent="0">
              <a:buNone/>
            </a:pPr>
            <a:r>
              <a:rPr lang="en-US" sz="900" dirty="0">
                <a:solidFill>
                  <a:srgbClr val="1A2744"/>
                </a:solidFill>
                <a:latin typeface="Calibri" pitchFamily="34" charset="0"/>
                <a:ea typeface="Calibri" pitchFamily="34" charset="-122"/>
                <a:cs typeface="Calibri" pitchFamily="34" charset="-120"/>
              </a:rPr>
              <a:t>MAX(power_mw) DAX measure — filters to highest generating interval.</a:t>
            </a:r>
            <a:endParaRPr lang="en-US" sz="900" dirty="0"/>
          </a:p>
        </p:txBody>
      </p:sp>
      <p:sp>
        <p:nvSpPr>
          <p:cNvPr id="25" name="Shape 23"/>
          <p:cNvSpPr/>
          <p:nvPr/>
        </p:nvSpPr>
        <p:spPr>
          <a:xfrm>
            <a:off x="4626864" y="868680"/>
            <a:ext cx="1993392" cy="822960"/>
          </a:xfrm>
          <a:prstGeom prst="rect">
            <a:avLst/>
          </a:prstGeom>
          <a:solidFill>
            <a:srgbClr val="E87C1E"/>
          </a:solidFill>
          <a:ln/>
          <a:effectLst>
            <a:outerShdw blurRad="101600" dist="38100" dir="8100000" algn="bl" rotWithShape="0">
              <a:srgbClr val="000000">
                <a:alpha val="12000"/>
              </a:srgbClr>
            </a:outerShdw>
          </a:effectLst>
        </p:spPr>
      </p:sp>
      <p:sp>
        <p:nvSpPr>
          <p:cNvPr id="26" name="Text 24"/>
          <p:cNvSpPr/>
          <p:nvPr/>
        </p:nvSpPr>
        <p:spPr>
          <a:xfrm>
            <a:off x="4626864" y="896112"/>
            <a:ext cx="1993392" cy="512064"/>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7.69M MW</a:t>
            </a:r>
            <a:endParaRPr lang="en-US" sz="2200" dirty="0"/>
          </a:p>
        </p:txBody>
      </p:sp>
      <p:sp>
        <p:nvSpPr>
          <p:cNvPr id="27" name="Text 25"/>
          <p:cNvSpPr/>
          <p:nvPr/>
        </p:nvSpPr>
        <p:spPr>
          <a:xfrm>
            <a:off x="4626864" y="1408176"/>
            <a:ext cx="1993392" cy="25603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Sum of power_mw</a:t>
            </a:r>
            <a:endParaRPr lang="en-US" sz="900" dirty="0"/>
          </a:p>
        </p:txBody>
      </p:sp>
      <p:sp>
        <p:nvSpPr>
          <p:cNvPr id="28" name="Shape 26"/>
          <p:cNvSpPr/>
          <p:nvPr/>
        </p:nvSpPr>
        <p:spPr>
          <a:xfrm>
            <a:off x="4626864" y="1737360"/>
            <a:ext cx="1993392" cy="3154680"/>
          </a:xfrm>
          <a:prstGeom prst="rect">
            <a:avLst/>
          </a:prstGeom>
          <a:solidFill>
            <a:srgbClr val="FFFFFF"/>
          </a:solidFill>
          <a:ln/>
          <a:effectLst>
            <a:outerShdw blurRad="101600" dist="38100" dir="8100000" algn="bl" rotWithShape="0">
              <a:srgbClr val="000000">
                <a:alpha val="12000"/>
              </a:srgbClr>
            </a:outerShdw>
          </a:effectLst>
        </p:spPr>
      </p:sp>
      <p:sp>
        <p:nvSpPr>
          <p:cNvPr id="29" name="Shape 27"/>
          <p:cNvSpPr/>
          <p:nvPr/>
        </p:nvSpPr>
        <p:spPr>
          <a:xfrm>
            <a:off x="4626864" y="1737360"/>
            <a:ext cx="1993392" cy="292608"/>
          </a:xfrm>
          <a:prstGeom prst="rect">
            <a:avLst/>
          </a:prstGeom>
          <a:solidFill>
            <a:srgbClr val="1A2744"/>
          </a:solidFill>
          <a:ln/>
        </p:spPr>
      </p:sp>
      <p:sp>
        <p:nvSpPr>
          <p:cNvPr id="30" name="Text 28"/>
          <p:cNvSpPr/>
          <p:nvPr/>
        </p:nvSpPr>
        <p:spPr>
          <a:xfrm>
            <a:off x="4700016" y="1764792"/>
            <a:ext cx="1828800" cy="237744"/>
          </a:xfrm>
          <a:prstGeom prst="rect">
            <a:avLst/>
          </a:prstGeom>
          <a:noFill/>
          <a:ln/>
        </p:spPr>
        <p:txBody>
          <a:bodyPr wrap="square" rtlCol="0" anchor="ctr"/>
          <a:lstStyle/>
          <a:p>
            <a:pPr marL="0" indent="0">
              <a:buNone/>
            </a:pPr>
            <a:r>
              <a:rPr lang="en-US" sz="950" b="1" dirty="0">
                <a:solidFill>
                  <a:srgbClr val="F5C518"/>
                </a:solidFill>
                <a:latin typeface="Calibri" pitchFamily="34" charset="0"/>
                <a:ea typeface="Calibri" pitchFamily="34" charset="-122"/>
                <a:cs typeface="Calibri" pitchFamily="34" charset="-120"/>
              </a:rPr>
              <a:t>What it Shows</a:t>
            </a:r>
            <a:endParaRPr lang="en-US" sz="950" dirty="0"/>
          </a:p>
        </p:txBody>
      </p:sp>
      <p:sp>
        <p:nvSpPr>
          <p:cNvPr id="31" name="Text 29"/>
          <p:cNvSpPr/>
          <p:nvPr/>
        </p:nvSpPr>
        <p:spPr>
          <a:xfrm>
            <a:off x="4700016" y="2066544"/>
            <a:ext cx="1828800" cy="1280160"/>
          </a:xfrm>
          <a:prstGeom prst="rect">
            <a:avLst/>
          </a:prstGeom>
          <a:noFill/>
          <a:ln/>
        </p:spPr>
        <p:txBody>
          <a:bodyPr wrap="square" rtlCol="0" anchor="ctr"/>
          <a:lstStyle/>
          <a:p>
            <a:pPr marL="0" indent="0">
              <a:buNone/>
            </a:pPr>
            <a:r>
              <a:rPr lang="en-US" sz="950" dirty="0">
                <a:solidFill>
                  <a:srgbClr val="1A2744"/>
                </a:solidFill>
                <a:latin typeface="Calibri" pitchFamily="34" charset="0"/>
                <a:ea typeface="Calibri" pitchFamily="34" charset="-122"/>
                <a:cs typeface="Calibri" pitchFamily="34" charset="-120"/>
              </a:rPr>
              <a:t>Total cumulative energy generated across all records, sites, months, and hours. The primary headline metric for this portfolio.</a:t>
            </a:r>
            <a:endParaRPr lang="en-US" sz="950" dirty="0"/>
          </a:p>
        </p:txBody>
      </p:sp>
      <p:sp>
        <p:nvSpPr>
          <p:cNvPr id="32" name="Shape 30"/>
          <p:cNvSpPr/>
          <p:nvPr/>
        </p:nvSpPr>
        <p:spPr>
          <a:xfrm>
            <a:off x="4626864" y="3364992"/>
            <a:ext cx="1993392" cy="256032"/>
          </a:xfrm>
          <a:prstGeom prst="rect">
            <a:avLst/>
          </a:prstGeom>
          <a:solidFill>
            <a:srgbClr val="243460"/>
          </a:solidFill>
          <a:ln/>
        </p:spPr>
      </p:sp>
      <p:sp>
        <p:nvSpPr>
          <p:cNvPr id="33" name="Text 31"/>
          <p:cNvSpPr/>
          <p:nvPr/>
        </p:nvSpPr>
        <p:spPr>
          <a:xfrm>
            <a:off x="4700016" y="3392424"/>
            <a:ext cx="1828800" cy="201168"/>
          </a:xfrm>
          <a:prstGeom prst="rect">
            <a:avLst/>
          </a:prstGeom>
          <a:noFill/>
          <a:ln/>
        </p:spPr>
        <p:txBody>
          <a:bodyPr wrap="square" rtlCol="0" anchor="ctr"/>
          <a:lstStyle/>
          <a:p>
            <a:pPr marL="0" indent="0">
              <a:buNone/>
            </a:pPr>
            <a:r>
              <a:rPr lang="en-US" sz="900" b="1" dirty="0">
                <a:solidFill>
                  <a:srgbClr val="F5C518"/>
                </a:solidFill>
                <a:latin typeface="Calibri" pitchFamily="34" charset="0"/>
                <a:ea typeface="Calibri" pitchFamily="34" charset="-122"/>
                <a:cs typeface="Calibri" pitchFamily="34" charset="-120"/>
              </a:rPr>
              <a:t>How Calculated</a:t>
            </a:r>
            <a:endParaRPr lang="en-US" sz="900" dirty="0"/>
          </a:p>
        </p:txBody>
      </p:sp>
      <p:sp>
        <p:nvSpPr>
          <p:cNvPr id="34" name="Text 32"/>
          <p:cNvSpPr/>
          <p:nvPr/>
        </p:nvSpPr>
        <p:spPr>
          <a:xfrm>
            <a:off x="4700016" y="3657600"/>
            <a:ext cx="1828800" cy="822960"/>
          </a:xfrm>
          <a:prstGeom prst="rect">
            <a:avLst/>
          </a:prstGeom>
          <a:noFill/>
          <a:ln/>
        </p:spPr>
        <p:txBody>
          <a:bodyPr wrap="square" rtlCol="0" anchor="ctr"/>
          <a:lstStyle/>
          <a:p>
            <a:pPr marL="0" indent="0">
              <a:buNone/>
            </a:pPr>
            <a:r>
              <a:rPr lang="en-US" sz="900" dirty="0">
                <a:solidFill>
                  <a:srgbClr val="1A2744"/>
                </a:solidFill>
                <a:latin typeface="Calibri" pitchFamily="34" charset="0"/>
                <a:ea typeface="Calibri" pitchFamily="34" charset="-122"/>
                <a:cs typeface="Calibri" pitchFamily="34" charset="-120"/>
              </a:rPr>
              <a:t>SUM(power_mw) — aggregated across all rows in the dataset.</a:t>
            </a:r>
            <a:endParaRPr lang="en-US" sz="900" dirty="0"/>
          </a:p>
        </p:txBody>
      </p:sp>
      <p:sp>
        <p:nvSpPr>
          <p:cNvPr id="35" name="Shape 33"/>
          <p:cNvSpPr/>
          <p:nvPr/>
        </p:nvSpPr>
        <p:spPr>
          <a:xfrm>
            <a:off x="6803136" y="868680"/>
            <a:ext cx="1993392" cy="822960"/>
          </a:xfrm>
          <a:prstGeom prst="rect">
            <a:avLst/>
          </a:prstGeom>
          <a:solidFill>
            <a:srgbClr val="E87C1E"/>
          </a:solidFill>
          <a:ln/>
          <a:effectLst>
            <a:outerShdw blurRad="101600" dist="38100" dir="8100000" algn="bl" rotWithShape="0">
              <a:srgbClr val="000000">
                <a:alpha val="12000"/>
              </a:srgbClr>
            </a:outerShdw>
          </a:effectLst>
        </p:spPr>
      </p:sp>
      <p:sp>
        <p:nvSpPr>
          <p:cNvPr id="36" name="Text 34"/>
          <p:cNvSpPr/>
          <p:nvPr/>
        </p:nvSpPr>
        <p:spPr>
          <a:xfrm>
            <a:off x="6803136" y="896112"/>
            <a:ext cx="1993392" cy="512064"/>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7.33 MW</a:t>
            </a:r>
            <a:endParaRPr lang="en-US" sz="2200" dirty="0"/>
          </a:p>
        </p:txBody>
      </p:sp>
      <p:sp>
        <p:nvSpPr>
          <p:cNvPr id="37" name="Text 35"/>
          <p:cNvSpPr/>
          <p:nvPr/>
        </p:nvSpPr>
        <p:spPr>
          <a:xfrm>
            <a:off x="6803136" y="1408176"/>
            <a:ext cx="1993392" cy="25603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Average of power_mw</a:t>
            </a:r>
            <a:endParaRPr lang="en-US" sz="900" dirty="0"/>
          </a:p>
        </p:txBody>
      </p:sp>
      <p:sp>
        <p:nvSpPr>
          <p:cNvPr id="38" name="Shape 36"/>
          <p:cNvSpPr/>
          <p:nvPr/>
        </p:nvSpPr>
        <p:spPr>
          <a:xfrm>
            <a:off x="6803136" y="1737360"/>
            <a:ext cx="1993392" cy="3154680"/>
          </a:xfrm>
          <a:prstGeom prst="rect">
            <a:avLst/>
          </a:prstGeom>
          <a:solidFill>
            <a:srgbClr val="FFFFFF"/>
          </a:solidFill>
          <a:ln/>
          <a:effectLst>
            <a:outerShdw blurRad="101600" dist="38100" dir="8100000" algn="bl" rotWithShape="0">
              <a:srgbClr val="000000">
                <a:alpha val="12000"/>
              </a:srgbClr>
            </a:outerShdw>
          </a:effectLst>
        </p:spPr>
      </p:sp>
      <p:sp>
        <p:nvSpPr>
          <p:cNvPr id="39" name="Shape 37"/>
          <p:cNvSpPr/>
          <p:nvPr/>
        </p:nvSpPr>
        <p:spPr>
          <a:xfrm>
            <a:off x="6803136" y="1737360"/>
            <a:ext cx="1993392" cy="292608"/>
          </a:xfrm>
          <a:prstGeom prst="rect">
            <a:avLst/>
          </a:prstGeom>
          <a:solidFill>
            <a:srgbClr val="1A2744"/>
          </a:solidFill>
          <a:ln/>
        </p:spPr>
      </p:sp>
      <p:sp>
        <p:nvSpPr>
          <p:cNvPr id="40" name="Text 38"/>
          <p:cNvSpPr/>
          <p:nvPr/>
        </p:nvSpPr>
        <p:spPr>
          <a:xfrm>
            <a:off x="6876288" y="1764792"/>
            <a:ext cx="1828800" cy="237744"/>
          </a:xfrm>
          <a:prstGeom prst="rect">
            <a:avLst/>
          </a:prstGeom>
          <a:noFill/>
          <a:ln/>
        </p:spPr>
        <p:txBody>
          <a:bodyPr wrap="square" rtlCol="0" anchor="ctr"/>
          <a:lstStyle/>
          <a:p>
            <a:pPr marL="0" indent="0">
              <a:buNone/>
            </a:pPr>
            <a:r>
              <a:rPr lang="en-US" sz="950" b="1" dirty="0">
                <a:solidFill>
                  <a:srgbClr val="F5C518"/>
                </a:solidFill>
                <a:latin typeface="Calibri" pitchFamily="34" charset="0"/>
                <a:ea typeface="Calibri" pitchFamily="34" charset="-122"/>
                <a:cs typeface="Calibri" pitchFamily="34" charset="-120"/>
              </a:rPr>
              <a:t>What it Shows</a:t>
            </a:r>
            <a:endParaRPr lang="en-US" sz="950" dirty="0"/>
          </a:p>
        </p:txBody>
      </p:sp>
      <p:sp>
        <p:nvSpPr>
          <p:cNvPr id="41" name="Text 39"/>
          <p:cNvSpPr/>
          <p:nvPr/>
        </p:nvSpPr>
        <p:spPr>
          <a:xfrm>
            <a:off x="6876288" y="2066544"/>
            <a:ext cx="1828800" cy="1280160"/>
          </a:xfrm>
          <a:prstGeom prst="rect">
            <a:avLst/>
          </a:prstGeom>
          <a:noFill/>
          <a:ln/>
        </p:spPr>
        <p:txBody>
          <a:bodyPr wrap="square" rtlCol="0" anchor="ctr"/>
          <a:lstStyle/>
          <a:p>
            <a:pPr marL="0" indent="0">
              <a:buNone/>
            </a:pPr>
            <a:r>
              <a:rPr lang="en-US" sz="950" dirty="0">
                <a:solidFill>
                  <a:srgbClr val="1A2744"/>
                </a:solidFill>
                <a:latin typeface="Calibri" pitchFamily="34" charset="0"/>
                <a:ea typeface="Calibri" pitchFamily="34" charset="-122"/>
                <a:cs typeface="Calibri" pitchFamily="34" charset="-120"/>
              </a:rPr>
              <a:t>Mean power output per record. Contextualizes typical generation levels for day-to-day operational benchmarking.</a:t>
            </a:r>
            <a:endParaRPr lang="en-US" sz="950" dirty="0"/>
          </a:p>
        </p:txBody>
      </p:sp>
      <p:sp>
        <p:nvSpPr>
          <p:cNvPr id="42" name="Shape 40"/>
          <p:cNvSpPr/>
          <p:nvPr/>
        </p:nvSpPr>
        <p:spPr>
          <a:xfrm>
            <a:off x="6803136" y="3364992"/>
            <a:ext cx="1993392" cy="256032"/>
          </a:xfrm>
          <a:prstGeom prst="rect">
            <a:avLst/>
          </a:prstGeom>
          <a:solidFill>
            <a:srgbClr val="243460"/>
          </a:solidFill>
          <a:ln/>
        </p:spPr>
      </p:sp>
      <p:sp>
        <p:nvSpPr>
          <p:cNvPr id="43" name="Text 41"/>
          <p:cNvSpPr/>
          <p:nvPr/>
        </p:nvSpPr>
        <p:spPr>
          <a:xfrm>
            <a:off x="6876288" y="3392424"/>
            <a:ext cx="1828800" cy="201168"/>
          </a:xfrm>
          <a:prstGeom prst="rect">
            <a:avLst/>
          </a:prstGeom>
          <a:noFill/>
          <a:ln/>
        </p:spPr>
        <p:txBody>
          <a:bodyPr wrap="square" rtlCol="0" anchor="ctr"/>
          <a:lstStyle/>
          <a:p>
            <a:pPr marL="0" indent="0">
              <a:buNone/>
            </a:pPr>
            <a:r>
              <a:rPr lang="en-US" sz="900" b="1" dirty="0">
                <a:solidFill>
                  <a:srgbClr val="F5C518"/>
                </a:solidFill>
                <a:latin typeface="Calibri" pitchFamily="34" charset="0"/>
                <a:ea typeface="Calibri" pitchFamily="34" charset="-122"/>
                <a:cs typeface="Calibri" pitchFamily="34" charset="-120"/>
              </a:rPr>
              <a:t>How Calculated</a:t>
            </a:r>
            <a:endParaRPr lang="en-US" sz="900" dirty="0"/>
          </a:p>
        </p:txBody>
      </p:sp>
      <p:sp>
        <p:nvSpPr>
          <p:cNvPr id="44" name="Text 42"/>
          <p:cNvSpPr/>
          <p:nvPr/>
        </p:nvSpPr>
        <p:spPr>
          <a:xfrm>
            <a:off x="6876288" y="3657600"/>
            <a:ext cx="1828800" cy="822960"/>
          </a:xfrm>
          <a:prstGeom prst="rect">
            <a:avLst/>
          </a:prstGeom>
          <a:noFill/>
          <a:ln/>
        </p:spPr>
        <p:txBody>
          <a:bodyPr wrap="square" rtlCol="0" anchor="ctr"/>
          <a:lstStyle/>
          <a:p>
            <a:pPr marL="0" indent="0">
              <a:buNone/>
            </a:pPr>
            <a:r>
              <a:rPr lang="en-US" sz="900" dirty="0">
                <a:solidFill>
                  <a:srgbClr val="1A2744"/>
                </a:solidFill>
                <a:latin typeface="Calibri" pitchFamily="34" charset="0"/>
                <a:ea typeface="Calibri" pitchFamily="34" charset="-122"/>
                <a:cs typeface="Calibri" pitchFamily="34" charset="-120"/>
              </a:rPr>
              <a:t>AVERAGE(power_mw) — useful for comparing performance to site targets.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E87C1E"/>
          </a:solidFill>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KEY INSIGHTS</a:t>
            </a:r>
            <a:endParaRPr lang="en-US" sz="30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F8F6F0"/>
                </a:solidFill>
              </a:rPr>
              <a:t>Top 8 Findings from the Solar Power Generation Analysis</a:t>
            </a:r>
            <a:endParaRPr lang="en-US" sz="1300" dirty="0"/>
          </a:p>
        </p:txBody>
      </p:sp>
      <p:sp>
        <p:nvSpPr>
          <p:cNvPr id="5" name="Shape 3"/>
          <p:cNvSpPr/>
          <p:nvPr/>
        </p:nvSpPr>
        <p:spPr>
          <a:xfrm>
            <a:off x="274320" y="1051560"/>
            <a:ext cx="4206240" cy="877824"/>
          </a:xfrm>
          <a:prstGeom prst="rect">
            <a:avLst/>
          </a:prstGeom>
          <a:solidFill>
            <a:srgbClr val="243460"/>
          </a:solidFill>
          <a:ln/>
          <a:effectLst>
            <a:outerShdw blurRad="101600" dist="38100" dir="8100000" algn="bl" rotWithShape="0">
              <a:srgbClr val="000000">
                <a:alpha val="12000"/>
              </a:srgbClr>
            </a:outerShdw>
          </a:effectLst>
        </p:spPr>
      </p:sp>
      <p:sp>
        <p:nvSpPr>
          <p:cNvPr id="6" name="Shape 4"/>
          <p:cNvSpPr/>
          <p:nvPr/>
        </p:nvSpPr>
        <p:spPr>
          <a:xfrm>
            <a:off x="274320" y="1051560"/>
            <a:ext cx="438912" cy="877824"/>
          </a:xfrm>
          <a:prstGeom prst="rect">
            <a:avLst/>
          </a:prstGeom>
          <a:solidFill>
            <a:srgbClr val="E87C1E"/>
          </a:solidFill>
          <a:ln/>
        </p:spPr>
      </p:sp>
      <p:sp>
        <p:nvSpPr>
          <p:cNvPr id="7" name="Text 5"/>
          <p:cNvSpPr/>
          <p:nvPr/>
        </p:nvSpPr>
        <p:spPr>
          <a:xfrm>
            <a:off x="274320" y="1051560"/>
            <a:ext cx="438912" cy="8778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804672" y="1106424"/>
            <a:ext cx="3566160" cy="237744"/>
          </a:xfrm>
          <a:prstGeom prst="rect">
            <a:avLst/>
          </a:prstGeom>
          <a:noFill/>
          <a:ln/>
        </p:spPr>
        <p:txBody>
          <a:bodyPr wrap="square" rtlCol="0" anchor="ctr"/>
          <a:lstStyle/>
          <a:p>
            <a:pPr marL="0" indent="0">
              <a:buNone/>
            </a:pPr>
            <a:r>
              <a:rPr lang="en-US" sz="1100" b="1" dirty="0">
                <a:solidFill>
                  <a:srgbClr val="F5C518"/>
                </a:solidFill>
                <a:latin typeface="Calibri" pitchFamily="34" charset="0"/>
                <a:ea typeface="Calibri" pitchFamily="34" charset="-122"/>
                <a:cs typeface="Calibri" pitchFamily="34" charset="-120"/>
              </a:rPr>
              <a:t>Strong Seasonal Dependency</a:t>
            </a:r>
            <a:endParaRPr lang="en-US" sz="1100" dirty="0"/>
          </a:p>
        </p:txBody>
      </p:sp>
      <p:sp>
        <p:nvSpPr>
          <p:cNvPr id="9" name="Text 7"/>
          <p:cNvSpPr/>
          <p:nvPr/>
        </p:nvSpPr>
        <p:spPr>
          <a:xfrm>
            <a:off x="804672" y="1353312"/>
            <a:ext cx="3566160" cy="512064"/>
          </a:xfrm>
          <a:prstGeom prst="rect">
            <a:avLst/>
          </a:prstGeom>
          <a:noFill/>
          <a:ln/>
        </p:spPr>
        <p:txBody>
          <a:bodyPr wrap="square" rtlCol="0" anchor="ctr"/>
          <a:lstStyle/>
          <a:p>
            <a:pPr marL="0" indent="0">
              <a:buNone/>
            </a:pPr>
            <a:r>
              <a:rPr lang="en-US" sz="1000" dirty="0">
                <a:solidFill>
                  <a:srgbClr val="E8E4DA"/>
                </a:solidFill>
                <a:latin typeface="Calibri" pitchFamily="34" charset="0"/>
                <a:ea typeface="Calibri" pitchFamily="34" charset="-122"/>
                <a:cs typeface="Calibri" pitchFamily="34" charset="-120"/>
              </a:rPr>
              <a:t>Generation rises 60% from December (0.50M MW) to May (0.80M MW), driven by longer daylight hours and higher solar irradiance.</a:t>
            </a:r>
            <a:endParaRPr lang="en-US" sz="1000" dirty="0"/>
          </a:p>
        </p:txBody>
      </p:sp>
      <p:sp>
        <p:nvSpPr>
          <p:cNvPr id="10" name="Shape 8"/>
          <p:cNvSpPr/>
          <p:nvPr/>
        </p:nvSpPr>
        <p:spPr>
          <a:xfrm>
            <a:off x="4736592" y="1051560"/>
            <a:ext cx="4206240" cy="877824"/>
          </a:xfrm>
          <a:prstGeom prst="rect">
            <a:avLst/>
          </a:prstGeom>
          <a:solidFill>
            <a:srgbClr val="243460"/>
          </a:solidFill>
          <a:ln/>
          <a:effectLst>
            <a:outerShdw blurRad="101600" dist="38100" dir="8100000" algn="bl" rotWithShape="0">
              <a:srgbClr val="000000">
                <a:alpha val="12000"/>
              </a:srgbClr>
            </a:outerShdw>
          </a:effectLst>
        </p:spPr>
      </p:sp>
      <p:sp>
        <p:nvSpPr>
          <p:cNvPr id="11" name="Shape 9"/>
          <p:cNvSpPr/>
          <p:nvPr/>
        </p:nvSpPr>
        <p:spPr>
          <a:xfrm>
            <a:off x="4736592" y="1051560"/>
            <a:ext cx="438912" cy="877824"/>
          </a:xfrm>
          <a:prstGeom prst="rect">
            <a:avLst/>
          </a:prstGeom>
          <a:solidFill>
            <a:srgbClr val="E87C1E"/>
          </a:solidFill>
          <a:ln/>
        </p:spPr>
      </p:sp>
      <p:sp>
        <p:nvSpPr>
          <p:cNvPr id="12" name="Text 10"/>
          <p:cNvSpPr/>
          <p:nvPr/>
        </p:nvSpPr>
        <p:spPr>
          <a:xfrm>
            <a:off x="4736592" y="1051560"/>
            <a:ext cx="438912" cy="8778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5266944" y="1106424"/>
            <a:ext cx="3566160" cy="237744"/>
          </a:xfrm>
          <a:prstGeom prst="rect">
            <a:avLst/>
          </a:prstGeom>
          <a:noFill/>
          <a:ln/>
        </p:spPr>
        <p:txBody>
          <a:bodyPr wrap="square" rtlCol="0" anchor="ctr"/>
          <a:lstStyle/>
          <a:p>
            <a:pPr marL="0" indent="0">
              <a:buNone/>
            </a:pPr>
            <a:r>
              <a:rPr lang="en-US" sz="1100" b="1" dirty="0">
                <a:solidFill>
                  <a:srgbClr val="F5C518"/>
                </a:solidFill>
                <a:latin typeface="Calibri" pitchFamily="34" charset="0"/>
                <a:ea typeface="Calibri" pitchFamily="34" charset="-122"/>
                <a:cs typeface="Calibri" pitchFamily="34" charset="-120"/>
              </a:rPr>
              <a:t>Clear Intraday Bell Curve</a:t>
            </a:r>
            <a:endParaRPr lang="en-US" sz="1100" dirty="0"/>
          </a:p>
        </p:txBody>
      </p:sp>
      <p:sp>
        <p:nvSpPr>
          <p:cNvPr id="14" name="Text 12"/>
          <p:cNvSpPr/>
          <p:nvPr/>
        </p:nvSpPr>
        <p:spPr>
          <a:xfrm>
            <a:off x="5266944" y="1353312"/>
            <a:ext cx="3566160" cy="512064"/>
          </a:xfrm>
          <a:prstGeom prst="rect">
            <a:avLst/>
          </a:prstGeom>
          <a:noFill/>
          <a:ln/>
        </p:spPr>
        <p:txBody>
          <a:bodyPr wrap="square" rtlCol="0" anchor="ctr"/>
          <a:lstStyle/>
          <a:p>
            <a:pPr marL="0" indent="0">
              <a:buNone/>
            </a:pPr>
            <a:r>
              <a:rPr lang="en-US" sz="1000" dirty="0">
                <a:solidFill>
                  <a:srgbClr val="E8E4DA"/>
                </a:solidFill>
                <a:latin typeface="Calibri" pitchFamily="34" charset="0"/>
                <a:ea typeface="Calibri" pitchFamily="34" charset="-122"/>
                <a:cs typeface="Calibri" pitchFamily="34" charset="-120"/>
              </a:rPr>
              <a:t>Peak output of 25 MW occurs at Hour 13 daily. A 14-hour active generation window (Hours 6–20) is consistently observed.</a:t>
            </a:r>
            <a:endParaRPr lang="en-US" sz="1000" dirty="0"/>
          </a:p>
        </p:txBody>
      </p:sp>
      <p:sp>
        <p:nvSpPr>
          <p:cNvPr id="15" name="Shape 13"/>
          <p:cNvSpPr/>
          <p:nvPr/>
        </p:nvSpPr>
        <p:spPr>
          <a:xfrm>
            <a:off x="274320" y="2039112"/>
            <a:ext cx="4206240" cy="877824"/>
          </a:xfrm>
          <a:prstGeom prst="rect">
            <a:avLst/>
          </a:prstGeom>
          <a:solidFill>
            <a:srgbClr val="243460"/>
          </a:solidFill>
          <a:ln/>
          <a:effectLst>
            <a:outerShdw blurRad="101600" dist="38100" dir="8100000" algn="bl" rotWithShape="0">
              <a:srgbClr val="000000">
                <a:alpha val="12000"/>
              </a:srgbClr>
            </a:outerShdw>
          </a:effectLst>
        </p:spPr>
      </p:sp>
      <p:sp>
        <p:nvSpPr>
          <p:cNvPr id="16" name="Shape 14"/>
          <p:cNvSpPr/>
          <p:nvPr/>
        </p:nvSpPr>
        <p:spPr>
          <a:xfrm>
            <a:off x="274320" y="2039112"/>
            <a:ext cx="438912" cy="877824"/>
          </a:xfrm>
          <a:prstGeom prst="rect">
            <a:avLst/>
          </a:prstGeom>
          <a:solidFill>
            <a:srgbClr val="E87C1E"/>
          </a:solidFill>
          <a:ln/>
        </p:spPr>
      </p:sp>
      <p:sp>
        <p:nvSpPr>
          <p:cNvPr id="17" name="Text 15"/>
          <p:cNvSpPr/>
          <p:nvPr/>
        </p:nvSpPr>
        <p:spPr>
          <a:xfrm>
            <a:off x="274320" y="2039112"/>
            <a:ext cx="438912" cy="8778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8" name="Text 16"/>
          <p:cNvSpPr/>
          <p:nvPr/>
        </p:nvSpPr>
        <p:spPr>
          <a:xfrm>
            <a:off x="804672" y="2093976"/>
            <a:ext cx="3566160" cy="237744"/>
          </a:xfrm>
          <a:prstGeom prst="rect">
            <a:avLst/>
          </a:prstGeom>
          <a:noFill/>
          <a:ln/>
        </p:spPr>
        <p:txBody>
          <a:bodyPr wrap="square" rtlCol="0" anchor="ctr"/>
          <a:lstStyle/>
          <a:p>
            <a:pPr marL="0" indent="0">
              <a:buNone/>
            </a:pPr>
            <a:r>
              <a:rPr lang="en-US" sz="1100" b="1" dirty="0">
                <a:solidFill>
                  <a:srgbClr val="F5C518"/>
                </a:solidFill>
                <a:latin typeface="Calibri" pitchFamily="34" charset="0"/>
                <a:ea typeface="Calibri" pitchFamily="34" charset="-122"/>
                <a:cs typeface="Calibri" pitchFamily="34" charset="-120"/>
              </a:rPr>
              <a:t>Day 30 Anomaly Alert</a:t>
            </a:r>
            <a:endParaRPr lang="en-US" sz="1100" dirty="0"/>
          </a:p>
        </p:txBody>
      </p:sp>
      <p:sp>
        <p:nvSpPr>
          <p:cNvPr id="19" name="Text 17"/>
          <p:cNvSpPr/>
          <p:nvPr/>
        </p:nvSpPr>
        <p:spPr>
          <a:xfrm>
            <a:off x="804672" y="2340864"/>
            <a:ext cx="3566160" cy="512064"/>
          </a:xfrm>
          <a:prstGeom prst="rect">
            <a:avLst/>
          </a:prstGeom>
          <a:noFill/>
          <a:ln/>
        </p:spPr>
        <p:txBody>
          <a:bodyPr wrap="square" rtlCol="0" anchor="ctr"/>
          <a:lstStyle/>
          <a:p>
            <a:pPr marL="0" indent="0">
              <a:buNone/>
            </a:pPr>
            <a:r>
              <a:rPr lang="en-US" sz="1000" dirty="0">
                <a:solidFill>
                  <a:srgbClr val="E8E4DA"/>
                </a:solidFill>
                <a:latin typeface="Calibri" pitchFamily="34" charset="0"/>
                <a:ea typeface="Calibri" pitchFamily="34" charset="-122"/>
                <a:cs typeface="Calibri" pitchFamily="34" charset="-120"/>
              </a:rPr>
              <a:t>A sharp 57% decline to 0.14M MW on Day 30 is the most significant anomaly. Root cause investigation is strongly recommended.</a:t>
            </a:r>
            <a:endParaRPr lang="en-US" sz="1000" dirty="0"/>
          </a:p>
        </p:txBody>
      </p:sp>
      <p:sp>
        <p:nvSpPr>
          <p:cNvPr id="20" name="Shape 18"/>
          <p:cNvSpPr/>
          <p:nvPr/>
        </p:nvSpPr>
        <p:spPr>
          <a:xfrm>
            <a:off x="4736592" y="2039112"/>
            <a:ext cx="4206240" cy="877824"/>
          </a:xfrm>
          <a:prstGeom prst="rect">
            <a:avLst/>
          </a:prstGeom>
          <a:solidFill>
            <a:srgbClr val="243460"/>
          </a:solidFill>
          <a:ln/>
          <a:effectLst>
            <a:outerShdw blurRad="101600" dist="38100" dir="8100000" algn="bl" rotWithShape="0">
              <a:srgbClr val="000000">
                <a:alpha val="12000"/>
              </a:srgbClr>
            </a:outerShdw>
          </a:effectLst>
        </p:spPr>
      </p:sp>
      <p:sp>
        <p:nvSpPr>
          <p:cNvPr id="21" name="Shape 19"/>
          <p:cNvSpPr/>
          <p:nvPr/>
        </p:nvSpPr>
        <p:spPr>
          <a:xfrm>
            <a:off x="4736592" y="2039112"/>
            <a:ext cx="438912" cy="877824"/>
          </a:xfrm>
          <a:prstGeom prst="rect">
            <a:avLst/>
          </a:prstGeom>
          <a:solidFill>
            <a:srgbClr val="E87C1E"/>
          </a:solidFill>
          <a:ln/>
        </p:spPr>
      </p:sp>
      <p:sp>
        <p:nvSpPr>
          <p:cNvPr id="22" name="Text 20"/>
          <p:cNvSpPr/>
          <p:nvPr/>
        </p:nvSpPr>
        <p:spPr>
          <a:xfrm>
            <a:off x="4736592" y="2039112"/>
            <a:ext cx="438912" cy="8778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3" name="Text 21"/>
          <p:cNvSpPr/>
          <p:nvPr/>
        </p:nvSpPr>
        <p:spPr>
          <a:xfrm>
            <a:off x="5266944" y="2093976"/>
            <a:ext cx="3566160" cy="237744"/>
          </a:xfrm>
          <a:prstGeom prst="rect">
            <a:avLst/>
          </a:prstGeom>
          <a:noFill/>
          <a:ln/>
        </p:spPr>
        <p:txBody>
          <a:bodyPr wrap="square" rtlCol="0" anchor="ctr"/>
          <a:lstStyle/>
          <a:p>
            <a:pPr marL="0" indent="0">
              <a:buNone/>
            </a:pPr>
            <a:r>
              <a:rPr lang="en-US" sz="1100" b="1" dirty="0">
                <a:solidFill>
                  <a:srgbClr val="F5C518"/>
                </a:solidFill>
                <a:latin typeface="Calibri" pitchFamily="34" charset="0"/>
                <a:ea typeface="Calibri" pitchFamily="34" charset="-122"/>
                <a:cs typeface="Calibri" pitchFamily="34" charset="-120"/>
              </a:rPr>
              <a:t>UPV Dominance in Portfolio</a:t>
            </a:r>
            <a:endParaRPr lang="en-US" sz="1100" dirty="0"/>
          </a:p>
        </p:txBody>
      </p:sp>
      <p:sp>
        <p:nvSpPr>
          <p:cNvPr id="24" name="Text 22"/>
          <p:cNvSpPr/>
          <p:nvPr/>
        </p:nvSpPr>
        <p:spPr>
          <a:xfrm>
            <a:off x="5266944" y="2340864"/>
            <a:ext cx="3566160" cy="512064"/>
          </a:xfrm>
          <a:prstGeom prst="rect">
            <a:avLst/>
          </a:prstGeom>
          <a:noFill/>
          <a:ln/>
        </p:spPr>
        <p:txBody>
          <a:bodyPr wrap="square" rtlCol="0" anchor="ctr"/>
          <a:lstStyle/>
          <a:p>
            <a:pPr marL="0" indent="0">
              <a:buNone/>
            </a:pPr>
            <a:r>
              <a:rPr lang="en-US" sz="1000" dirty="0">
                <a:solidFill>
                  <a:srgbClr val="E8E4DA"/>
                </a:solidFill>
                <a:latin typeface="Calibri" pitchFamily="34" charset="0"/>
                <a:ea typeface="Calibri" pitchFamily="34" charset="-122"/>
                <a:cs typeface="Calibri" pitchFamily="34" charset="-120"/>
              </a:rPr>
              <a:t>UPV sites contribute ~65% of total generation. Average output of 11 MW vs. 6 MW for DPV makes UPV the primary performance driver.</a:t>
            </a:r>
            <a:endParaRPr lang="en-US" sz="1000" dirty="0"/>
          </a:p>
        </p:txBody>
      </p:sp>
      <p:sp>
        <p:nvSpPr>
          <p:cNvPr id="25" name="Shape 23"/>
          <p:cNvSpPr/>
          <p:nvPr/>
        </p:nvSpPr>
        <p:spPr>
          <a:xfrm>
            <a:off x="274320" y="3026664"/>
            <a:ext cx="4206240" cy="877824"/>
          </a:xfrm>
          <a:prstGeom prst="rect">
            <a:avLst/>
          </a:prstGeom>
          <a:solidFill>
            <a:srgbClr val="243460"/>
          </a:solidFill>
          <a:ln/>
          <a:effectLst>
            <a:outerShdw blurRad="101600" dist="38100" dir="8100000" algn="bl" rotWithShape="0">
              <a:srgbClr val="000000">
                <a:alpha val="12000"/>
              </a:srgbClr>
            </a:outerShdw>
          </a:effectLst>
        </p:spPr>
      </p:sp>
      <p:sp>
        <p:nvSpPr>
          <p:cNvPr id="26" name="Shape 24"/>
          <p:cNvSpPr/>
          <p:nvPr/>
        </p:nvSpPr>
        <p:spPr>
          <a:xfrm>
            <a:off x="274320" y="3026664"/>
            <a:ext cx="438912" cy="877824"/>
          </a:xfrm>
          <a:prstGeom prst="rect">
            <a:avLst/>
          </a:prstGeom>
          <a:solidFill>
            <a:srgbClr val="E87C1E"/>
          </a:solidFill>
          <a:ln/>
        </p:spPr>
      </p:sp>
      <p:sp>
        <p:nvSpPr>
          <p:cNvPr id="27" name="Text 25"/>
          <p:cNvSpPr/>
          <p:nvPr/>
        </p:nvSpPr>
        <p:spPr>
          <a:xfrm>
            <a:off x="274320" y="3026664"/>
            <a:ext cx="438912" cy="8778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8" name="Text 26"/>
          <p:cNvSpPr/>
          <p:nvPr/>
        </p:nvSpPr>
        <p:spPr>
          <a:xfrm>
            <a:off x="804672" y="3081528"/>
            <a:ext cx="3566160" cy="237744"/>
          </a:xfrm>
          <a:prstGeom prst="rect">
            <a:avLst/>
          </a:prstGeom>
          <a:noFill/>
          <a:ln/>
        </p:spPr>
        <p:txBody>
          <a:bodyPr wrap="square" rtlCol="0" anchor="ctr"/>
          <a:lstStyle/>
          <a:p>
            <a:pPr marL="0" indent="0">
              <a:buNone/>
            </a:pPr>
            <a:r>
              <a:rPr lang="en-US" sz="1100" b="1" dirty="0">
                <a:solidFill>
                  <a:srgbClr val="F5C518"/>
                </a:solidFill>
                <a:latin typeface="Calibri" pitchFamily="34" charset="0"/>
                <a:ea typeface="Calibri" pitchFamily="34" charset="-122"/>
                <a:cs typeface="Calibri" pitchFamily="34" charset="-120"/>
              </a:rPr>
              <a:t>High Peak Capacity Utilization</a:t>
            </a:r>
            <a:endParaRPr lang="en-US" sz="1100" dirty="0"/>
          </a:p>
        </p:txBody>
      </p:sp>
      <p:sp>
        <p:nvSpPr>
          <p:cNvPr id="29" name="Text 27"/>
          <p:cNvSpPr/>
          <p:nvPr/>
        </p:nvSpPr>
        <p:spPr>
          <a:xfrm>
            <a:off x="804672" y="3328416"/>
            <a:ext cx="3566160" cy="512064"/>
          </a:xfrm>
          <a:prstGeom prst="rect">
            <a:avLst/>
          </a:prstGeom>
          <a:noFill/>
          <a:ln/>
        </p:spPr>
        <p:txBody>
          <a:bodyPr wrap="square" rtlCol="0" anchor="ctr"/>
          <a:lstStyle/>
          <a:p>
            <a:pPr marL="0" indent="0">
              <a:buNone/>
            </a:pPr>
            <a:r>
              <a:rPr lang="en-US" sz="1000" dirty="0">
                <a:solidFill>
                  <a:srgbClr val="E8E4DA"/>
                </a:solidFill>
                <a:latin typeface="Calibri" pitchFamily="34" charset="0"/>
                <a:ea typeface="Calibri" pitchFamily="34" charset="-122"/>
                <a:cs typeface="Calibri" pitchFamily="34" charset="-120"/>
              </a:rPr>
              <a:t>The maximum recorded output of 74.60 MW is 93.3% of the 80 MW rated capacity — demonstrating excellent peak efficiency.</a:t>
            </a:r>
            <a:endParaRPr lang="en-US" sz="1000" dirty="0"/>
          </a:p>
        </p:txBody>
      </p:sp>
      <p:sp>
        <p:nvSpPr>
          <p:cNvPr id="30" name="Shape 28"/>
          <p:cNvSpPr/>
          <p:nvPr/>
        </p:nvSpPr>
        <p:spPr>
          <a:xfrm>
            <a:off x="4736592" y="3026664"/>
            <a:ext cx="4206240" cy="877824"/>
          </a:xfrm>
          <a:prstGeom prst="rect">
            <a:avLst/>
          </a:prstGeom>
          <a:solidFill>
            <a:srgbClr val="243460"/>
          </a:solidFill>
          <a:ln/>
          <a:effectLst>
            <a:outerShdw blurRad="101600" dist="38100" dir="8100000" algn="bl" rotWithShape="0">
              <a:srgbClr val="000000">
                <a:alpha val="12000"/>
              </a:srgbClr>
            </a:outerShdw>
          </a:effectLst>
        </p:spPr>
      </p:sp>
      <p:sp>
        <p:nvSpPr>
          <p:cNvPr id="31" name="Shape 29"/>
          <p:cNvSpPr/>
          <p:nvPr/>
        </p:nvSpPr>
        <p:spPr>
          <a:xfrm>
            <a:off x="4736592" y="3026664"/>
            <a:ext cx="438912" cy="877824"/>
          </a:xfrm>
          <a:prstGeom prst="rect">
            <a:avLst/>
          </a:prstGeom>
          <a:solidFill>
            <a:srgbClr val="E87C1E"/>
          </a:solidFill>
          <a:ln/>
        </p:spPr>
      </p:sp>
      <p:sp>
        <p:nvSpPr>
          <p:cNvPr id="32" name="Text 30"/>
          <p:cNvSpPr/>
          <p:nvPr/>
        </p:nvSpPr>
        <p:spPr>
          <a:xfrm>
            <a:off x="4736592" y="3026664"/>
            <a:ext cx="438912" cy="8778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33" name="Text 31"/>
          <p:cNvSpPr/>
          <p:nvPr/>
        </p:nvSpPr>
        <p:spPr>
          <a:xfrm>
            <a:off x="5266944" y="3081528"/>
            <a:ext cx="3566160" cy="237744"/>
          </a:xfrm>
          <a:prstGeom prst="rect">
            <a:avLst/>
          </a:prstGeom>
          <a:noFill/>
          <a:ln/>
        </p:spPr>
        <p:txBody>
          <a:bodyPr wrap="square" rtlCol="0" anchor="ctr"/>
          <a:lstStyle/>
          <a:p>
            <a:pPr marL="0" indent="0">
              <a:buNone/>
            </a:pPr>
            <a:r>
              <a:rPr lang="en-US" sz="1100" b="1" dirty="0">
                <a:solidFill>
                  <a:srgbClr val="F5C518"/>
                </a:solidFill>
                <a:latin typeface="Calibri" pitchFamily="34" charset="0"/>
                <a:ea typeface="Calibri" pitchFamily="34" charset="-122"/>
                <a:cs typeface="Calibri" pitchFamily="34" charset="-120"/>
              </a:rPr>
              <a:t>Consistent Site-Level Efficiency</a:t>
            </a:r>
            <a:endParaRPr lang="en-US" sz="1100" dirty="0"/>
          </a:p>
        </p:txBody>
      </p:sp>
      <p:sp>
        <p:nvSpPr>
          <p:cNvPr id="34" name="Text 32"/>
          <p:cNvSpPr/>
          <p:nvPr/>
        </p:nvSpPr>
        <p:spPr>
          <a:xfrm>
            <a:off x="5266944" y="3328416"/>
            <a:ext cx="3566160" cy="512064"/>
          </a:xfrm>
          <a:prstGeom prst="rect">
            <a:avLst/>
          </a:prstGeom>
          <a:noFill/>
          <a:ln/>
        </p:spPr>
        <p:txBody>
          <a:bodyPr wrap="square" rtlCol="0" anchor="ctr"/>
          <a:lstStyle/>
          <a:p>
            <a:pPr marL="0" indent="0">
              <a:buNone/>
            </a:pPr>
            <a:r>
              <a:rPr lang="en-US" sz="1000" dirty="0">
                <a:solidFill>
                  <a:srgbClr val="E8E4DA"/>
                </a:solidFill>
                <a:latin typeface="Calibri" pitchFamily="34" charset="0"/>
                <a:ea typeface="Calibri" pitchFamily="34" charset="-122"/>
                <a:cs typeface="Calibri" pitchFamily="34" charset="-120"/>
              </a:rPr>
              <a:t>Both UPV (~16.5%) and DPV (~16.3%) maintain similar capacity factors, indicating uniform operational management across site types.</a:t>
            </a:r>
            <a:endParaRPr lang="en-US" sz="1000" dirty="0"/>
          </a:p>
        </p:txBody>
      </p:sp>
      <p:sp>
        <p:nvSpPr>
          <p:cNvPr id="35" name="Shape 33"/>
          <p:cNvSpPr/>
          <p:nvPr/>
        </p:nvSpPr>
        <p:spPr>
          <a:xfrm>
            <a:off x="274320" y="4014216"/>
            <a:ext cx="4206240" cy="877824"/>
          </a:xfrm>
          <a:prstGeom prst="rect">
            <a:avLst/>
          </a:prstGeom>
          <a:solidFill>
            <a:srgbClr val="243460"/>
          </a:solidFill>
          <a:ln/>
          <a:effectLst>
            <a:outerShdw blurRad="101600" dist="38100" dir="8100000" algn="bl" rotWithShape="0">
              <a:srgbClr val="000000">
                <a:alpha val="12000"/>
              </a:srgbClr>
            </a:outerShdw>
          </a:effectLst>
        </p:spPr>
      </p:sp>
      <p:sp>
        <p:nvSpPr>
          <p:cNvPr id="36" name="Shape 34"/>
          <p:cNvSpPr/>
          <p:nvPr/>
        </p:nvSpPr>
        <p:spPr>
          <a:xfrm>
            <a:off x="274320" y="4014216"/>
            <a:ext cx="438912" cy="877824"/>
          </a:xfrm>
          <a:prstGeom prst="rect">
            <a:avLst/>
          </a:prstGeom>
          <a:solidFill>
            <a:srgbClr val="E87C1E"/>
          </a:solidFill>
          <a:ln/>
        </p:spPr>
      </p:sp>
      <p:sp>
        <p:nvSpPr>
          <p:cNvPr id="37" name="Text 35"/>
          <p:cNvSpPr/>
          <p:nvPr/>
        </p:nvSpPr>
        <p:spPr>
          <a:xfrm>
            <a:off x="274320" y="4014216"/>
            <a:ext cx="438912" cy="8778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38" name="Text 36"/>
          <p:cNvSpPr/>
          <p:nvPr/>
        </p:nvSpPr>
        <p:spPr>
          <a:xfrm>
            <a:off x="804672" y="4069080"/>
            <a:ext cx="3566160" cy="237744"/>
          </a:xfrm>
          <a:prstGeom prst="rect">
            <a:avLst/>
          </a:prstGeom>
          <a:noFill/>
          <a:ln/>
        </p:spPr>
        <p:txBody>
          <a:bodyPr wrap="square" rtlCol="0" anchor="ctr"/>
          <a:lstStyle/>
          <a:p>
            <a:pPr marL="0" indent="0">
              <a:buNone/>
            </a:pPr>
            <a:r>
              <a:rPr lang="en-US" sz="1100" b="1" dirty="0">
                <a:solidFill>
                  <a:srgbClr val="F5C518"/>
                </a:solidFill>
                <a:latin typeface="Calibri" pitchFamily="34" charset="0"/>
                <a:ea typeface="Calibri" pitchFamily="34" charset="-122"/>
                <a:cs typeface="Calibri" pitchFamily="34" charset="-120"/>
              </a:rPr>
              <a:t>Mid-Year Summer Plateau</a:t>
            </a:r>
            <a:endParaRPr lang="en-US" sz="1100" dirty="0"/>
          </a:p>
        </p:txBody>
      </p:sp>
      <p:sp>
        <p:nvSpPr>
          <p:cNvPr id="39" name="Text 37"/>
          <p:cNvSpPr/>
          <p:nvPr/>
        </p:nvSpPr>
        <p:spPr>
          <a:xfrm>
            <a:off x="804672" y="4315968"/>
            <a:ext cx="3566160" cy="512064"/>
          </a:xfrm>
          <a:prstGeom prst="rect">
            <a:avLst/>
          </a:prstGeom>
          <a:noFill/>
          <a:ln/>
        </p:spPr>
        <p:txBody>
          <a:bodyPr wrap="square" rtlCol="0" anchor="ctr"/>
          <a:lstStyle/>
          <a:p>
            <a:pPr marL="0" indent="0">
              <a:buNone/>
            </a:pPr>
            <a:r>
              <a:rPr lang="en-US" sz="1000" dirty="0">
                <a:solidFill>
                  <a:srgbClr val="E8E4DA"/>
                </a:solidFill>
                <a:latin typeface="Calibri" pitchFamily="34" charset="0"/>
                <a:ea typeface="Calibri" pitchFamily="34" charset="-122"/>
                <a:cs typeface="Calibri" pitchFamily="34" charset="-120"/>
              </a:rPr>
              <a:t>July–August output (0.62–0.66M MW) is lower than May (0.80M MW), suggesting heat-induced efficiency losses in peak summer months.</a:t>
            </a:r>
            <a:endParaRPr lang="en-US" sz="1000" dirty="0"/>
          </a:p>
        </p:txBody>
      </p:sp>
      <p:sp>
        <p:nvSpPr>
          <p:cNvPr id="40" name="Shape 38"/>
          <p:cNvSpPr/>
          <p:nvPr/>
        </p:nvSpPr>
        <p:spPr>
          <a:xfrm>
            <a:off x="4736592" y="4014216"/>
            <a:ext cx="4206240" cy="877824"/>
          </a:xfrm>
          <a:prstGeom prst="rect">
            <a:avLst/>
          </a:prstGeom>
          <a:solidFill>
            <a:srgbClr val="243460"/>
          </a:solidFill>
          <a:ln/>
          <a:effectLst>
            <a:outerShdw blurRad="101600" dist="38100" dir="8100000" algn="bl" rotWithShape="0">
              <a:srgbClr val="000000">
                <a:alpha val="12000"/>
              </a:srgbClr>
            </a:outerShdw>
          </a:effectLst>
        </p:spPr>
      </p:sp>
      <p:sp>
        <p:nvSpPr>
          <p:cNvPr id="41" name="Shape 39"/>
          <p:cNvSpPr/>
          <p:nvPr/>
        </p:nvSpPr>
        <p:spPr>
          <a:xfrm>
            <a:off x="4736592" y="4014216"/>
            <a:ext cx="438912" cy="877824"/>
          </a:xfrm>
          <a:prstGeom prst="rect">
            <a:avLst/>
          </a:prstGeom>
          <a:solidFill>
            <a:srgbClr val="E87C1E"/>
          </a:solidFill>
          <a:ln/>
        </p:spPr>
      </p:sp>
      <p:sp>
        <p:nvSpPr>
          <p:cNvPr id="42" name="Text 40"/>
          <p:cNvSpPr/>
          <p:nvPr/>
        </p:nvSpPr>
        <p:spPr>
          <a:xfrm>
            <a:off x="4736592" y="4014216"/>
            <a:ext cx="438912" cy="8778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43" name="Text 41"/>
          <p:cNvSpPr/>
          <p:nvPr/>
        </p:nvSpPr>
        <p:spPr>
          <a:xfrm>
            <a:off x="5266944" y="4069080"/>
            <a:ext cx="3566160" cy="237744"/>
          </a:xfrm>
          <a:prstGeom prst="rect">
            <a:avLst/>
          </a:prstGeom>
          <a:noFill/>
          <a:ln/>
        </p:spPr>
        <p:txBody>
          <a:bodyPr wrap="square" rtlCol="0" anchor="ctr"/>
          <a:lstStyle/>
          <a:p>
            <a:pPr marL="0" indent="0">
              <a:buNone/>
            </a:pPr>
            <a:r>
              <a:rPr lang="en-US" sz="1100" b="1" dirty="0">
                <a:solidFill>
                  <a:srgbClr val="F5C518"/>
                </a:solidFill>
                <a:latin typeface="Calibri" pitchFamily="34" charset="0"/>
                <a:ea typeface="Calibri" pitchFamily="34" charset="-122"/>
                <a:cs typeface="Calibri" pitchFamily="34" charset="-120"/>
              </a:rPr>
              <a:t>Daily Output Variance is Significant</a:t>
            </a:r>
            <a:endParaRPr lang="en-US" sz="1100" dirty="0"/>
          </a:p>
        </p:txBody>
      </p:sp>
      <p:sp>
        <p:nvSpPr>
          <p:cNvPr id="44" name="Text 42"/>
          <p:cNvSpPr/>
          <p:nvPr/>
        </p:nvSpPr>
        <p:spPr>
          <a:xfrm>
            <a:off x="5266944" y="4315968"/>
            <a:ext cx="3566160" cy="512064"/>
          </a:xfrm>
          <a:prstGeom prst="rect">
            <a:avLst/>
          </a:prstGeom>
          <a:noFill/>
          <a:ln/>
        </p:spPr>
        <p:txBody>
          <a:bodyPr wrap="square" rtlCol="0" anchor="ctr"/>
          <a:lstStyle/>
          <a:p>
            <a:pPr marL="0" indent="0">
              <a:buNone/>
            </a:pPr>
            <a:r>
              <a:rPr lang="en-US" sz="1000" dirty="0">
                <a:solidFill>
                  <a:srgbClr val="E8E4DA"/>
                </a:solidFill>
                <a:latin typeface="Calibri" pitchFamily="34" charset="0"/>
                <a:ea typeface="Calibri" pitchFamily="34" charset="-122"/>
                <a:cs typeface="Calibri" pitchFamily="34" charset="-120"/>
              </a:rPr>
              <a:t>Day-to-day output swings from 0.14M to 0.32M MW — a 128% range. Predictive weather integration could reduce planning uncertainty.</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744"/>
          </a:solidFill>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3000" b="1" dirty="0">
                <a:solidFill>
                  <a:srgbClr val="F5C518"/>
                </a:solidFill>
                <a:latin typeface="Calibri" pitchFamily="34" charset="0"/>
                <a:ea typeface="Calibri" pitchFamily="34" charset="-122"/>
                <a:cs typeface="Calibri" pitchFamily="34" charset="-120"/>
              </a:rPr>
              <a:t>RECOMMENDATIONS</a:t>
            </a:r>
            <a:endParaRPr lang="en-US" sz="30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E8E4DA"/>
                </a:solidFill>
              </a:rPr>
              <a:t>Data-Driven Actionable Recommendations for Solar Operators</a:t>
            </a:r>
            <a:endParaRPr lang="en-US" sz="1300" dirty="0"/>
          </a:p>
        </p:txBody>
      </p:sp>
      <p:sp>
        <p:nvSpPr>
          <p:cNvPr id="5" name="Shape 3"/>
          <p:cNvSpPr/>
          <p:nvPr/>
        </p:nvSpPr>
        <p:spPr>
          <a:xfrm>
            <a:off x="274320" y="1051560"/>
            <a:ext cx="4206240" cy="118872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274320" y="1051560"/>
            <a:ext cx="4206240" cy="365760"/>
          </a:xfrm>
          <a:prstGeom prst="rect">
            <a:avLst/>
          </a:prstGeom>
          <a:solidFill>
            <a:srgbClr val="E87C1E"/>
          </a:solidFill>
          <a:ln/>
        </p:spPr>
      </p:sp>
      <p:sp>
        <p:nvSpPr>
          <p:cNvPr id="7" name="Shape 5"/>
          <p:cNvSpPr/>
          <p:nvPr/>
        </p:nvSpPr>
        <p:spPr>
          <a:xfrm>
            <a:off x="3703320" y="1106424"/>
            <a:ext cx="658368" cy="256032"/>
          </a:xfrm>
          <a:prstGeom prst="rect">
            <a:avLst/>
          </a:prstGeom>
          <a:solidFill>
            <a:srgbClr val="FFFFFF">
              <a:alpha val="80000"/>
            </a:srgbClr>
          </a:solidFill>
          <a:ln/>
        </p:spPr>
      </p:sp>
      <p:sp>
        <p:nvSpPr>
          <p:cNvPr id="8" name="Text 6"/>
          <p:cNvSpPr/>
          <p:nvPr/>
        </p:nvSpPr>
        <p:spPr>
          <a:xfrm>
            <a:off x="3703320" y="1106424"/>
            <a:ext cx="658368" cy="256032"/>
          </a:xfrm>
          <a:prstGeom prst="rect">
            <a:avLst/>
          </a:prstGeom>
          <a:noFill/>
          <a:ln/>
        </p:spPr>
        <p:txBody>
          <a:bodyPr wrap="square" rtlCol="0" anchor="ctr"/>
          <a:lstStyle/>
          <a:p>
            <a:pPr marL="0" indent="0" algn="ctr">
              <a:buNone/>
            </a:pPr>
            <a:r>
              <a:rPr lang="en-US" sz="850" b="1" dirty="0">
                <a:latin typeface="Calibri" pitchFamily="34" charset="0"/>
                <a:ea typeface="Calibri" pitchFamily="34" charset="-122"/>
                <a:cs typeface="Calibri" pitchFamily="34" charset="-120"/>
              </a:rPr>
              <a:t>HIGH</a:t>
            </a:r>
            <a:endParaRPr lang="en-US" sz="850" dirty="0"/>
          </a:p>
        </p:txBody>
      </p:sp>
      <p:sp>
        <p:nvSpPr>
          <p:cNvPr id="9" name="Text 7"/>
          <p:cNvSpPr/>
          <p:nvPr/>
        </p:nvSpPr>
        <p:spPr>
          <a:xfrm>
            <a:off x="365760" y="1106424"/>
            <a:ext cx="3246120" cy="25603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Investigate Day 30 Decline Immediately</a:t>
            </a:r>
            <a:endParaRPr lang="en-US" sz="1100" dirty="0"/>
          </a:p>
        </p:txBody>
      </p:sp>
      <p:sp>
        <p:nvSpPr>
          <p:cNvPr id="10" name="Text 8"/>
          <p:cNvSpPr/>
          <p:nvPr/>
        </p:nvSpPr>
        <p:spPr>
          <a:xfrm>
            <a:off x="365760" y="1481328"/>
            <a:ext cx="4005072" cy="7132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The sharp drop to 0.14M MW requires urgent root cause analysis. Check maintenance logs, weather records, and inverter reports for that period. Implement automated alerts for &gt;20% single-day generation drops.</a:t>
            </a:r>
            <a:endParaRPr lang="en-US" sz="1000" dirty="0"/>
          </a:p>
        </p:txBody>
      </p:sp>
      <p:sp>
        <p:nvSpPr>
          <p:cNvPr id="11" name="Shape 9"/>
          <p:cNvSpPr/>
          <p:nvPr/>
        </p:nvSpPr>
        <p:spPr>
          <a:xfrm>
            <a:off x="4736592" y="1051560"/>
            <a:ext cx="4206240" cy="1188720"/>
          </a:xfrm>
          <a:prstGeom prst="rect">
            <a:avLst/>
          </a:prstGeom>
          <a:solidFill>
            <a:srgbClr val="FFFFFF"/>
          </a:solidFill>
          <a:ln/>
          <a:effectLst>
            <a:outerShdw blurRad="101600" dist="38100" dir="8100000" algn="bl" rotWithShape="0">
              <a:srgbClr val="000000">
                <a:alpha val="12000"/>
              </a:srgbClr>
            </a:outerShdw>
          </a:effectLst>
        </p:spPr>
      </p:sp>
      <p:sp>
        <p:nvSpPr>
          <p:cNvPr id="12" name="Shape 10"/>
          <p:cNvSpPr/>
          <p:nvPr/>
        </p:nvSpPr>
        <p:spPr>
          <a:xfrm>
            <a:off x="4736592" y="1051560"/>
            <a:ext cx="4206240" cy="365760"/>
          </a:xfrm>
          <a:prstGeom prst="rect">
            <a:avLst/>
          </a:prstGeom>
          <a:solidFill>
            <a:srgbClr val="E87C1E"/>
          </a:solidFill>
          <a:ln/>
        </p:spPr>
      </p:sp>
      <p:sp>
        <p:nvSpPr>
          <p:cNvPr id="13" name="Shape 11"/>
          <p:cNvSpPr/>
          <p:nvPr/>
        </p:nvSpPr>
        <p:spPr>
          <a:xfrm>
            <a:off x="8165592" y="1106424"/>
            <a:ext cx="658368" cy="256032"/>
          </a:xfrm>
          <a:prstGeom prst="rect">
            <a:avLst/>
          </a:prstGeom>
          <a:solidFill>
            <a:srgbClr val="FFFFFF">
              <a:alpha val="80000"/>
            </a:srgbClr>
          </a:solidFill>
          <a:ln/>
        </p:spPr>
      </p:sp>
      <p:sp>
        <p:nvSpPr>
          <p:cNvPr id="14" name="Text 12"/>
          <p:cNvSpPr/>
          <p:nvPr/>
        </p:nvSpPr>
        <p:spPr>
          <a:xfrm>
            <a:off x="8165592" y="1106424"/>
            <a:ext cx="658368" cy="256032"/>
          </a:xfrm>
          <a:prstGeom prst="rect">
            <a:avLst/>
          </a:prstGeom>
          <a:noFill/>
          <a:ln/>
        </p:spPr>
        <p:txBody>
          <a:bodyPr wrap="square" rtlCol="0" anchor="ctr"/>
          <a:lstStyle/>
          <a:p>
            <a:pPr marL="0" indent="0" algn="ctr">
              <a:buNone/>
            </a:pPr>
            <a:r>
              <a:rPr lang="en-US" sz="850" b="1" dirty="0">
                <a:latin typeface="Calibri" pitchFamily="34" charset="0"/>
                <a:ea typeface="Calibri" pitchFamily="34" charset="-122"/>
                <a:cs typeface="Calibri" pitchFamily="34" charset="-120"/>
              </a:rPr>
              <a:t>HIGH</a:t>
            </a:r>
            <a:endParaRPr lang="en-US" sz="850" dirty="0"/>
          </a:p>
        </p:txBody>
      </p:sp>
      <p:sp>
        <p:nvSpPr>
          <p:cNvPr id="15" name="Text 13"/>
          <p:cNvSpPr/>
          <p:nvPr/>
        </p:nvSpPr>
        <p:spPr>
          <a:xfrm>
            <a:off x="4828032" y="1106424"/>
            <a:ext cx="3246120" cy="25603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Develop Seasonal Generation Forecasts</a:t>
            </a:r>
            <a:endParaRPr lang="en-US" sz="1100" dirty="0"/>
          </a:p>
        </p:txBody>
      </p:sp>
      <p:sp>
        <p:nvSpPr>
          <p:cNvPr id="16" name="Text 14"/>
          <p:cNvSpPr/>
          <p:nvPr/>
        </p:nvSpPr>
        <p:spPr>
          <a:xfrm>
            <a:off x="4828032" y="1481328"/>
            <a:ext cx="4005072" cy="7132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Leverage the confirmed Dec–May seasonal trend to build 12-month rolling generation forecasts. This enables better energy contract negotiations, revenue planning, and grid scheduling during low-output winter months.</a:t>
            </a:r>
            <a:endParaRPr lang="en-US" sz="1000" dirty="0"/>
          </a:p>
        </p:txBody>
      </p:sp>
      <p:sp>
        <p:nvSpPr>
          <p:cNvPr id="17" name="Shape 15"/>
          <p:cNvSpPr/>
          <p:nvPr/>
        </p:nvSpPr>
        <p:spPr>
          <a:xfrm>
            <a:off x="274320" y="2377440"/>
            <a:ext cx="4206240" cy="1188720"/>
          </a:xfrm>
          <a:prstGeom prst="rect">
            <a:avLst/>
          </a:prstGeom>
          <a:solidFill>
            <a:srgbClr val="FFFFFF"/>
          </a:solidFill>
          <a:ln/>
          <a:effectLst>
            <a:outerShdw blurRad="101600" dist="38100" dir="8100000" algn="bl" rotWithShape="0">
              <a:srgbClr val="000000">
                <a:alpha val="12000"/>
              </a:srgbClr>
            </a:outerShdw>
          </a:effectLst>
        </p:spPr>
      </p:sp>
      <p:sp>
        <p:nvSpPr>
          <p:cNvPr id="18" name="Shape 16"/>
          <p:cNvSpPr/>
          <p:nvPr/>
        </p:nvSpPr>
        <p:spPr>
          <a:xfrm>
            <a:off x="274320" y="2377440"/>
            <a:ext cx="4206240" cy="365760"/>
          </a:xfrm>
          <a:prstGeom prst="rect">
            <a:avLst/>
          </a:prstGeom>
          <a:solidFill>
            <a:srgbClr val="243460"/>
          </a:solidFill>
          <a:ln/>
        </p:spPr>
      </p:sp>
      <p:sp>
        <p:nvSpPr>
          <p:cNvPr id="19" name="Shape 17"/>
          <p:cNvSpPr/>
          <p:nvPr/>
        </p:nvSpPr>
        <p:spPr>
          <a:xfrm>
            <a:off x="3703320" y="2432304"/>
            <a:ext cx="658368" cy="256032"/>
          </a:xfrm>
          <a:prstGeom prst="rect">
            <a:avLst/>
          </a:prstGeom>
          <a:solidFill>
            <a:srgbClr val="FFFFFF">
              <a:alpha val="80000"/>
            </a:srgbClr>
          </a:solidFill>
          <a:ln/>
        </p:spPr>
      </p:sp>
      <p:sp>
        <p:nvSpPr>
          <p:cNvPr id="20" name="Text 18"/>
          <p:cNvSpPr/>
          <p:nvPr/>
        </p:nvSpPr>
        <p:spPr>
          <a:xfrm>
            <a:off x="3703320" y="2432304"/>
            <a:ext cx="658368" cy="256032"/>
          </a:xfrm>
          <a:prstGeom prst="rect">
            <a:avLst/>
          </a:prstGeom>
          <a:noFill/>
          <a:ln/>
        </p:spPr>
        <p:txBody>
          <a:bodyPr wrap="square" rtlCol="0" anchor="ctr"/>
          <a:lstStyle/>
          <a:p>
            <a:pPr marL="0" indent="0" algn="ctr">
              <a:buNone/>
            </a:pPr>
            <a:r>
              <a:rPr lang="en-US" sz="850" b="1" dirty="0">
                <a:latin typeface="Calibri" pitchFamily="34" charset="0"/>
                <a:ea typeface="Calibri" pitchFamily="34" charset="-122"/>
                <a:cs typeface="Calibri" pitchFamily="34" charset="-120"/>
              </a:rPr>
              <a:t>MED</a:t>
            </a:r>
            <a:endParaRPr lang="en-US" sz="850" dirty="0"/>
          </a:p>
        </p:txBody>
      </p:sp>
      <p:sp>
        <p:nvSpPr>
          <p:cNvPr id="21" name="Text 19"/>
          <p:cNvSpPr/>
          <p:nvPr/>
        </p:nvSpPr>
        <p:spPr>
          <a:xfrm>
            <a:off x="365760" y="2432304"/>
            <a:ext cx="3246120" cy="25603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Prioritize UPV Capacity Expansion</a:t>
            </a:r>
            <a:endParaRPr lang="en-US" sz="1100" dirty="0"/>
          </a:p>
        </p:txBody>
      </p:sp>
      <p:sp>
        <p:nvSpPr>
          <p:cNvPr id="22" name="Text 20"/>
          <p:cNvSpPr/>
          <p:nvPr/>
        </p:nvSpPr>
        <p:spPr>
          <a:xfrm>
            <a:off x="365760" y="2807208"/>
            <a:ext cx="4005072" cy="7132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With UPV sites delivering 83% more average power than DPV at similar efficiency, new investment should prioritize UPV installations. Target sites with peak irradiance profiles similar to the current high-performing portfolio.</a:t>
            </a:r>
            <a:endParaRPr lang="en-US" sz="1000" dirty="0"/>
          </a:p>
        </p:txBody>
      </p:sp>
      <p:sp>
        <p:nvSpPr>
          <p:cNvPr id="23" name="Shape 21"/>
          <p:cNvSpPr/>
          <p:nvPr/>
        </p:nvSpPr>
        <p:spPr>
          <a:xfrm>
            <a:off x="4736592" y="2377440"/>
            <a:ext cx="4206240" cy="1188720"/>
          </a:xfrm>
          <a:prstGeom prst="rect">
            <a:avLst/>
          </a:prstGeom>
          <a:solidFill>
            <a:srgbClr val="FFFFFF"/>
          </a:solidFill>
          <a:ln/>
          <a:effectLst>
            <a:outerShdw blurRad="101600" dist="38100" dir="8100000" algn="bl" rotWithShape="0">
              <a:srgbClr val="000000">
                <a:alpha val="12000"/>
              </a:srgbClr>
            </a:outerShdw>
          </a:effectLst>
        </p:spPr>
      </p:sp>
      <p:sp>
        <p:nvSpPr>
          <p:cNvPr id="24" name="Shape 22"/>
          <p:cNvSpPr/>
          <p:nvPr/>
        </p:nvSpPr>
        <p:spPr>
          <a:xfrm>
            <a:off x="4736592" y="2377440"/>
            <a:ext cx="4206240" cy="365760"/>
          </a:xfrm>
          <a:prstGeom prst="rect">
            <a:avLst/>
          </a:prstGeom>
          <a:solidFill>
            <a:srgbClr val="243460"/>
          </a:solidFill>
          <a:ln/>
        </p:spPr>
      </p:sp>
      <p:sp>
        <p:nvSpPr>
          <p:cNvPr id="25" name="Shape 23"/>
          <p:cNvSpPr/>
          <p:nvPr/>
        </p:nvSpPr>
        <p:spPr>
          <a:xfrm>
            <a:off x="8165592" y="2432304"/>
            <a:ext cx="658368" cy="256032"/>
          </a:xfrm>
          <a:prstGeom prst="rect">
            <a:avLst/>
          </a:prstGeom>
          <a:solidFill>
            <a:srgbClr val="FFFFFF">
              <a:alpha val="80000"/>
            </a:srgbClr>
          </a:solidFill>
          <a:ln/>
        </p:spPr>
      </p:sp>
      <p:sp>
        <p:nvSpPr>
          <p:cNvPr id="26" name="Text 24"/>
          <p:cNvSpPr/>
          <p:nvPr/>
        </p:nvSpPr>
        <p:spPr>
          <a:xfrm>
            <a:off x="8165592" y="2432304"/>
            <a:ext cx="658368" cy="256032"/>
          </a:xfrm>
          <a:prstGeom prst="rect">
            <a:avLst/>
          </a:prstGeom>
          <a:noFill/>
          <a:ln/>
        </p:spPr>
        <p:txBody>
          <a:bodyPr wrap="square" rtlCol="0" anchor="ctr"/>
          <a:lstStyle/>
          <a:p>
            <a:pPr marL="0" indent="0" algn="ctr">
              <a:buNone/>
            </a:pPr>
            <a:r>
              <a:rPr lang="en-US" sz="850" b="1" dirty="0">
                <a:latin typeface="Calibri" pitchFamily="34" charset="0"/>
                <a:ea typeface="Calibri" pitchFamily="34" charset="-122"/>
                <a:cs typeface="Calibri" pitchFamily="34" charset="-120"/>
              </a:rPr>
              <a:t>MED</a:t>
            </a:r>
            <a:endParaRPr lang="en-US" sz="850" dirty="0"/>
          </a:p>
        </p:txBody>
      </p:sp>
      <p:sp>
        <p:nvSpPr>
          <p:cNvPr id="27" name="Text 25"/>
          <p:cNvSpPr/>
          <p:nvPr/>
        </p:nvSpPr>
        <p:spPr>
          <a:xfrm>
            <a:off x="4828032" y="2432304"/>
            <a:ext cx="3246120" cy="25603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Integrate Battery Storage for Off-Peak Hours</a:t>
            </a:r>
            <a:endParaRPr lang="en-US" sz="1100" dirty="0"/>
          </a:p>
        </p:txBody>
      </p:sp>
      <p:sp>
        <p:nvSpPr>
          <p:cNvPr id="28" name="Text 26"/>
          <p:cNvSpPr/>
          <p:nvPr/>
        </p:nvSpPr>
        <p:spPr>
          <a:xfrm>
            <a:off x="4828032" y="2807208"/>
            <a:ext cx="4005072" cy="7132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Hours 0–5 and 20–23 yield zero generation. Battery Energy Storage Systems (BESS) can capture excess midday power for discharge in evening hours, lifting the effective capacity factor from 16.5% toward 22%.</a:t>
            </a:r>
            <a:endParaRPr lang="en-US" sz="1000" dirty="0"/>
          </a:p>
        </p:txBody>
      </p:sp>
      <p:sp>
        <p:nvSpPr>
          <p:cNvPr id="29" name="Shape 27"/>
          <p:cNvSpPr/>
          <p:nvPr/>
        </p:nvSpPr>
        <p:spPr>
          <a:xfrm>
            <a:off x="274320" y="3703320"/>
            <a:ext cx="4206240" cy="1188720"/>
          </a:xfrm>
          <a:prstGeom prst="rect">
            <a:avLst/>
          </a:prstGeom>
          <a:solidFill>
            <a:srgbClr val="FFFFFF"/>
          </a:solidFill>
          <a:ln/>
          <a:effectLst>
            <a:outerShdw blurRad="101600" dist="38100" dir="8100000" algn="bl" rotWithShape="0">
              <a:srgbClr val="000000">
                <a:alpha val="12000"/>
              </a:srgbClr>
            </a:outerShdw>
          </a:effectLst>
        </p:spPr>
      </p:sp>
      <p:sp>
        <p:nvSpPr>
          <p:cNvPr id="30" name="Shape 28"/>
          <p:cNvSpPr/>
          <p:nvPr/>
        </p:nvSpPr>
        <p:spPr>
          <a:xfrm>
            <a:off x="274320" y="3703320"/>
            <a:ext cx="4206240" cy="365760"/>
          </a:xfrm>
          <a:prstGeom prst="rect">
            <a:avLst/>
          </a:prstGeom>
          <a:solidFill>
            <a:srgbClr val="243460"/>
          </a:solidFill>
          <a:ln/>
        </p:spPr>
      </p:sp>
      <p:sp>
        <p:nvSpPr>
          <p:cNvPr id="31" name="Shape 29"/>
          <p:cNvSpPr/>
          <p:nvPr/>
        </p:nvSpPr>
        <p:spPr>
          <a:xfrm>
            <a:off x="3703320" y="3758184"/>
            <a:ext cx="658368" cy="256032"/>
          </a:xfrm>
          <a:prstGeom prst="rect">
            <a:avLst/>
          </a:prstGeom>
          <a:solidFill>
            <a:srgbClr val="FFFFFF">
              <a:alpha val="80000"/>
            </a:srgbClr>
          </a:solidFill>
          <a:ln/>
        </p:spPr>
      </p:sp>
      <p:sp>
        <p:nvSpPr>
          <p:cNvPr id="32" name="Text 30"/>
          <p:cNvSpPr/>
          <p:nvPr/>
        </p:nvSpPr>
        <p:spPr>
          <a:xfrm>
            <a:off x="3703320" y="3758184"/>
            <a:ext cx="658368" cy="256032"/>
          </a:xfrm>
          <a:prstGeom prst="rect">
            <a:avLst/>
          </a:prstGeom>
          <a:noFill/>
          <a:ln/>
        </p:spPr>
        <p:txBody>
          <a:bodyPr wrap="square" rtlCol="0" anchor="ctr"/>
          <a:lstStyle/>
          <a:p>
            <a:pPr marL="0" indent="0" algn="ctr">
              <a:buNone/>
            </a:pPr>
            <a:r>
              <a:rPr lang="en-US" sz="850" b="1" dirty="0">
                <a:latin typeface="Calibri" pitchFamily="34" charset="0"/>
                <a:ea typeface="Calibri" pitchFamily="34" charset="-122"/>
                <a:cs typeface="Calibri" pitchFamily="34" charset="-120"/>
              </a:rPr>
              <a:t>MED</a:t>
            </a:r>
            <a:endParaRPr lang="en-US" sz="850" dirty="0"/>
          </a:p>
        </p:txBody>
      </p:sp>
      <p:sp>
        <p:nvSpPr>
          <p:cNvPr id="33" name="Text 31"/>
          <p:cNvSpPr/>
          <p:nvPr/>
        </p:nvSpPr>
        <p:spPr>
          <a:xfrm>
            <a:off x="365760" y="3758184"/>
            <a:ext cx="3246120" cy="25603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Implement Summer Heat Management</a:t>
            </a:r>
            <a:endParaRPr lang="en-US" sz="1100" dirty="0"/>
          </a:p>
        </p:txBody>
      </p:sp>
      <p:sp>
        <p:nvSpPr>
          <p:cNvPr id="34" name="Text 32"/>
          <p:cNvSpPr/>
          <p:nvPr/>
        </p:nvSpPr>
        <p:spPr>
          <a:xfrm>
            <a:off x="365760" y="4133088"/>
            <a:ext cx="4005072" cy="7132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The July–August plateau despite long daylight hours suggests heat-related efficiency losses. Evaluate panel cooling technologies, cleaning schedules, and optimal tilt angle adjustments for summer months.</a:t>
            </a:r>
            <a:endParaRPr lang="en-US" sz="1000" dirty="0"/>
          </a:p>
        </p:txBody>
      </p:sp>
      <p:sp>
        <p:nvSpPr>
          <p:cNvPr id="35" name="Shape 33"/>
          <p:cNvSpPr/>
          <p:nvPr/>
        </p:nvSpPr>
        <p:spPr>
          <a:xfrm>
            <a:off x="4736592" y="3703320"/>
            <a:ext cx="4206240" cy="1188720"/>
          </a:xfrm>
          <a:prstGeom prst="rect">
            <a:avLst/>
          </a:prstGeom>
          <a:solidFill>
            <a:srgbClr val="FFFFFF"/>
          </a:solidFill>
          <a:ln/>
          <a:effectLst>
            <a:outerShdw blurRad="101600" dist="38100" dir="8100000" algn="bl" rotWithShape="0">
              <a:srgbClr val="000000">
                <a:alpha val="12000"/>
              </a:srgbClr>
            </a:outerShdw>
          </a:effectLst>
        </p:spPr>
      </p:sp>
      <p:sp>
        <p:nvSpPr>
          <p:cNvPr id="36" name="Shape 34"/>
          <p:cNvSpPr/>
          <p:nvPr/>
        </p:nvSpPr>
        <p:spPr>
          <a:xfrm>
            <a:off x="4736592" y="3703320"/>
            <a:ext cx="4206240" cy="365760"/>
          </a:xfrm>
          <a:prstGeom prst="rect">
            <a:avLst/>
          </a:prstGeom>
          <a:solidFill>
            <a:srgbClr val="2E4080"/>
          </a:solidFill>
          <a:ln/>
        </p:spPr>
      </p:sp>
      <p:sp>
        <p:nvSpPr>
          <p:cNvPr id="37" name="Shape 35"/>
          <p:cNvSpPr/>
          <p:nvPr/>
        </p:nvSpPr>
        <p:spPr>
          <a:xfrm>
            <a:off x="8165592" y="3758184"/>
            <a:ext cx="658368" cy="256032"/>
          </a:xfrm>
          <a:prstGeom prst="rect">
            <a:avLst/>
          </a:prstGeom>
          <a:solidFill>
            <a:srgbClr val="FFFFFF">
              <a:alpha val="80000"/>
            </a:srgbClr>
          </a:solidFill>
          <a:ln/>
        </p:spPr>
      </p:sp>
      <p:sp>
        <p:nvSpPr>
          <p:cNvPr id="38" name="Text 36"/>
          <p:cNvSpPr/>
          <p:nvPr/>
        </p:nvSpPr>
        <p:spPr>
          <a:xfrm>
            <a:off x="8165592" y="3758184"/>
            <a:ext cx="658368" cy="256032"/>
          </a:xfrm>
          <a:prstGeom prst="rect">
            <a:avLst/>
          </a:prstGeom>
          <a:noFill/>
          <a:ln/>
        </p:spPr>
        <p:txBody>
          <a:bodyPr wrap="square" rtlCol="0" anchor="ctr"/>
          <a:lstStyle/>
          <a:p>
            <a:pPr marL="0" indent="0" algn="ctr">
              <a:buNone/>
            </a:pPr>
            <a:r>
              <a:rPr lang="en-US" sz="850" b="1" dirty="0">
                <a:latin typeface="Calibri" pitchFamily="34" charset="0"/>
                <a:ea typeface="Calibri" pitchFamily="34" charset="-122"/>
                <a:cs typeface="Calibri" pitchFamily="34" charset="-120"/>
              </a:rPr>
              <a:t>LOW</a:t>
            </a:r>
            <a:endParaRPr lang="en-US" sz="850" dirty="0"/>
          </a:p>
        </p:txBody>
      </p:sp>
      <p:sp>
        <p:nvSpPr>
          <p:cNvPr id="39" name="Text 37"/>
          <p:cNvSpPr/>
          <p:nvPr/>
        </p:nvSpPr>
        <p:spPr>
          <a:xfrm>
            <a:off x="4828032" y="3758184"/>
            <a:ext cx="3246120" cy="25603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Expand DPV Monitoring &amp; Analytics</a:t>
            </a:r>
            <a:endParaRPr lang="en-US" sz="1100" dirty="0"/>
          </a:p>
        </p:txBody>
      </p:sp>
      <p:sp>
        <p:nvSpPr>
          <p:cNvPr id="40" name="Text 38"/>
          <p:cNvSpPr/>
          <p:nvPr/>
        </p:nvSpPr>
        <p:spPr>
          <a:xfrm>
            <a:off x="4828032" y="4133088"/>
            <a:ext cx="4005072" cy="7132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While DPV generates less per site, aggregate output is substantial. Enhance per-site monitoring for DPV to identify underperforming units within the distributed network and enable targeted maintenance.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914400" y="3200400"/>
            <a:ext cx="4114800" cy="4114800"/>
          </a:xfrm>
          <a:prstGeom prst="ellipse">
            <a:avLst/>
          </a:prstGeom>
          <a:solidFill>
            <a:srgbClr val="F5C518">
              <a:alpha val="18000"/>
            </a:srgbClr>
          </a:solidFill>
          <a:ln/>
        </p:spPr>
      </p:sp>
      <p:sp>
        <p:nvSpPr>
          <p:cNvPr id="3" name="Shape 1"/>
          <p:cNvSpPr/>
          <p:nvPr/>
        </p:nvSpPr>
        <p:spPr>
          <a:xfrm>
            <a:off x="7315200" y="-1371600"/>
            <a:ext cx="3657600" cy="3657600"/>
          </a:xfrm>
          <a:prstGeom prst="ellipse">
            <a:avLst/>
          </a:prstGeom>
          <a:solidFill>
            <a:srgbClr val="E87C1E">
              <a:alpha val="22000"/>
            </a:srgbClr>
          </a:solidFill>
          <a:ln/>
        </p:spPr>
      </p:sp>
      <p:sp>
        <p:nvSpPr>
          <p:cNvPr id="4" name="Shape 2"/>
          <p:cNvSpPr/>
          <p:nvPr/>
        </p:nvSpPr>
        <p:spPr>
          <a:xfrm>
            <a:off x="0" y="0"/>
            <a:ext cx="9144000" cy="960120"/>
          </a:xfrm>
          <a:prstGeom prst="rect">
            <a:avLst/>
          </a:prstGeom>
          <a:solidFill>
            <a:srgbClr val="E87C1E"/>
          </a:solidFill>
          <a:ln/>
        </p:spPr>
      </p:sp>
      <p:sp>
        <p:nvSpPr>
          <p:cNvPr id="5" name="Text 3"/>
          <p:cNvSpPr/>
          <p:nvPr/>
        </p:nvSpPr>
        <p:spPr>
          <a:xfrm>
            <a:off x="457200" y="164592"/>
            <a:ext cx="8229600" cy="5029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CONCLUSION</a:t>
            </a:r>
            <a:endParaRPr lang="en-US" sz="3000" dirty="0"/>
          </a:p>
        </p:txBody>
      </p:sp>
      <p:sp>
        <p:nvSpPr>
          <p:cNvPr id="6" name="Text 4"/>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F8F6F0"/>
                </a:solidFill>
              </a:rPr>
              <a:t>Summary of Findings &amp; Final Thoughts</a:t>
            </a:r>
            <a:endParaRPr lang="en-US" sz="1300" dirty="0"/>
          </a:p>
        </p:txBody>
      </p:sp>
      <p:sp>
        <p:nvSpPr>
          <p:cNvPr id="7" name="Shape 5"/>
          <p:cNvSpPr/>
          <p:nvPr/>
        </p:nvSpPr>
        <p:spPr>
          <a:xfrm>
            <a:off x="274320" y="1051560"/>
            <a:ext cx="8595360" cy="960120"/>
          </a:xfrm>
          <a:prstGeom prst="rect">
            <a:avLst/>
          </a:prstGeom>
          <a:solidFill>
            <a:srgbClr val="243460"/>
          </a:solidFill>
          <a:ln/>
        </p:spPr>
      </p:sp>
      <p:sp>
        <p:nvSpPr>
          <p:cNvPr id="8" name="Text 6"/>
          <p:cNvSpPr/>
          <p:nvPr/>
        </p:nvSpPr>
        <p:spPr>
          <a:xfrm>
            <a:off x="411480" y="1097280"/>
            <a:ext cx="8321040" cy="868680"/>
          </a:xfrm>
          <a:prstGeom prst="rect">
            <a:avLst/>
          </a:prstGeom>
          <a:noFill/>
          <a:ln/>
        </p:spPr>
        <p:txBody>
          <a:bodyPr wrap="square" rtlCol="0" anchor="ctr"/>
          <a:lstStyle/>
          <a:p>
            <a:pPr marL="0" indent="0">
              <a:buNone/>
            </a:pPr>
            <a:r>
              <a:rPr lang="en-US" sz="1150" i="1" dirty="0">
                <a:solidFill>
                  <a:srgbClr val="FFFFFF"/>
                </a:solidFill>
                <a:latin typeface="Calibri" pitchFamily="34" charset="0"/>
                <a:ea typeface="Calibri" pitchFamily="34" charset="-122"/>
                <a:cs typeface="Calibri" pitchFamily="34" charset="-120"/>
              </a:rPr>
              <a:t>This analysis of the Solar Power Generation dataset has successfully delivered a comprehensive business intelligence view of a multi-site solar portfolio generating 7.69M MW of total energy. Using Power BI, we transformed raw data into actionable insights spanning temporal trends, site-type performance, and capacity utilization analysis.</a:t>
            </a:r>
            <a:endParaRPr lang="en-US" sz="1150" dirty="0"/>
          </a:p>
        </p:txBody>
      </p:sp>
      <p:sp>
        <p:nvSpPr>
          <p:cNvPr id="9" name="Shape 7"/>
          <p:cNvSpPr/>
          <p:nvPr/>
        </p:nvSpPr>
        <p:spPr>
          <a:xfrm>
            <a:off x="274320" y="2084832"/>
            <a:ext cx="4206240" cy="2331720"/>
          </a:xfrm>
          <a:prstGeom prst="rect">
            <a:avLst/>
          </a:prstGeom>
          <a:solidFill>
            <a:srgbClr val="2E4080"/>
          </a:solidFill>
          <a:ln/>
        </p:spPr>
      </p:sp>
      <p:sp>
        <p:nvSpPr>
          <p:cNvPr id="10" name="Text 8"/>
          <p:cNvSpPr/>
          <p:nvPr/>
        </p:nvSpPr>
        <p:spPr>
          <a:xfrm>
            <a:off x="411480" y="2148840"/>
            <a:ext cx="3931920" cy="320040"/>
          </a:xfrm>
          <a:prstGeom prst="rect">
            <a:avLst/>
          </a:prstGeom>
          <a:noFill/>
          <a:ln/>
        </p:spPr>
        <p:txBody>
          <a:bodyPr wrap="square" rtlCol="0" anchor="ctr"/>
          <a:lstStyle/>
          <a:p>
            <a:pPr marL="0" indent="0">
              <a:buNone/>
            </a:pPr>
            <a:r>
              <a:rPr lang="en-US" sz="1300" b="1" dirty="0">
                <a:solidFill>
                  <a:srgbClr val="F5C518"/>
                </a:solidFill>
                <a:latin typeface="Calibri" pitchFamily="34" charset="0"/>
                <a:ea typeface="Calibri" pitchFamily="34" charset="-122"/>
                <a:cs typeface="Calibri" pitchFamily="34" charset="-120"/>
              </a:rPr>
              <a:t>Key Findings</a:t>
            </a:r>
            <a:endParaRPr lang="en-US" sz="1300" dirty="0"/>
          </a:p>
        </p:txBody>
      </p:sp>
      <p:sp>
        <p:nvSpPr>
          <p:cNvPr id="11" name="Text 9"/>
          <p:cNvSpPr/>
          <p:nvPr/>
        </p:nvSpPr>
        <p:spPr>
          <a:xfrm>
            <a:off x="384048" y="2542032"/>
            <a:ext cx="3977640" cy="1783080"/>
          </a:xfrm>
          <a:prstGeom prst="rect">
            <a:avLst/>
          </a:prstGeom>
          <a:noFill/>
          <a:ln/>
        </p:spPr>
        <p:txBody>
          <a:bodyPr wrap="square" rtlCol="0" anchor="ctr"/>
          <a:lstStyle/>
          <a:p>
            <a:pPr marL="0" indent="0">
              <a:buNone/>
            </a:pPr>
            <a:r>
              <a:rPr lang="en-US" sz="1050" dirty="0">
                <a:solidFill>
                  <a:srgbClr val="FFFFFF"/>
                </a:solidFill>
              </a:rPr>
              <a:t>✅  Seasonal dependency confirmed — 60% swing Dec to May</a:t>
            </a:r>
            <a:endParaRPr lang="en-US" sz="1050" dirty="0"/>
          </a:p>
          <a:p>
            <a:pPr marL="0" indent="0">
              <a:buNone/>
            </a:pPr>
            <a:r>
              <a:rPr lang="en-US" sz="1050" dirty="0">
                <a:solidFill>
                  <a:srgbClr val="FFFFFF"/>
                </a:solidFill>
              </a:rPr>
              <a:t>✅  Hourly bell curve peaks at 25 MW at Hour 13</a:t>
            </a:r>
            <a:endParaRPr lang="en-US" sz="1050" dirty="0"/>
          </a:p>
          <a:p>
            <a:pPr marL="0" indent="0">
              <a:buNone/>
            </a:pPr>
            <a:r>
              <a:rPr lang="en-US" sz="1050" dirty="0">
                <a:solidFill>
                  <a:srgbClr val="FFFFFF"/>
                </a:solidFill>
              </a:rPr>
              <a:t>✅  UPV sites drive ~65% of total portfolio generation</a:t>
            </a:r>
            <a:endParaRPr lang="en-US" sz="1050" dirty="0"/>
          </a:p>
          <a:p>
            <a:pPr marL="0" indent="0">
              <a:buNone/>
            </a:pPr>
            <a:r>
              <a:rPr lang="en-US" sz="1050" dirty="0">
                <a:solidFill>
                  <a:srgbClr val="FFFFFF"/>
                </a:solidFill>
              </a:rPr>
              <a:t>✅  High peak efficiency of 93.3% at maximum output</a:t>
            </a:r>
            <a:endParaRPr lang="en-US" sz="1050" dirty="0"/>
          </a:p>
          <a:p>
            <a:pPr marL="0" indent="0">
              <a:buNone/>
            </a:pPr>
            <a:r>
              <a:rPr lang="en-US" sz="1050" dirty="0">
                <a:solidFill>
                  <a:srgbClr val="FFFFFF"/>
                </a:solidFill>
              </a:rPr>
              <a:t>⚠  Day 30 anomaly requires urgent investigation and RCA</a:t>
            </a:r>
            <a:endParaRPr lang="en-US" sz="1050" dirty="0"/>
          </a:p>
        </p:txBody>
      </p:sp>
      <p:sp>
        <p:nvSpPr>
          <p:cNvPr id="12" name="Shape 10"/>
          <p:cNvSpPr/>
          <p:nvPr/>
        </p:nvSpPr>
        <p:spPr>
          <a:xfrm>
            <a:off x="4663440" y="2084832"/>
            <a:ext cx="4206240" cy="2331720"/>
          </a:xfrm>
          <a:prstGeom prst="rect">
            <a:avLst/>
          </a:prstGeom>
          <a:solidFill>
            <a:srgbClr val="243460"/>
          </a:solidFill>
          <a:ln/>
        </p:spPr>
      </p:sp>
      <p:sp>
        <p:nvSpPr>
          <p:cNvPr id="13" name="Text 11"/>
          <p:cNvSpPr/>
          <p:nvPr/>
        </p:nvSpPr>
        <p:spPr>
          <a:xfrm>
            <a:off x="4800600" y="2148840"/>
            <a:ext cx="3931920" cy="320040"/>
          </a:xfrm>
          <a:prstGeom prst="rect">
            <a:avLst/>
          </a:prstGeom>
          <a:noFill/>
          <a:ln/>
        </p:spPr>
        <p:txBody>
          <a:bodyPr wrap="square" rtlCol="0" anchor="ctr"/>
          <a:lstStyle/>
          <a:p>
            <a:pPr marL="0" indent="0">
              <a:buNone/>
            </a:pPr>
            <a:r>
              <a:rPr lang="en-US" sz="1300" b="1" dirty="0">
                <a:solidFill>
                  <a:srgbClr val="F5C518"/>
                </a:solidFill>
                <a:latin typeface="Calibri" pitchFamily="34" charset="0"/>
                <a:ea typeface="Calibri" pitchFamily="34" charset="-122"/>
                <a:cs typeface="Calibri" pitchFamily="34" charset="-120"/>
              </a:rPr>
              <a:t>Strategic Actions</a:t>
            </a:r>
            <a:endParaRPr lang="en-US" sz="1300" dirty="0"/>
          </a:p>
        </p:txBody>
      </p:sp>
      <p:sp>
        <p:nvSpPr>
          <p:cNvPr id="14" name="Text 12"/>
          <p:cNvSpPr/>
          <p:nvPr/>
        </p:nvSpPr>
        <p:spPr>
          <a:xfrm>
            <a:off x="4773168" y="2542032"/>
            <a:ext cx="3977640" cy="1783080"/>
          </a:xfrm>
          <a:prstGeom prst="rect">
            <a:avLst/>
          </a:prstGeom>
          <a:noFill/>
          <a:ln/>
        </p:spPr>
        <p:txBody>
          <a:bodyPr wrap="square" rtlCol="0" anchor="ctr"/>
          <a:lstStyle/>
          <a:p>
            <a:pPr marL="0" indent="0">
              <a:buNone/>
            </a:pPr>
            <a:r>
              <a:rPr lang="en-US" sz="1050" dirty="0">
                <a:solidFill>
                  <a:srgbClr val="FFFFFF"/>
                </a:solidFill>
              </a:rPr>
              <a:t>🎯  Build 12-month rolling seasonal generation forecasts</a:t>
            </a:r>
            <a:endParaRPr lang="en-US" sz="1050" dirty="0"/>
          </a:p>
          <a:p>
            <a:pPr marL="0" indent="0">
              <a:buNone/>
            </a:pPr>
            <a:r>
              <a:rPr lang="en-US" sz="1050" dirty="0">
                <a:solidFill>
                  <a:srgbClr val="FFFFFF"/>
                </a:solidFill>
              </a:rPr>
              <a:t>🎯  Prioritize UPV expansion for highest portfolio ROI</a:t>
            </a:r>
            <a:endParaRPr lang="en-US" sz="1050" dirty="0"/>
          </a:p>
          <a:p>
            <a:pPr marL="0" indent="0">
              <a:buNone/>
            </a:pPr>
            <a:r>
              <a:rPr lang="en-US" sz="1050" dirty="0">
                <a:solidFill>
                  <a:srgbClr val="FFFFFF"/>
                </a:solidFill>
              </a:rPr>
              <a:t>🎯  Integrate BESS to extend generation into evening hours</a:t>
            </a:r>
            <a:endParaRPr lang="en-US" sz="1050" dirty="0"/>
          </a:p>
          <a:p>
            <a:pPr marL="0" indent="0">
              <a:buNone/>
            </a:pPr>
            <a:r>
              <a:rPr lang="en-US" sz="1050" dirty="0">
                <a:solidFill>
                  <a:srgbClr val="FFFFFF"/>
                </a:solidFill>
              </a:rPr>
              <a:t>🎯  Implement heat management protocols for summer months</a:t>
            </a:r>
            <a:endParaRPr lang="en-US" sz="1050" dirty="0"/>
          </a:p>
          <a:p>
            <a:pPr marL="0" indent="0">
              <a:buNone/>
            </a:pPr>
            <a:r>
              <a:rPr lang="en-US" sz="1050" dirty="0">
                <a:solidFill>
                  <a:srgbClr val="FFFFFF"/>
                </a:solidFill>
              </a:rPr>
              <a:t>🎯  Automate generation decline alerts for real-time ops</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8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744"/>
          </a:solidFill>
          <a:ln/>
        </p:spPr>
      </p:sp>
      <p:sp>
        <p:nvSpPr>
          <p:cNvPr id="3" name="Text 1"/>
          <p:cNvSpPr/>
          <p:nvPr/>
        </p:nvSpPr>
        <p:spPr>
          <a:xfrm>
            <a:off x="457200" y="164592"/>
            <a:ext cx="8229600" cy="502920"/>
          </a:xfrm>
          <a:prstGeom prst="rect">
            <a:avLst/>
          </a:prstGeom>
          <a:noFill/>
          <a:ln/>
        </p:spPr>
        <p:txBody>
          <a:bodyPr wrap="square" rtlCol="0" anchor="ctr"/>
          <a:lstStyle/>
          <a:p>
            <a:pPr marL="0" indent="0">
              <a:buNone/>
            </a:pPr>
            <a:r>
              <a:rPr lang="en-US" sz="3000" b="1" dirty="0">
                <a:solidFill>
                  <a:srgbClr val="F5C518"/>
                </a:solidFill>
                <a:latin typeface="Calibri" pitchFamily="34" charset="0"/>
                <a:ea typeface="Calibri" pitchFamily="34" charset="-122"/>
                <a:cs typeface="Calibri" pitchFamily="34" charset="-120"/>
              </a:rPr>
              <a:t>FUTURE SCOPE</a:t>
            </a:r>
            <a:endParaRPr lang="en-US" sz="3000" dirty="0"/>
          </a:p>
        </p:txBody>
      </p:sp>
      <p:sp>
        <p:nvSpPr>
          <p:cNvPr id="4" name="Text 2"/>
          <p:cNvSpPr/>
          <p:nvPr/>
        </p:nvSpPr>
        <p:spPr>
          <a:xfrm>
            <a:off x="457200" y="594360"/>
            <a:ext cx="8229600" cy="320040"/>
          </a:xfrm>
          <a:prstGeom prst="rect">
            <a:avLst/>
          </a:prstGeom>
          <a:noFill/>
          <a:ln/>
        </p:spPr>
        <p:txBody>
          <a:bodyPr wrap="square" rtlCol="0" anchor="ctr"/>
          <a:lstStyle/>
          <a:p>
            <a:pPr marL="0" indent="0">
              <a:buNone/>
            </a:pPr>
            <a:r>
              <a:rPr lang="en-US" sz="1300" dirty="0">
                <a:solidFill>
                  <a:srgbClr val="E8E4DA"/>
                </a:solidFill>
              </a:rPr>
              <a:t>Opportunities for Further Analysis &amp; Improvement</a:t>
            </a:r>
            <a:endParaRPr lang="en-US" sz="1300" dirty="0"/>
          </a:p>
        </p:txBody>
      </p:sp>
      <p:sp>
        <p:nvSpPr>
          <p:cNvPr id="5" name="Shape 3"/>
          <p:cNvSpPr/>
          <p:nvPr/>
        </p:nvSpPr>
        <p:spPr>
          <a:xfrm>
            <a:off x="274320" y="1051560"/>
            <a:ext cx="2788920" cy="169164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274320" y="1051560"/>
            <a:ext cx="2788920" cy="384048"/>
          </a:xfrm>
          <a:prstGeom prst="rect">
            <a:avLst/>
          </a:prstGeom>
          <a:solidFill>
            <a:srgbClr val="1A2744"/>
          </a:solidFill>
          <a:ln/>
        </p:spPr>
      </p:sp>
      <p:sp>
        <p:nvSpPr>
          <p:cNvPr id="7" name="Shape 5"/>
          <p:cNvSpPr/>
          <p:nvPr/>
        </p:nvSpPr>
        <p:spPr>
          <a:xfrm>
            <a:off x="2514600" y="1115568"/>
            <a:ext cx="475488" cy="237744"/>
          </a:xfrm>
          <a:prstGeom prst="rect">
            <a:avLst/>
          </a:prstGeom>
          <a:solidFill>
            <a:srgbClr val="E87C1E"/>
          </a:solidFill>
          <a:ln/>
        </p:spPr>
      </p:sp>
      <p:sp>
        <p:nvSpPr>
          <p:cNvPr id="8" name="Text 6"/>
          <p:cNvSpPr/>
          <p:nvPr/>
        </p:nvSpPr>
        <p:spPr>
          <a:xfrm>
            <a:off x="2514600" y="1115568"/>
            <a:ext cx="475488"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2</a:t>
            </a:r>
            <a:endParaRPr lang="en-US" sz="800" dirty="0"/>
          </a:p>
        </p:txBody>
      </p:sp>
      <p:sp>
        <p:nvSpPr>
          <p:cNvPr id="9" name="Text 7"/>
          <p:cNvSpPr/>
          <p:nvPr/>
        </p:nvSpPr>
        <p:spPr>
          <a:xfrm>
            <a:off x="365760" y="1124712"/>
            <a:ext cx="2103120" cy="237744"/>
          </a:xfrm>
          <a:prstGeom prst="rect">
            <a:avLst/>
          </a:prstGeom>
          <a:noFill/>
          <a:ln/>
        </p:spPr>
        <p:txBody>
          <a:bodyPr wrap="square" rtlCol="0" anchor="ctr"/>
          <a:lstStyle/>
          <a:p>
            <a:pPr marL="0" indent="0">
              <a:buNone/>
            </a:pPr>
            <a:r>
              <a:rPr lang="en-US" sz="1050" b="1" dirty="0">
                <a:solidFill>
                  <a:srgbClr val="F5C518"/>
                </a:solidFill>
                <a:latin typeface="Calibri" pitchFamily="34" charset="0"/>
                <a:ea typeface="Calibri" pitchFamily="34" charset="-122"/>
                <a:cs typeface="Calibri" pitchFamily="34" charset="-120"/>
              </a:rPr>
              <a:t>🤖  Predictive ML Models</a:t>
            </a:r>
            <a:endParaRPr lang="en-US" sz="1050" dirty="0"/>
          </a:p>
        </p:txBody>
      </p:sp>
      <p:sp>
        <p:nvSpPr>
          <p:cNvPr id="10" name="Text 8"/>
          <p:cNvSpPr/>
          <p:nvPr/>
        </p:nvSpPr>
        <p:spPr>
          <a:xfrm>
            <a:off x="365760" y="1508760"/>
            <a:ext cx="2606040" cy="11704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Build machine learning models (Random Forest, LSTM) to forecast hourly and daily power output using weather data (irradiance, temperature, cloud cover) as input features.</a:t>
            </a:r>
            <a:endParaRPr lang="en-US" sz="1000" dirty="0"/>
          </a:p>
        </p:txBody>
      </p:sp>
      <p:sp>
        <p:nvSpPr>
          <p:cNvPr id="11" name="Shape 9"/>
          <p:cNvSpPr/>
          <p:nvPr/>
        </p:nvSpPr>
        <p:spPr>
          <a:xfrm>
            <a:off x="3218688" y="1051560"/>
            <a:ext cx="2788920" cy="1691640"/>
          </a:xfrm>
          <a:prstGeom prst="rect">
            <a:avLst/>
          </a:prstGeom>
          <a:solidFill>
            <a:srgbClr val="FFFFFF"/>
          </a:solidFill>
          <a:ln/>
          <a:effectLst>
            <a:outerShdw blurRad="101600" dist="38100" dir="8100000" algn="bl" rotWithShape="0">
              <a:srgbClr val="000000">
                <a:alpha val="12000"/>
              </a:srgbClr>
            </a:outerShdw>
          </a:effectLst>
        </p:spPr>
      </p:sp>
      <p:sp>
        <p:nvSpPr>
          <p:cNvPr id="12" name="Shape 10"/>
          <p:cNvSpPr/>
          <p:nvPr/>
        </p:nvSpPr>
        <p:spPr>
          <a:xfrm>
            <a:off x="3218688" y="1051560"/>
            <a:ext cx="2788920" cy="384048"/>
          </a:xfrm>
          <a:prstGeom prst="rect">
            <a:avLst/>
          </a:prstGeom>
          <a:solidFill>
            <a:srgbClr val="1A2744"/>
          </a:solidFill>
          <a:ln/>
        </p:spPr>
      </p:sp>
      <p:sp>
        <p:nvSpPr>
          <p:cNvPr id="13" name="Shape 11"/>
          <p:cNvSpPr/>
          <p:nvPr/>
        </p:nvSpPr>
        <p:spPr>
          <a:xfrm>
            <a:off x="5458968" y="1115568"/>
            <a:ext cx="475488" cy="237744"/>
          </a:xfrm>
          <a:prstGeom prst="rect">
            <a:avLst/>
          </a:prstGeom>
          <a:solidFill>
            <a:srgbClr val="E87C1E"/>
          </a:solidFill>
          <a:ln/>
        </p:spPr>
      </p:sp>
      <p:sp>
        <p:nvSpPr>
          <p:cNvPr id="14" name="Text 12"/>
          <p:cNvSpPr/>
          <p:nvPr/>
        </p:nvSpPr>
        <p:spPr>
          <a:xfrm>
            <a:off x="5458968" y="1115568"/>
            <a:ext cx="475488"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2</a:t>
            </a:r>
            <a:endParaRPr lang="en-US" sz="800" dirty="0"/>
          </a:p>
        </p:txBody>
      </p:sp>
      <p:sp>
        <p:nvSpPr>
          <p:cNvPr id="15" name="Text 13"/>
          <p:cNvSpPr/>
          <p:nvPr/>
        </p:nvSpPr>
        <p:spPr>
          <a:xfrm>
            <a:off x="3310128" y="1124712"/>
            <a:ext cx="2103120" cy="237744"/>
          </a:xfrm>
          <a:prstGeom prst="rect">
            <a:avLst/>
          </a:prstGeom>
          <a:noFill/>
          <a:ln/>
        </p:spPr>
        <p:txBody>
          <a:bodyPr wrap="square" rtlCol="0" anchor="ctr"/>
          <a:lstStyle/>
          <a:p>
            <a:pPr marL="0" indent="0">
              <a:buNone/>
            </a:pPr>
            <a:r>
              <a:rPr lang="en-US" sz="1050" b="1" dirty="0">
                <a:solidFill>
                  <a:srgbClr val="F5C518"/>
                </a:solidFill>
                <a:latin typeface="Calibri" pitchFamily="34" charset="0"/>
                <a:ea typeface="Calibri" pitchFamily="34" charset="-122"/>
                <a:cs typeface="Calibri" pitchFamily="34" charset="-120"/>
              </a:rPr>
              <a:t>🌦  Weather Data Integration</a:t>
            </a:r>
            <a:endParaRPr lang="en-US" sz="1050" dirty="0"/>
          </a:p>
        </p:txBody>
      </p:sp>
      <p:sp>
        <p:nvSpPr>
          <p:cNvPr id="16" name="Text 14"/>
          <p:cNvSpPr/>
          <p:nvPr/>
        </p:nvSpPr>
        <p:spPr>
          <a:xfrm>
            <a:off x="3310128" y="1508760"/>
            <a:ext cx="2606040" cy="11704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Connect external weather APIs (OpenWeatherMap, NASA POWER) to correlate generation performance with real-time and historical meteorological data for deeper root-cause analysis.</a:t>
            </a:r>
            <a:endParaRPr lang="en-US" sz="1000" dirty="0"/>
          </a:p>
        </p:txBody>
      </p:sp>
      <p:sp>
        <p:nvSpPr>
          <p:cNvPr id="17" name="Shape 15"/>
          <p:cNvSpPr/>
          <p:nvPr/>
        </p:nvSpPr>
        <p:spPr>
          <a:xfrm>
            <a:off x="6163056" y="1051560"/>
            <a:ext cx="2788920" cy="1691640"/>
          </a:xfrm>
          <a:prstGeom prst="rect">
            <a:avLst/>
          </a:prstGeom>
          <a:solidFill>
            <a:srgbClr val="FFFFFF"/>
          </a:solidFill>
          <a:ln/>
          <a:effectLst>
            <a:outerShdw blurRad="101600" dist="38100" dir="8100000" algn="bl" rotWithShape="0">
              <a:srgbClr val="000000">
                <a:alpha val="12000"/>
              </a:srgbClr>
            </a:outerShdw>
          </a:effectLst>
        </p:spPr>
      </p:sp>
      <p:sp>
        <p:nvSpPr>
          <p:cNvPr id="18" name="Shape 16"/>
          <p:cNvSpPr/>
          <p:nvPr/>
        </p:nvSpPr>
        <p:spPr>
          <a:xfrm>
            <a:off x="6163056" y="1051560"/>
            <a:ext cx="2788920" cy="384048"/>
          </a:xfrm>
          <a:prstGeom prst="rect">
            <a:avLst/>
          </a:prstGeom>
          <a:solidFill>
            <a:srgbClr val="1A2744"/>
          </a:solidFill>
          <a:ln/>
        </p:spPr>
      </p:sp>
      <p:sp>
        <p:nvSpPr>
          <p:cNvPr id="19" name="Shape 17"/>
          <p:cNvSpPr/>
          <p:nvPr/>
        </p:nvSpPr>
        <p:spPr>
          <a:xfrm>
            <a:off x="8403336" y="1115568"/>
            <a:ext cx="475488" cy="237744"/>
          </a:xfrm>
          <a:prstGeom prst="rect">
            <a:avLst/>
          </a:prstGeom>
          <a:solidFill>
            <a:srgbClr val="E87C1E"/>
          </a:solidFill>
          <a:ln/>
        </p:spPr>
      </p:sp>
      <p:sp>
        <p:nvSpPr>
          <p:cNvPr id="20" name="Text 18"/>
          <p:cNvSpPr/>
          <p:nvPr/>
        </p:nvSpPr>
        <p:spPr>
          <a:xfrm>
            <a:off x="8403336" y="1115568"/>
            <a:ext cx="475488"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3</a:t>
            </a:r>
            <a:endParaRPr lang="en-US" sz="800" dirty="0"/>
          </a:p>
        </p:txBody>
      </p:sp>
      <p:sp>
        <p:nvSpPr>
          <p:cNvPr id="21" name="Text 19"/>
          <p:cNvSpPr/>
          <p:nvPr/>
        </p:nvSpPr>
        <p:spPr>
          <a:xfrm>
            <a:off x="6254496" y="1124712"/>
            <a:ext cx="2103120" cy="237744"/>
          </a:xfrm>
          <a:prstGeom prst="rect">
            <a:avLst/>
          </a:prstGeom>
          <a:noFill/>
          <a:ln/>
        </p:spPr>
        <p:txBody>
          <a:bodyPr wrap="square" rtlCol="0" anchor="ctr"/>
          <a:lstStyle/>
          <a:p>
            <a:pPr marL="0" indent="0">
              <a:buNone/>
            </a:pPr>
            <a:r>
              <a:rPr lang="en-US" sz="1050" b="1" dirty="0">
                <a:solidFill>
                  <a:srgbClr val="F5C518"/>
                </a:solidFill>
                <a:latin typeface="Calibri" pitchFamily="34" charset="0"/>
                <a:ea typeface="Calibri" pitchFamily="34" charset="-122"/>
                <a:cs typeface="Calibri" pitchFamily="34" charset="-120"/>
              </a:rPr>
              <a:t>🔋  Battery Storage Optimization</a:t>
            </a:r>
            <a:endParaRPr lang="en-US" sz="1050" dirty="0"/>
          </a:p>
        </p:txBody>
      </p:sp>
      <p:sp>
        <p:nvSpPr>
          <p:cNvPr id="22" name="Text 20"/>
          <p:cNvSpPr/>
          <p:nvPr/>
        </p:nvSpPr>
        <p:spPr>
          <a:xfrm>
            <a:off x="6254496" y="1508760"/>
            <a:ext cx="2606040" cy="11704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Model the economic impact of adding BESS to store midday surplus. Simulate different storage capacities and discharge schedules to find the optimal configuration.</a:t>
            </a:r>
            <a:endParaRPr lang="en-US" sz="1000" dirty="0"/>
          </a:p>
        </p:txBody>
      </p:sp>
      <p:sp>
        <p:nvSpPr>
          <p:cNvPr id="23" name="Shape 21"/>
          <p:cNvSpPr/>
          <p:nvPr/>
        </p:nvSpPr>
        <p:spPr>
          <a:xfrm>
            <a:off x="274320" y="2971800"/>
            <a:ext cx="2788920" cy="1691640"/>
          </a:xfrm>
          <a:prstGeom prst="rect">
            <a:avLst/>
          </a:prstGeom>
          <a:solidFill>
            <a:srgbClr val="FFFFFF"/>
          </a:solidFill>
          <a:ln/>
          <a:effectLst>
            <a:outerShdw blurRad="101600" dist="38100" dir="8100000" algn="bl" rotWithShape="0">
              <a:srgbClr val="000000">
                <a:alpha val="12000"/>
              </a:srgbClr>
            </a:outerShdw>
          </a:effectLst>
        </p:spPr>
      </p:sp>
      <p:sp>
        <p:nvSpPr>
          <p:cNvPr id="24" name="Shape 22"/>
          <p:cNvSpPr/>
          <p:nvPr/>
        </p:nvSpPr>
        <p:spPr>
          <a:xfrm>
            <a:off x="274320" y="2971800"/>
            <a:ext cx="2788920" cy="384048"/>
          </a:xfrm>
          <a:prstGeom prst="rect">
            <a:avLst/>
          </a:prstGeom>
          <a:solidFill>
            <a:srgbClr val="1A2744"/>
          </a:solidFill>
          <a:ln/>
        </p:spPr>
      </p:sp>
      <p:sp>
        <p:nvSpPr>
          <p:cNvPr id="25" name="Shape 23"/>
          <p:cNvSpPr/>
          <p:nvPr/>
        </p:nvSpPr>
        <p:spPr>
          <a:xfrm>
            <a:off x="2514600" y="3035808"/>
            <a:ext cx="475488" cy="237744"/>
          </a:xfrm>
          <a:prstGeom prst="rect">
            <a:avLst/>
          </a:prstGeom>
          <a:solidFill>
            <a:srgbClr val="E87C1E"/>
          </a:solidFill>
          <a:ln/>
        </p:spPr>
      </p:sp>
      <p:sp>
        <p:nvSpPr>
          <p:cNvPr id="26" name="Text 24"/>
          <p:cNvSpPr/>
          <p:nvPr/>
        </p:nvSpPr>
        <p:spPr>
          <a:xfrm>
            <a:off x="2514600" y="3035808"/>
            <a:ext cx="475488"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3</a:t>
            </a:r>
            <a:endParaRPr lang="en-US" sz="800" dirty="0"/>
          </a:p>
        </p:txBody>
      </p:sp>
      <p:sp>
        <p:nvSpPr>
          <p:cNvPr id="27" name="Text 25"/>
          <p:cNvSpPr/>
          <p:nvPr/>
        </p:nvSpPr>
        <p:spPr>
          <a:xfrm>
            <a:off x="365760" y="3044952"/>
            <a:ext cx="2103120" cy="237744"/>
          </a:xfrm>
          <a:prstGeom prst="rect">
            <a:avLst/>
          </a:prstGeom>
          <a:noFill/>
          <a:ln/>
        </p:spPr>
        <p:txBody>
          <a:bodyPr wrap="square" rtlCol="0" anchor="ctr"/>
          <a:lstStyle/>
          <a:p>
            <a:pPr marL="0" indent="0">
              <a:buNone/>
            </a:pPr>
            <a:r>
              <a:rPr lang="en-US" sz="1050" b="1" dirty="0">
                <a:solidFill>
                  <a:srgbClr val="F5C518"/>
                </a:solidFill>
                <a:latin typeface="Calibri" pitchFamily="34" charset="0"/>
                <a:ea typeface="Calibri" pitchFamily="34" charset="-122"/>
                <a:cs typeface="Calibri" pitchFamily="34" charset="-120"/>
              </a:rPr>
              <a:t>🗺  Geographic Performance Mapping</a:t>
            </a:r>
            <a:endParaRPr lang="en-US" sz="1050" dirty="0"/>
          </a:p>
        </p:txBody>
      </p:sp>
      <p:sp>
        <p:nvSpPr>
          <p:cNvPr id="28" name="Text 26"/>
          <p:cNvSpPr/>
          <p:nvPr/>
        </p:nvSpPr>
        <p:spPr>
          <a:xfrm>
            <a:off x="365760" y="3429000"/>
            <a:ext cx="2606040" cy="11704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Enrich dataset with GPS coordinates for each installation. Use ArcGIS or Power BI Maps to visualize geographic generation hotspots and identify optimal expansion locations.</a:t>
            </a:r>
            <a:endParaRPr lang="en-US" sz="1000" dirty="0"/>
          </a:p>
        </p:txBody>
      </p:sp>
      <p:sp>
        <p:nvSpPr>
          <p:cNvPr id="29" name="Shape 27"/>
          <p:cNvSpPr/>
          <p:nvPr/>
        </p:nvSpPr>
        <p:spPr>
          <a:xfrm>
            <a:off x="3218688" y="2971800"/>
            <a:ext cx="2788920" cy="1691640"/>
          </a:xfrm>
          <a:prstGeom prst="rect">
            <a:avLst/>
          </a:prstGeom>
          <a:solidFill>
            <a:srgbClr val="FFFFFF"/>
          </a:solidFill>
          <a:ln/>
          <a:effectLst>
            <a:outerShdw blurRad="101600" dist="38100" dir="8100000" algn="bl" rotWithShape="0">
              <a:srgbClr val="000000">
                <a:alpha val="12000"/>
              </a:srgbClr>
            </a:outerShdw>
          </a:effectLst>
        </p:spPr>
      </p:sp>
      <p:sp>
        <p:nvSpPr>
          <p:cNvPr id="30" name="Shape 28"/>
          <p:cNvSpPr/>
          <p:nvPr/>
        </p:nvSpPr>
        <p:spPr>
          <a:xfrm>
            <a:off x="3218688" y="2971800"/>
            <a:ext cx="2788920" cy="384048"/>
          </a:xfrm>
          <a:prstGeom prst="rect">
            <a:avLst/>
          </a:prstGeom>
          <a:solidFill>
            <a:srgbClr val="1A2744"/>
          </a:solidFill>
          <a:ln/>
        </p:spPr>
      </p:sp>
      <p:sp>
        <p:nvSpPr>
          <p:cNvPr id="31" name="Shape 29"/>
          <p:cNvSpPr/>
          <p:nvPr/>
        </p:nvSpPr>
        <p:spPr>
          <a:xfrm>
            <a:off x="5458968" y="3035808"/>
            <a:ext cx="475488" cy="237744"/>
          </a:xfrm>
          <a:prstGeom prst="rect">
            <a:avLst/>
          </a:prstGeom>
          <a:solidFill>
            <a:srgbClr val="E87C1E"/>
          </a:solidFill>
          <a:ln/>
        </p:spPr>
      </p:sp>
      <p:sp>
        <p:nvSpPr>
          <p:cNvPr id="32" name="Text 30"/>
          <p:cNvSpPr/>
          <p:nvPr/>
        </p:nvSpPr>
        <p:spPr>
          <a:xfrm>
            <a:off x="5458968" y="3035808"/>
            <a:ext cx="475488"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4</a:t>
            </a:r>
            <a:endParaRPr lang="en-US" sz="800" dirty="0"/>
          </a:p>
        </p:txBody>
      </p:sp>
      <p:sp>
        <p:nvSpPr>
          <p:cNvPr id="33" name="Text 31"/>
          <p:cNvSpPr/>
          <p:nvPr/>
        </p:nvSpPr>
        <p:spPr>
          <a:xfrm>
            <a:off x="3310128" y="3044952"/>
            <a:ext cx="2103120" cy="237744"/>
          </a:xfrm>
          <a:prstGeom prst="rect">
            <a:avLst/>
          </a:prstGeom>
          <a:noFill/>
          <a:ln/>
        </p:spPr>
        <p:txBody>
          <a:bodyPr wrap="square" rtlCol="0" anchor="ctr"/>
          <a:lstStyle/>
          <a:p>
            <a:pPr marL="0" indent="0">
              <a:buNone/>
            </a:pPr>
            <a:r>
              <a:rPr lang="en-US" sz="1050" b="1" dirty="0">
                <a:solidFill>
                  <a:srgbClr val="F5C518"/>
                </a:solidFill>
                <a:latin typeface="Calibri" pitchFamily="34" charset="0"/>
                <a:ea typeface="Calibri" pitchFamily="34" charset="-122"/>
                <a:cs typeface="Calibri" pitchFamily="34" charset="-120"/>
              </a:rPr>
              <a:t>⚡  Real-Time Streaming Dashboard</a:t>
            </a:r>
            <a:endParaRPr lang="en-US" sz="1050" dirty="0"/>
          </a:p>
        </p:txBody>
      </p:sp>
      <p:sp>
        <p:nvSpPr>
          <p:cNvPr id="34" name="Text 32"/>
          <p:cNvSpPr/>
          <p:nvPr/>
        </p:nvSpPr>
        <p:spPr>
          <a:xfrm>
            <a:off x="3310128" y="3429000"/>
            <a:ext cx="2606040" cy="11704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Connect Power BI to live SCADA/IoT data streams using Azure Event Hub or Power Automate. Enable real-time monitoring with automated anomaly alerts for operations teams.</a:t>
            </a:r>
            <a:endParaRPr lang="en-US" sz="1000" dirty="0"/>
          </a:p>
        </p:txBody>
      </p:sp>
      <p:sp>
        <p:nvSpPr>
          <p:cNvPr id="35" name="Shape 33"/>
          <p:cNvSpPr/>
          <p:nvPr/>
        </p:nvSpPr>
        <p:spPr>
          <a:xfrm>
            <a:off x="6163056" y="2971800"/>
            <a:ext cx="2788920" cy="1691640"/>
          </a:xfrm>
          <a:prstGeom prst="rect">
            <a:avLst/>
          </a:prstGeom>
          <a:solidFill>
            <a:srgbClr val="FFFFFF"/>
          </a:solidFill>
          <a:ln/>
          <a:effectLst>
            <a:outerShdw blurRad="101600" dist="38100" dir="8100000" algn="bl" rotWithShape="0">
              <a:srgbClr val="000000">
                <a:alpha val="12000"/>
              </a:srgbClr>
            </a:outerShdw>
          </a:effectLst>
        </p:spPr>
      </p:sp>
      <p:sp>
        <p:nvSpPr>
          <p:cNvPr id="36" name="Shape 34"/>
          <p:cNvSpPr/>
          <p:nvPr/>
        </p:nvSpPr>
        <p:spPr>
          <a:xfrm>
            <a:off x="6163056" y="2971800"/>
            <a:ext cx="2788920" cy="384048"/>
          </a:xfrm>
          <a:prstGeom prst="rect">
            <a:avLst/>
          </a:prstGeom>
          <a:solidFill>
            <a:srgbClr val="1A2744"/>
          </a:solidFill>
          <a:ln/>
        </p:spPr>
      </p:sp>
      <p:sp>
        <p:nvSpPr>
          <p:cNvPr id="37" name="Shape 35"/>
          <p:cNvSpPr/>
          <p:nvPr/>
        </p:nvSpPr>
        <p:spPr>
          <a:xfrm>
            <a:off x="8403336" y="3035808"/>
            <a:ext cx="475488" cy="237744"/>
          </a:xfrm>
          <a:prstGeom prst="rect">
            <a:avLst/>
          </a:prstGeom>
          <a:solidFill>
            <a:srgbClr val="E87C1E"/>
          </a:solidFill>
          <a:ln/>
        </p:spPr>
      </p:sp>
      <p:sp>
        <p:nvSpPr>
          <p:cNvPr id="38" name="Text 36"/>
          <p:cNvSpPr/>
          <p:nvPr/>
        </p:nvSpPr>
        <p:spPr>
          <a:xfrm>
            <a:off x="8403336" y="3035808"/>
            <a:ext cx="475488"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4</a:t>
            </a:r>
            <a:endParaRPr lang="en-US" sz="800" dirty="0"/>
          </a:p>
        </p:txBody>
      </p:sp>
      <p:sp>
        <p:nvSpPr>
          <p:cNvPr id="39" name="Text 37"/>
          <p:cNvSpPr/>
          <p:nvPr/>
        </p:nvSpPr>
        <p:spPr>
          <a:xfrm>
            <a:off x="6254496" y="3044952"/>
            <a:ext cx="2103120" cy="237744"/>
          </a:xfrm>
          <a:prstGeom prst="rect">
            <a:avLst/>
          </a:prstGeom>
          <a:noFill/>
          <a:ln/>
        </p:spPr>
        <p:txBody>
          <a:bodyPr wrap="square" rtlCol="0" anchor="ctr"/>
          <a:lstStyle/>
          <a:p>
            <a:pPr marL="0" indent="0">
              <a:buNone/>
            </a:pPr>
            <a:r>
              <a:rPr lang="en-US" sz="1050" b="1" dirty="0">
                <a:solidFill>
                  <a:srgbClr val="F5C518"/>
                </a:solidFill>
                <a:latin typeface="Calibri" pitchFamily="34" charset="0"/>
                <a:ea typeface="Calibri" pitchFamily="34" charset="-122"/>
                <a:cs typeface="Calibri" pitchFamily="34" charset="-120"/>
              </a:rPr>
              <a:t>💰  Revenue Impact Analysis</a:t>
            </a:r>
            <a:endParaRPr lang="en-US" sz="1050" dirty="0"/>
          </a:p>
        </p:txBody>
      </p:sp>
      <p:sp>
        <p:nvSpPr>
          <p:cNvPr id="40" name="Text 38"/>
          <p:cNvSpPr/>
          <p:nvPr/>
        </p:nvSpPr>
        <p:spPr>
          <a:xfrm>
            <a:off x="6254496" y="3429000"/>
            <a:ext cx="2606040" cy="1170432"/>
          </a:xfrm>
          <a:prstGeom prst="rect">
            <a:avLst/>
          </a:prstGeom>
          <a:noFill/>
          <a:ln/>
        </p:spPr>
        <p:txBody>
          <a:bodyPr wrap="square" rtlCol="0" anchor="ctr"/>
          <a:lstStyle/>
          <a:p>
            <a:pPr marL="0" indent="0">
              <a:buNone/>
            </a:pPr>
            <a:r>
              <a:rPr lang="en-US" sz="1000" dirty="0">
                <a:solidFill>
                  <a:srgbClr val="1A2744"/>
                </a:solidFill>
                <a:latin typeface="Calibri" pitchFamily="34" charset="0"/>
                <a:ea typeface="Calibri" pitchFamily="34" charset="-122"/>
                <a:cs typeface="Calibri" pitchFamily="34" charset="-120"/>
              </a:rPr>
              <a:t>Incorporate electricity tariff data and grid pricing to convert generation metrics (MW) into financial performance (USD). Enable ROI tracking per site, per month, and per site type.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4034</Words>
  <Application>Microsoft Office PowerPoint</Application>
  <PresentationFormat>On-screen Show (16:9)</PresentationFormat>
  <Paragraphs>523</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Power Generation Report</dc:title>
  <dc:subject>PptxGenJS Presentation</dc:subject>
  <dc:creator>Senior Data Analyst</dc:creator>
  <cp:lastModifiedBy>Sonali Shekhawat</cp:lastModifiedBy>
  <cp:revision>2</cp:revision>
  <dcterms:created xsi:type="dcterms:W3CDTF">2026-03-18T11:17:39Z</dcterms:created>
  <dcterms:modified xsi:type="dcterms:W3CDTF">2026-03-19T10:55:09Z</dcterms:modified>
</cp:coreProperties>
</file>